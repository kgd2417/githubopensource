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3.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charts/chart4.xml" ContentType="application/vnd.openxmlformats-officedocument.drawingml.chart+xml"/>
  <Override PartName="/ppt/charts/chart5.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6.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charts/chart7.xml" ContentType="application/vnd.openxmlformats-officedocument.drawingml.chart+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e4e1487-c5cc-f8a2-80e3-438f0f1affd7}">
          <p14:sldIdLst>
            <p14:sldId id="256"/>
            <p14:sldId id="257"/>
            <p14:sldId id="258"/>
            <p14:sldId id="259"/>
          </p14:sldIdLst>
        </p14:section>
        <p14:section name="How it works" id="{04f3d4da-31fb-53f0-9bd1-656d487c1d4c}">
          <p14:sldIdLst>
            <p14:sldId id="260"/>
            <p14:sldId id="261"/>
            <p14:sldId id="262"/>
            <p14:sldId id="263"/>
            <p14:sldId id="265"/>
            <p14:sldId id="271"/>
            <p14:sldId id="272"/>
          </p14:sldIdLst>
        </p14:section>
        <p14:section name="Results" id="{dcf6a381-d601-c94c-ec06-08436d0c9c0c}">
          <p14:sldIdLst>
            <p14:sldId id="264"/>
            <p14:sldId id="266"/>
            <p14:sldId id="267"/>
            <p14:sldId id="268"/>
            <p14:sldId id="269"/>
            <p14:sldId id="270"/>
            <p14:sldId id="273"/>
          </p14:sldIdLst>
        </p14:section>
        <p14:section name="How it works" id="{820e4db1-33b9-7d7a-36f5-de72eaf0f0a9}">
          <p14:sldIdLst/>
        </p14:section>
        <p14:section name="Results" id="{05bf3b9e-7288-ac03-4252-da97ec77fcf7}">
          <p14:sldIdLst/>
        </p14:section>
        <p14:section name="How it works" id="{7ab4b1f3-bf87-7216-b589-f7c20c918f3b}">
          <p14:sldIdLst/>
        </p14:section>
        <p14:section name="Results" id="{4fa2d7c4-15fa-862d-e744-d27daf1573d3}">
          <p14:sldIdLst/>
        </p14:section>
        <p14:section name="Conclusion" id="{4ca99af6-8632-f86f-0faa-f36ab707d347}">
          <p14:sldIdLst>
            <p14:sldId id="274"/>
            <p14:sldId id="275"/>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937"/>
                </a:solidFill>
                <a:latin typeface="Times New Roman"/>
              </a:defRPr>
            </a:pPr>
            <a:r>
              <a:rPr sz="1500" b="0" i="0" u="none" strike="noStrike">
                <a:solidFill>
                  <a:srgbClr val="1F2937"/>
                </a:solidFill>
                <a:latin typeface="Times New Roman"/>
              </a:rPr>
              <a:t>Records at each stage, in millions (15 hours of data)</a:t>
            </a:r>
          </a:p>
        </c:rich>
      </c:tx>
      <c:layout/>
      <c:overlay val="0"/>
    </c:title>
    <c:autoTitleDeleted val="0"/>
    <c:plotArea>
      <c:layout/>
      <c:barChart>
        <c:barDir val="col"/>
        <c:grouping val="clustered"/>
        <c:varyColors val="0"/>
        <c:ser>
          <c:idx val="0"/>
          <c:order val="0"/>
          <c:tx>
            <c:strRef>
              <c:f>Sheet1!$B$1</c:f>
              <c:strCache>
                <c:ptCount val="1"/>
                <c:pt idx="0">
                  <c:v>Records</c:v>
                </c:pt>
              </c:strCache>
            </c:strRef>
          </c:tx>
          <c:spPr>
            <a:solidFill>
              <a:srgbClr val="D9822B"/>
            </a:solidFill>
            <a:effectLst/>
          </c:spPr>
          <c:invertIfNegative val="0"/>
          <c:dLbls>
            <c:numFmt formatCode="0.000&quot; M&quot;" sourceLinked="0"/>
            <c:txPr>
              <a:bodyPr/>
              <a:lstStyle/>
              <a:p>
                <a:pPr>
                  <a:defRPr b="0" i="0" strike="noStrike" sz="1200" u="none">
                    <a:solidFill>
                      <a:srgbClr val="1F2937"/>
                    </a:solidFill>
                    <a:latin typeface="Times New Roman"/>
                  </a:defRPr>
                </a:pPr>
              </a:p>
            </c:txPr>
            <c:showLegendKey val="0"/>
            <c:showVal val="1"/>
            <c:showCatName val="0"/>
            <c:showSerName val="0"/>
            <c:showPercent val="0"/>
            <c:showBubbleSize val="0"/>
            <c:showLeaderLines val="0"/>
          </c:dLbls>
          <c:dPt>
            <c:idx val="0"/>
            <c:invertIfNegative val="0"/>
            <c:bubble3D val="0"/>
            <c:spPr>
              <a:solidFill>
                <a:srgbClr val="D9822B"/>
              </a:solidFill>
              <a:effectLst/>
            </c:spPr>
          </c:dPt>
          <c:dPt>
            <c:idx val="1"/>
            <c:invertIfNegative val="0"/>
            <c:bubble3D val="0"/>
            <c:spPr>
              <a:solidFill>
                <a:srgbClr val="14213D"/>
              </a:solidFill>
              <a:effectLst/>
            </c:spPr>
          </c:dPt>
          <c:dPt>
            <c:idx val="2"/>
            <c:invertIfNegative val="0"/>
            <c:bubble3D val="0"/>
            <c:spPr>
              <a:solidFill>
                <a:srgbClr val="14213D"/>
              </a:solidFill>
              <a:effectLst/>
            </c:spPr>
          </c:dPt>
          <c:dPt>
            <c:idx val="3"/>
            <c:invertIfNegative val="0"/>
            <c:bubble3D val="0"/>
            <c:spPr>
              <a:solidFill>
                <a:srgbClr val="2DA44E"/>
              </a:solidFill>
              <a:effectLst/>
            </c:spPr>
          </c:dPt>
          <c:dPt>
            <c:idx val="4"/>
            <c:invertIfNegative val="0"/>
            <c:bubble3D val="0"/>
            <c:spPr>
              <a:solidFill>
                <a:srgbClr val="7A4FA3"/>
              </a:solidFill>
              <a:effectLst/>
            </c:spPr>
          </c:dPt>
          <c:cat>
            <c:multiLvlStrRef>
              <c:f>Sheet1!$A$2:$A$6</c:f>
              <c:multiLvlStrCache>
                <c:ptCount val="5"/>
                <c:lvl>
                  <c:pt idx="0">
                    <c:v>Raw lines</c:v>
                  </c:pt>
                  <c:pt idx="1">
                    <c:v>Parsed</c:v>
                  </c:pt>
                  <c:pt idx="2">
                    <c:v>Deduplicated</c:v>
                  </c:pt>
                  <c:pt idx="3">
                    <c:v>Human only</c:v>
                  </c:pt>
                  <c:pt idx="4">
                    <c:v>Curated repo-days</c:v>
                  </c:pt>
                </c:lvl>
              </c:multiLvlStrCache>
            </c:multiLvlStrRef>
          </c:cat>
          <c:val>
            <c:numRef>
              <c:f>Sheet1!$B$2:$B$6</c:f>
              <c:numCache>
                <c:formatCode>General</c:formatCode>
                <c:ptCount val="5"/>
                <c:pt idx="0">
                  <c:v>2.397993</c:v>
                </c:pt>
                <c:pt idx="1">
                  <c:v>2.397993</c:v>
                </c:pt>
                <c:pt idx="2">
                  <c:v>2.397992</c:v>
                </c:pt>
                <c:pt idx="3">
                  <c:v>1.685763</c:v>
                </c:pt>
                <c:pt idx="4">
                  <c:v>0.814035</c:v>
                </c:pt>
              </c:numCache>
            </c:numRef>
          </c:val>
        </c:ser>
        <c:dLbls>
          <c:numFmt formatCode="0.000&quot; M&quot;" sourceLinked="0"/>
          <c:txPr>
            <a:bodyPr/>
            <a:lstStyle/>
            <a:p>
              <a:pPr>
                <a:defRPr b="0" i="0" strike="noStrike" sz="1200" u="none">
                  <a:solidFill>
                    <a:srgbClr val="1F2937"/>
                  </a:solidFill>
                  <a:latin typeface="Times New Roman"/>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74151"/>
                </a:solidFill>
                <a:latin typeface="Times New Roman"/>
              </a:defRPr>
            </a:pPr>
            <a:endParaRPr lang="en-US"/>
          </a:p>
        </c:txPr>
        <c:crossAx val="2094734552"/>
        <c:crosses val="autoZero"/>
        <c:auto val="1"/>
        <c:lblAlgn val="ctr"/>
        <c:noMultiLvlLbl val="1"/>
      </c:catAx>
      <c:valAx>
        <c:axId val="2094734552"/>
        <c:scaling>
          <c:orientation val="minMax"/>
          <c:max val="3"/>
        </c:scaling>
        <c:delete val="0"/>
        <c:axPos val="l"/>
        <c:majorGridlines>
          <c:spPr>
            <a:ln w="9525" cap="flat">
              <a:solidFill>
                <a:srgbClr val="E5E7EB"/>
              </a:solidFill>
              <a:prstDash val="solid"/>
              <a:round/>
            </a:ln>
          </c:spPr>
        </c:majorGridlines>
        <c:numFmt formatCode="0.0&quot; M&quot;" sourceLinked="0"/>
        <c:majorTickMark val="out"/>
        <c:minorTickMark val="none"/>
        <c:tickLblPos val="nextTo"/>
        <c:spPr>
          <a:ln w="12700" cap="flat">
            <a:noFill/>
            <a:prstDash val="solid"/>
            <a:round/>
          </a:ln>
        </c:spPr>
        <c:txPr>
          <a:bodyPr/>
          <a:lstStyle/>
          <a:p>
            <a:pPr>
              <a:defRPr sz="1200" b="0" i="0" u="none" strike="noStrike">
                <a:solidFill>
                  <a:srgbClr val="6B7280"/>
                </a:solidFill>
                <a:latin typeface="Times New Roma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937"/>
                </a:solidFill>
                <a:latin typeface="Times New Roman"/>
              </a:defRPr>
            </a:pPr>
            <a:r>
              <a:rPr sz="1500" b="0" i="0" u="none" strike="noStrike">
                <a:solidFill>
                  <a:srgbClr val="1F2937"/>
                </a:solidFill>
                <a:latin typeface="Times New Roman"/>
              </a:rPr>
              <a:t>205 users, each user's latest 20% of stars held out</a:t>
            </a:r>
          </a:p>
        </c:rich>
      </c:tx>
      <c:layout/>
      <c:overlay val="0"/>
    </c:title>
    <c:autoTitleDeleted val="0"/>
    <c:plotArea>
      <c:layout/>
      <c:barChart>
        <c:barDir val="col"/>
        <c:grouping val="clustered"/>
        <c:varyColors val="0"/>
        <c:ser>
          <c:idx val="0"/>
          <c:order val="0"/>
          <c:tx>
            <c:strRef>
              <c:f>Sheet1!$B$1</c:f>
              <c:strCache>
                <c:ptCount val="1"/>
                <c:pt idx="0">
                  <c:v>Hit rate</c:v>
                </c:pt>
              </c:strCache>
            </c:strRef>
          </c:tx>
          <c:spPr>
            <a:solidFill>
              <a:srgbClr val="14213D"/>
            </a:solidFill>
            <a:effectLst/>
          </c:spPr>
          <c:invertIfNegative val="0"/>
          <c:dLbls>
            <c:numFmt formatCode="0.00" sourceLinked="0"/>
            <c:txPr>
              <a:bodyPr/>
              <a:lstStyle/>
              <a:p>
                <a:pPr>
                  <a:defRPr b="0" i="0" strike="noStrike" sz="1100" u="none">
                    <a:solidFill>
                      <a:srgbClr val="1F2937"/>
                    </a:solidFill>
                    <a:latin typeface="Times New Roman"/>
                  </a:defRPr>
                </a:pPr>
              </a:p>
            </c:txPr>
            <c:showLegendKey val="0"/>
            <c:showVal val="1"/>
            <c:showCatName val="0"/>
            <c:showSerName val="0"/>
            <c:showPercent val="0"/>
            <c:showBubbleSize val="0"/>
            <c:showLeaderLines val="0"/>
          </c:dLbls>
          <c:cat>
            <c:multiLvlStrRef>
              <c:f>Sheet1!$A$2:$A$4</c:f>
              <c:multiLvlStrCache>
                <c:ptCount val="3"/>
                <c:lvl>
                  <c:pt idx="0">
                    <c:v>Mahout item CF</c:v>
                  </c:pt>
                  <c:pt idx="1">
                    <c:v>Spark ALS</c:v>
                  </c:pt>
                  <c:pt idx="2">
                    <c:v>Popularity</c:v>
                  </c:pt>
                </c:lvl>
              </c:multiLvlStrCache>
            </c:multiLvlStrRef>
          </c:cat>
          <c:val>
            <c:numRef>
              <c:f>Sheet1!$B$2:$B$4</c:f>
              <c:numCache>
                <c:formatCode>General</c:formatCode>
                <c:ptCount val="3"/>
                <c:pt idx="0">
                  <c:v>0.263</c:v>
                </c:pt>
                <c:pt idx="1">
                  <c:v>0.259</c:v>
                </c:pt>
                <c:pt idx="2">
                  <c:v>0.044</c:v>
                </c:pt>
              </c:numCache>
            </c:numRef>
          </c:val>
        </c:ser>
        <c:ser>
          <c:idx val="1"/>
          <c:order val="1"/>
          <c:tx>
            <c:strRef>
              <c:f>Sheet1!$C$1</c:f>
              <c:strCache>
                <c:ptCount val="1"/>
                <c:pt idx="0">
                  <c:v>Recall@10</c:v>
                </c:pt>
              </c:strCache>
            </c:strRef>
          </c:tx>
          <c:spPr>
            <a:solidFill>
              <a:srgbClr val="2DA44E"/>
            </a:solidFill>
            <a:effectLst/>
          </c:spPr>
          <c:invertIfNegative val="0"/>
          <c:dLbls>
            <c:numFmt formatCode="0.00" sourceLinked="0"/>
            <c:txPr>
              <a:bodyPr/>
              <a:lstStyle/>
              <a:p>
                <a:pPr>
                  <a:defRPr b="0" i="0" strike="noStrike" sz="1100" u="none">
                    <a:solidFill>
                      <a:srgbClr val="1F2937"/>
                    </a:solidFill>
                    <a:latin typeface="Times New Roman"/>
                  </a:defRPr>
                </a:pPr>
              </a:p>
            </c:txPr>
            <c:showLegendKey val="0"/>
            <c:showVal val="1"/>
            <c:showCatName val="0"/>
            <c:showSerName val="0"/>
            <c:showPercent val="0"/>
            <c:showBubbleSize val="0"/>
            <c:showLeaderLines val="0"/>
          </c:dLbls>
          <c:cat>
            <c:multiLvlStrRef>
              <c:f>Sheet1!$A$2:$A$4</c:f>
              <c:multiLvlStrCache>
                <c:ptCount val="3"/>
                <c:lvl>
                  <c:pt idx="0">
                    <c:v>Mahout item CF</c:v>
                  </c:pt>
                  <c:pt idx="1">
                    <c:v>Spark ALS</c:v>
                  </c:pt>
                  <c:pt idx="2">
                    <c:v>Popularity</c:v>
                  </c:pt>
                </c:lvl>
              </c:multiLvlStrCache>
            </c:multiLvlStrRef>
          </c:cat>
          <c:val>
            <c:numRef>
              <c:f>Sheet1!$C$2:$C$4</c:f>
              <c:numCache>
                <c:formatCode>General</c:formatCode>
                <c:ptCount val="3"/>
                <c:pt idx="0">
                  <c:v>0.251</c:v>
                </c:pt>
                <c:pt idx="1">
                  <c:v>0.237</c:v>
                </c:pt>
                <c:pt idx="2">
                  <c:v>0.041</c:v>
                </c:pt>
              </c:numCache>
            </c:numRef>
          </c:val>
        </c:ser>
        <c:ser>
          <c:idx val="2"/>
          <c:order val="2"/>
          <c:tx>
            <c:strRef>
              <c:f>Sheet1!$D$1</c:f>
              <c:strCache>
                <c:ptCount val="1"/>
                <c:pt idx="0">
                  <c:v>Coverage</c:v>
                </c:pt>
              </c:strCache>
            </c:strRef>
          </c:tx>
          <c:spPr>
            <a:solidFill>
              <a:srgbClr val="D9822B"/>
            </a:solidFill>
            <a:effectLst/>
          </c:spPr>
          <c:invertIfNegative val="0"/>
          <c:dLbls>
            <c:numFmt formatCode="0.00" sourceLinked="0"/>
            <c:txPr>
              <a:bodyPr/>
              <a:lstStyle/>
              <a:p>
                <a:pPr>
                  <a:defRPr b="0" i="0" strike="noStrike" sz="1100" u="none">
                    <a:solidFill>
                      <a:srgbClr val="1F2937"/>
                    </a:solidFill>
                    <a:latin typeface="Times New Roman"/>
                  </a:defRPr>
                </a:pPr>
              </a:p>
            </c:txPr>
            <c:showLegendKey val="0"/>
            <c:showVal val="1"/>
            <c:showCatName val="0"/>
            <c:showSerName val="0"/>
            <c:showPercent val="0"/>
            <c:showBubbleSize val="0"/>
            <c:showLeaderLines val="0"/>
          </c:dLbls>
          <c:cat>
            <c:multiLvlStrRef>
              <c:f>Sheet1!$A$2:$A$4</c:f>
              <c:multiLvlStrCache>
                <c:ptCount val="3"/>
                <c:lvl>
                  <c:pt idx="0">
                    <c:v>Mahout item CF</c:v>
                  </c:pt>
                  <c:pt idx="1">
                    <c:v>Spark ALS</c:v>
                  </c:pt>
                  <c:pt idx="2">
                    <c:v>Popularity</c:v>
                  </c:pt>
                </c:lvl>
              </c:multiLvlStrCache>
            </c:multiLvlStrRef>
          </c:cat>
          <c:val>
            <c:numRef>
              <c:f>Sheet1!$D$2:$D$4</c:f>
              <c:numCache>
                <c:formatCode>General</c:formatCode>
                <c:ptCount val="3"/>
                <c:pt idx="0">
                  <c:v>0.53</c:v>
                </c:pt>
                <c:pt idx="1">
                  <c:v>0.24</c:v>
                </c:pt>
                <c:pt idx="2">
                  <c:v>0.01</c:v>
                </c:pt>
              </c:numCache>
            </c:numRef>
          </c:val>
        </c:ser>
        <c:dLbls>
          <c:numFmt formatCode="0.00" sourceLinked="0"/>
          <c:txPr>
            <a:bodyPr/>
            <a:lstStyle/>
            <a:p>
              <a:pPr>
                <a:defRPr b="0" i="0" strike="noStrike" sz="1100" u="none">
                  <a:solidFill>
                    <a:srgbClr val="1F2937"/>
                  </a:solidFill>
                  <a:latin typeface="Times New Roman"/>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74151"/>
                </a:solidFill>
                <a:latin typeface="Times New Roman"/>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7EB"/>
              </a:solidFill>
              <a:prstDash val="solid"/>
              <a:round/>
            </a:ln>
          </c:spPr>
        </c:majorGridlines>
        <c:numFmt formatCode="0.0" sourceLinked="0"/>
        <c:majorTickMark val="out"/>
        <c:minorTickMark val="none"/>
        <c:tickLblPos val="nextTo"/>
        <c:spPr>
          <a:ln w="12700" cap="flat">
            <a:noFill/>
            <a:prstDash val="solid"/>
            <a:round/>
          </a:ln>
        </c:spPr>
        <c:txPr>
          <a:bodyPr/>
          <a:lstStyle/>
          <a:p>
            <a:pPr>
              <a:defRPr sz="1200" b="0" i="0" u="none" strike="noStrike">
                <a:solidFill>
                  <a:srgbClr val="6B7280"/>
                </a:solidFill>
                <a:latin typeface="Times New Roman"/>
              </a:defRPr>
            </a:pPr>
            <a:endParaRPr lang="en-US"/>
          </a:p>
        </c:txPr>
        <c:crossAx val="2094734554"/>
        <c:crosses val="autoZero"/>
        <c:crossBetween val="between"/>
      </c:valAx>
      <c:spPr>
        <a:noFill/>
        <a:ln>
          <a:noFill/>
        </a:ln>
        <a:effectLst/>
      </c:spPr>
    </c:plotArea>
    <c:legend>
      <c:legendPos val="b"/>
      <c:overlay val="0"/>
      <c:txPr>
        <a:bodyPr/>
        <a:lstStyle/>
        <a:p>
          <a:pPr>
            <a:defRPr sz="1300">
              <a:latin typeface="Times New Roman"/>
              <a:cs typeface="Times New Roman"/>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937"/>
                </a:solidFill>
                <a:latin typeface="Times New Roman"/>
              </a:defRPr>
            </a:pPr>
            <a:r>
              <a:rPr sz="1500" b="0" i="0" u="none" strike="noStrike">
                <a:solidFill>
                  <a:srgbClr val="1F2937"/>
                </a:solidFill>
                <a:latin typeface="Times New Roman"/>
              </a:rPr>
              <a:t>Share of events created by bots</a:t>
            </a:r>
          </a:p>
        </c:rich>
      </c:tx>
      <c:layout/>
      <c:overlay val="0"/>
    </c:title>
    <c:autoTitleDeleted val="0"/>
    <c:plotArea>
      <c:layout/>
      <c:barChart>
        <c:barDir val="bar"/>
        <c:grouping val="clustered"/>
        <c:varyColors val="0"/>
        <c:ser>
          <c:idx val="0"/>
          <c:order val="0"/>
          <c:tx>
            <c:strRef>
              <c:f>Sheet1!$B$1</c:f>
              <c:strCache>
                <c:ptCount val="1"/>
                <c:pt idx="0">
                  <c:v>Bot share</c:v>
                </c:pt>
              </c:strCache>
            </c:strRef>
          </c:tx>
          <c:spPr>
            <a:solidFill>
              <a:srgbClr val="5B6B7F"/>
            </a:solidFill>
            <a:effectLst/>
          </c:spPr>
          <c:invertIfNegative val="0"/>
          <c:dLbls>
            <c:numFmt formatCode="0&quot;%&quot;" sourceLinked="0"/>
            <c:txPr>
              <a:bodyPr/>
              <a:lstStyle/>
              <a:p>
                <a:pPr>
                  <a:defRPr b="0" i="0" strike="noStrike" sz="1300" u="none">
                    <a:solidFill>
                      <a:srgbClr val="1F2937"/>
                    </a:solidFill>
                    <a:latin typeface="Times New Roman"/>
                  </a:defRPr>
                </a:pPr>
              </a:p>
            </c:txPr>
            <c:showLegendKey val="0"/>
            <c:showVal val="1"/>
            <c:showCatName val="0"/>
            <c:showSerName val="0"/>
            <c:showPercent val="0"/>
            <c:showBubbleSize val="0"/>
            <c:showLeaderLines val="0"/>
          </c:dLbls>
          <c:dPt>
            <c:idx val="0"/>
            <c:invertIfNegative val="0"/>
            <c:bubble3D val="0"/>
            <c:spPr>
              <a:solidFill>
                <a:srgbClr val="5B6B7F"/>
              </a:solidFill>
              <a:effectLst/>
            </c:spPr>
          </c:dPt>
          <c:dPt>
            <c:idx val="1"/>
            <c:invertIfNegative val="0"/>
            <c:bubble3D val="0"/>
            <c:spPr>
              <a:solidFill>
                <a:srgbClr val="14213D"/>
              </a:solidFill>
              <a:effectLst/>
            </c:spPr>
          </c:dPt>
          <c:dPt>
            <c:idx val="2"/>
            <c:invertIfNegative val="0"/>
            <c:bubble3D val="0"/>
            <c:spPr>
              <a:solidFill>
                <a:srgbClr val="14213D"/>
              </a:solidFill>
              <a:effectLst/>
            </c:spPr>
          </c:dPt>
          <c:dPt>
            <c:idx val="3"/>
            <c:invertIfNegative val="0"/>
            <c:bubble3D val="0"/>
            <c:spPr>
              <a:solidFill>
                <a:srgbClr val="14213D"/>
              </a:solidFill>
              <a:effectLst/>
            </c:spPr>
          </c:dPt>
          <c:cat>
            <c:multiLvlStrRef>
              <c:f>Sheet1!$A$2:$A$5</c:f>
              <c:multiLvlStrCache>
                <c:ptCount val="4"/>
                <c:lvl>
                  <c:pt idx="0">
                    <c:v>All events</c:v>
                  </c:pt>
                  <c:pt idx="1">
                    <c:v>Pull requests</c:v>
                  </c:pt>
                  <c:pt idx="2">
                    <c:v>Issue comments</c:v>
                  </c:pt>
                  <c:pt idx="3">
                    <c:v>Commit comments</c:v>
                  </c:pt>
                </c:lvl>
              </c:multiLvlStrCache>
            </c:multiLvlStrRef>
          </c:cat>
          <c:val>
            <c:numRef>
              <c:f>Sheet1!$B$2:$B$5</c:f>
              <c:numCache>
                <c:formatCode>General</c:formatCode>
                <c:ptCount val="4"/>
                <c:pt idx="0">
                  <c:v>30</c:v>
                </c:pt>
                <c:pt idx="1">
                  <c:v>49</c:v>
                </c:pt>
                <c:pt idx="2">
                  <c:v>52</c:v>
                </c:pt>
                <c:pt idx="3">
                  <c:v>60</c:v>
                </c:pt>
              </c:numCache>
            </c:numRef>
          </c:val>
        </c:ser>
        <c:dLbls>
          <c:numFmt formatCode="0&quot;%&quot;" sourceLinked="0"/>
          <c:txPr>
            <a:bodyPr/>
            <a:lstStyle/>
            <a:p>
              <a:pPr>
                <a:defRPr b="0" i="0" strike="noStrike" sz="1300" u="none">
                  <a:solidFill>
                    <a:srgbClr val="1F2937"/>
                  </a:solidFill>
                  <a:latin typeface="Times New Roman"/>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374151"/>
                </a:solidFill>
                <a:latin typeface="Times New Roman"/>
              </a:defRPr>
            </a:pPr>
            <a:endParaRPr lang="en-US"/>
          </a:p>
        </c:txPr>
        <c:crossAx val="2094734552"/>
        <c:crosses val="autoZero"/>
        <c:auto val="1"/>
        <c:lblAlgn val="ctr"/>
        <c:noMultiLvlLbl val="1"/>
      </c:catAx>
      <c:valAx>
        <c:axId val="2094734552"/>
        <c:scaling>
          <c:orientation val="minMax"/>
          <c:max val="70"/>
        </c:scaling>
        <c:delete val="0"/>
        <c:axPos val="b"/>
        <c:majorGridlines>
          <c:spPr>
            <a:ln w="9525" cap="flat">
              <a:solidFill>
                <a:srgbClr val="E5E7EB"/>
              </a:solidFill>
              <a:prstDash val="solid"/>
              <a:round/>
            </a:ln>
          </c:spPr>
        </c:majorGridlines>
        <c:numFmt formatCode="0&quot;%&quot;" sourceLinked="0"/>
        <c:majorTickMark val="out"/>
        <c:minorTickMark val="none"/>
        <c:tickLblPos val="low"/>
        <c:spPr>
          <a:ln w="12700" cap="flat">
            <a:noFill/>
            <a:prstDash val="solid"/>
            <a:round/>
          </a:ln>
        </c:spPr>
        <c:txPr>
          <a:bodyPr/>
          <a:lstStyle/>
          <a:p>
            <a:pPr>
              <a:defRPr sz="1200" b="0" i="0" u="none" strike="noStrike">
                <a:solidFill>
                  <a:srgbClr val="6B7280"/>
                </a:solidFill>
                <a:latin typeface="Times New Roma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937"/>
                </a:solidFill>
                <a:latin typeface="Times New Roman"/>
              </a:defRPr>
            </a:pPr>
            <a:r>
              <a:rPr sz="1500" b="0" i="0" u="none" strike="noStrike">
                <a:solidFill>
                  <a:srgbClr val="1F2937"/>
                </a:solidFill>
                <a:latin typeface="Times New Roman"/>
              </a:rPr>
              <a:t>Q1. Most starred by humans, 1 Sept, 12 to 15 UTC</a:t>
            </a:r>
          </a:p>
        </c:rich>
      </c:tx>
      <c:layout/>
      <c:overlay val="0"/>
    </c:title>
    <c:autoTitleDeleted val="0"/>
    <c:plotArea>
      <c:layout/>
      <c:barChart>
        <c:barDir val="bar"/>
        <c:grouping val="clustered"/>
        <c:varyColors val="0"/>
        <c:ser>
          <c:idx val="0"/>
          <c:order val="0"/>
          <c:tx>
            <c:strRef>
              <c:f>Sheet1!$B$1</c:f>
              <c:strCache>
                <c:ptCount val="1"/>
                <c:pt idx="0">
                  <c:v>Stars</c:v>
                </c:pt>
              </c:strCache>
            </c:strRef>
          </c:tx>
          <c:spPr>
            <a:solidFill>
              <a:srgbClr val="2DA44E"/>
            </a:solidFill>
            <a:effectLst/>
          </c:spPr>
          <c:invertIfNegative val="0"/>
          <c:dLbls>
            <c:numFmt formatCode="#,##0" sourceLinked="0"/>
            <c:txPr>
              <a:bodyPr/>
              <a:lstStyle/>
              <a:p>
                <a:pPr>
                  <a:defRPr b="0" i="0" strike="noStrike" sz="1300" u="none">
                    <a:solidFill>
                      <a:srgbClr val="1F2937"/>
                    </a:solidFill>
                    <a:latin typeface="Times New Roman"/>
                  </a:defRPr>
                </a:pPr>
              </a:p>
            </c:txPr>
            <c:showLegendKey val="0"/>
            <c:showVal val="1"/>
            <c:showCatName val="0"/>
            <c:showSerName val="0"/>
            <c:showPercent val="0"/>
            <c:showBubbleSize val="0"/>
            <c:showLeaderLines val="0"/>
          </c:dLbls>
          <c:cat>
            <c:multiLvlStrRef>
              <c:f>Sheet1!$A$2:$A$4</c:f>
              <c:multiLvlStrCache>
                <c:ptCount val="3"/>
                <c:lvl>
                  <c:pt idx="0">
                    <c:v>JetBrains/koog</c:v>
                  </c:pt>
                  <c:pt idx="1">
                    <c:v>dionysus</c:v>
                  </c:pt>
                  <c:pt idx="2">
                    <c:v>dockur/windows</c:v>
                  </c:pt>
                </c:lvl>
              </c:multiLvlStrCache>
            </c:multiLvlStrRef>
          </c:cat>
          <c:val>
            <c:numRef>
              <c:f>Sheet1!$B$2:$B$4</c:f>
              <c:numCache>
                <c:formatCode>General</c:formatCode>
                <c:ptCount val="3"/>
                <c:pt idx="0">
                  <c:v>56</c:v>
                </c:pt>
                <c:pt idx="1">
                  <c:v>93</c:v>
                </c:pt>
                <c:pt idx="2">
                  <c:v>168</c:v>
                </c:pt>
              </c:numCache>
            </c:numRef>
          </c:val>
        </c:ser>
        <c:dLbls>
          <c:numFmt formatCode="#,##0" sourceLinked="0"/>
          <c:txPr>
            <a:bodyPr/>
            <a:lstStyle/>
            <a:p>
              <a:pPr>
                <a:defRPr b="0" i="0" strike="noStrike" sz="1300" u="none">
                  <a:solidFill>
                    <a:srgbClr val="1F2937"/>
                  </a:solidFill>
                  <a:latin typeface="Times New Roman"/>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374151"/>
                </a:solidFill>
                <a:latin typeface="Times New Roman"/>
              </a:defRPr>
            </a:pPr>
            <a:endParaRPr lang="en-US"/>
          </a:p>
        </c:txPr>
        <c:crossAx val="2094734552"/>
        <c:crosses val="autoZero"/>
        <c:auto val="1"/>
        <c:lblAlgn val="ctr"/>
        <c:noMultiLvlLbl val="1"/>
      </c:catAx>
      <c:valAx>
        <c:axId val="2094734552"/>
        <c:scaling>
          <c:orientation val="minMax"/>
          <c:max val="200"/>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6B7280"/>
                </a:solidFill>
                <a:latin typeface="Times New Roma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937"/>
                </a:solidFill>
                <a:latin typeface="Times New Roman"/>
              </a:defRPr>
            </a:pPr>
            <a:r>
              <a:rPr sz="1500" b="0" i="0" u="none" strike="noStrike">
                <a:solidFill>
                  <a:srgbClr val="1F2937"/>
                </a:solidFill>
                <a:latin typeface="Times New Roman"/>
              </a:rPr>
              <a:t>Q6. 11,754 active repositories by team type</a:t>
            </a:r>
          </a:p>
        </c:rich>
      </c:tx>
      <c:layout/>
      <c:overlay val="0"/>
    </c:title>
    <c:autoTitleDeleted val="0"/>
    <c:plotArea>
      <c:layout/>
      <c:doughnutChart>
        <c:varyColors val="1"/>
        <c:ser>
          <c:idx val="0"/>
          <c:order val="0"/>
          <c:tx>
            <c:strRef>
              <c:f>Sheet1!$B$1</c:f>
              <c:strCache>
                <c:ptCount val="1"/>
                <c:pt idx="0">
                  <c:v>Repos</c:v>
                </c:pt>
              </c:strCache>
            </c:strRef>
          </c:tx>
          <c:spPr>
            <a:solidFill>
              <a:schemeClr val="accent1"/>
            </a:solidFill>
            <a:ln w="9525" cap="flat">
              <a:solidFill>
                <a:srgbClr val="F9F9F9"/>
              </a:solidFill>
              <a:prstDash val="solid"/>
              <a:round/>
            </a:ln>
            <a:effectLst/>
          </c:spPr>
          <c:dPt>
            <c:idx val="0"/>
            <c:bubble3D val="0"/>
            <c:spPr>
              <a:solidFill>
                <a:srgbClr val="14213D"/>
              </a:solidFill>
              <a:effectLst/>
            </c:spPr>
          </c:dPt>
          <c:dPt>
            <c:idx val="1"/>
            <c:bubble3D val="0"/>
            <c:spPr>
              <a:solidFill>
                <a:srgbClr val="2DA44E"/>
              </a:solidFill>
              <a:effectLst/>
            </c:spPr>
          </c:dPt>
          <c:dPt>
            <c:idx val="2"/>
            <c:bubble3D val="0"/>
            <c:spPr>
              <a:solidFill>
                <a:srgbClr val="D9822B"/>
              </a:solidFill>
              <a:effectLst/>
            </c:spPr>
          </c:dPt>
          <c:dPt>
            <c:idx val="3"/>
            <c:bubble3D val="0"/>
            <c:spPr>
              <a:solidFill>
                <a:srgbClr val="C9D2DC"/>
              </a:solidFill>
              <a:effectLst/>
            </c:spPr>
          </c:dPt>
          <c:dLbls>
            <c:dLbl>
              <c:idx val="0"/>
              <c:numFmt formatCode="0%" sourceLinked="0"/>
              <c:spPr/>
              <c:txPr>
                <a:bodyPr/>
                <a:lstStyle/>
                <a:p>
                  <a:pPr>
                    <a:defRPr sz="1200" b="0" i="0" u="none" strike="noStrike">
                      <a:solidFill>
                        <a:srgbClr val="FFFFFF"/>
                      </a:solidFill>
                      <a:latin typeface="Times New Roman"/>
                    </a:defRPr>
                  </a:pPr>
                </a:p>
              </c:txPr>
              <c:showLegendKey val="0"/>
              <c:showVal val="0"/>
              <c:showCatName val="0"/>
              <c:showSerName val="0"/>
              <c:showPercent val="1"/>
              <c:showBubbleSize val="0"/>
            </c:dLbl>
            <c:dLbl>
              <c:idx val="1"/>
              <c:numFmt formatCode="0%" sourceLinked="0"/>
              <c:spPr/>
              <c:txPr>
                <a:bodyPr/>
                <a:lstStyle/>
                <a:p>
                  <a:pPr>
                    <a:defRPr sz="1200" b="0" i="0" u="none" strike="noStrike">
                      <a:solidFill>
                        <a:srgbClr val="FFFFFF"/>
                      </a:solidFill>
                      <a:latin typeface="Times New Roman"/>
                    </a:defRPr>
                  </a:pPr>
                </a:p>
              </c:txPr>
              <c:showLegendKey val="0"/>
              <c:showVal val="0"/>
              <c:showCatName val="0"/>
              <c:showSerName val="0"/>
              <c:showPercent val="1"/>
              <c:showBubbleSize val="0"/>
            </c:dLbl>
            <c:dLbl>
              <c:idx val="2"/>
              <c:numFmt formatCode="0%" sourceLinked="0"/>
              <c:spPr/>
              <c:txPr>
                <a:bodyPr/>
                <a:lstStyle/>
                <a:p>
                  <a:pPr>
                    <a:defRPr sz="1200" b="0" i="0" u="none" strike="noStrike">
                      <a:solidFill>
                        <a:srgbClr val="FFFFFF"/>
                      </a:solidFill>
                      <a:latin typeface="Times New Roman"/>
                    </a:defRPr>
                  </a:pPr>
                </a:p>
              </c:txPr>
              <c:showLegendKey val="0"/>
              <c:showVal val="0"/>
              <c:showCatName val="0"/>
              <c:showSerName val="0"/>
              <c:showPercent val="1"/>
              <c:showBubbleSize val="0"/>
            </c:dLbl>
            <c:dLbl>
              <c:idx val="3"/>
              <c:numFmt formatCode="0%" sourceLinked="0"/>
              <c:spPr/>
              <c:txPr>
                <a:bodyPr/>
                <a:lstStyle/>
                <a:p>
                  <a:pPr>
                    <a:defRPr sz="1200" b="0" i="0" u="none" strike="noStrike">
                      <a:solidFill>
                        <a:srgbClr val="FFFFFF"/>
                      </a:solidFill>
                      <a:latin typeface="Times New Roman"/>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Solo</c:v>
                </c:pt>
                <c:pt idx="1">
                  <c:v>Small team</c:v>
                </c:pt>
                <c:pt idx="2">
                  <c:v>Community</c:v>
                </c:pt>
                <c:pt idx="3">
                  <c:v>Other</c:v>
                </c:pt>
              </c:strCache>
            </c:strRef>
          </c:cat>
          <c:val>
            <c:numRef>
              <c:f>Sheet1!$B$2:$B$5</c:f>
              <c:numCache>
                <c:ptCount val="4"/>
                <c:pt idx="0">
                  <c:v>6083</c:v>
                </c:pt>
                <c:pt idx="1">
                  <c:v>1877</c:v>
                </c:pt>
                <c:pt idx="2">
                  <c:v>407</c:v>
                </c:pt>
                <c:pt idx="3">
                  <c:v>3387</c:v>
                </c:pt>
              </c:numCache>
            </c:numRef>
          </c:val>
        </c:ser>
        <c:firstSliceAng val="0"/>
        <c:holeSize val="55"/>
      </c:doughnutChart>
      <c:spPr>
        <a:noFill/>
        <a:ln>
          <a:noFill/>
        </a:ln>
        <a:effectLst/>
      </c:spPr>
    </c:plotArea>
    <c:legend>
      <c:legendPos val="r"/>
      <c:overlay val="0"/>
      <c:txPr>
        <a:bodyPr/>
        <a:lstStyle/>
        <a:p>
          <a:pPr>
            <a:defRPr sz="1300">
              <a:latin typeface="Times New Roman"/>
              <a:cs typeface="Times New Roman"/>
            </a:defRPr>
          </a:pPr>
          <a:endParaRPr lang="en-US"/>
        </a:p>
      </c:txPr>
    </c:legend>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937"/>
                </a:solidFill>
                <a:latin typeface="Times New Roman"/>
              </a:defRPr>
            </a:pPr>
            <a:r>
              <a:rPr sz="1500" b="0" i="0" u="none" strike="noStrike">
                <a:solidFill>
                  <a:srgbClr val="1F2937"/>
                </a:solidFill>
                <a:latin typeface="Times New Roman"/>
              </a:rPr>
              <a:t>Median time for the same 3 queries (medium dataset)</a:t>
            </a:r>
          </a:p>
        </c:rich>
      </c:tx>
      <c:layout/>
      <c:overlay val="0"/>
    </c:title>
    <c:autoTitleDeleted val="0"/>
    <c:plotArea>
      <c:layout/>
      <c:barChart>
        <c:barDir val="col"/>
        <c:grouping val="clustered"/>
        <c:varyColors val="0"/>
        <c:ser>
          <c:idx val="0"/>
          <c:order val="0"/>
          <c:tx>
            <c:strRef>
              <c:f>Sheet1!$B$1</c:f>
              <c:strCache>
                <c:ptCount val="1"/>
                <c:pt idx="0">
                  <c:v>Seconds</c:v>
                </c:pt>
              </c:strCache>
            </c:strRef>
          </c:tx>
          <c:spPr>
            <a:solidFill>
              <a:srgbClr val="14213D"/>
            </a:solidFill>
            <a:effectLst/>
          </c:spPr>
          <c:invertIfNegative val="0"/>
          <c:dLbls>
            <c:numFmt formatCode="0.0&quot; s&quot;" sourceLinked="0"/>
            <c:txPr>
              <a:bodyPr/>
              <a:lstStyle/>
              <a:p>
                <a:pPr>
                  <a:defRPr b="0" i="0" strike="noStrike" sz="1300" u="none">
                    <a:solidFill>
                      <a:srgbClr val="1F2937"/>
                    </a:solidFill>
                    <a:latin typeface="Times New Roman"/>
                  </a:defRPr>
                </a:pPr>
              </a:p>
            </c:txPr>
            <c:showLegendKey val="0"/>
            <c:showVal val="1"/>
            <c:showCatName val="0"/>
            <c:showSerName val="0"/>
            <c:showPercent val="0"/>
            <c:showBubbleSize val="0"/>
            <c:showLeaderLines val="0"/>
          </c:dLbls>
          <c:dPt>
            <c:idx val="0"/>
            <c:invertIfNegative val="0"/>
            <c:bubble3D val="0"/>
            <c:spPr>
              <a:solidFill>
                <a:srgbClr val="14213D"/>
              </a:solidFill>
              <a:effectLst/>
            </c:spPr>
          </c:dPt>
          <c:dPt>
            <c:idx val="1"/>
            <c:invertIfNegative val="0"/>
            <c:bubble3D val="0"/>
            <c:spPr>
              <a:solidFill>
                <a:srgbClr val="14213D"/>
              </a:solidFill>
              <a:effectLst/>
            </c:spPr>
          </c:dPt>
          <c:dPt>
            <c:idx val="2"/>
            <c:invertIfNegative val="0"/>
            <c:bubble3D val="0"/>
            <c:spPr>
              <a:solidFill>
                <a:srgbClr val="14213D"/>
              </a:solidFill>
              <a:effectLst/>
            </c:spPr>
          </c:dPt>
          <c:dPt>
            <c:idx val="3"/>
            <c:invertIfNegative val="0"/>
            <c:bubble3D val="0"/>
            <c:spPr>
              <a:solidFill>
                <a:srgbClr val="14213D"/>
              </a:solidFill>
              <a:effectLst/>
            </c:spPr>
          </c:dPt>
          <c:dPt>
            <c:idx val="4"/>
            <c:invertIfNegative val="0"/>
            <c:bubble3D val="0"/>
            <c:spPr>
              <a:solidFill>
                <a:srgbClr val="2DA44E"/>
              </a:solidFill>
              <a:effectLst/>
            </c:spPr>
          </c:dPt>
          <c:cat>
            <c:multiLvlStrRef>
              <c:f>Sheet1!$A$2:$A$6</c:f>
              <c:multiLvlStrCache>
                <c:ptCount val="5"/>
                <c:lvl>
                  <c:pt idx="0">
                    <c:v>MapReduce</c:v>
                  </c:pt>
                  <c:pt idx="1">
                    <c:v>Pig</c:v>
                  </c:pt>
                  <c:pt idx="2">
                    <c:v>Hive (MR)</c:v>
                  </c:pt>
                  <c:pt idx="3">
                    <c:v>Spark SQL</c:v>
                  </c:pt>
                  <c:pt idx="4">
                    <c:v>Impala</c:v>
                  </c:pt>
                </c:lvl>
              </c:multiLvlStrCache>
            </c:multiLvlStrRef>
          </c:cat>
          <c:val>
            <c:numRef>
              <c:f>Sheet1!$B$2:$B$6</c:f>
              <c:numCache>
                <c:formatCode>General</c:formatCode>
                <c:ptCount val="5"/>
                <c:pt idx="0">
                  <c:v>168.5</c:v>
                </c:pt>
                <c:pt idx="1">
                  <c:v>44</c:v>
                </c:pt>
                <c:pt idx="2">
                  <c:v>31</c:v>
                </c:pt>
                <c:pt idx="3">
                  <c:v>38.5</c:v>
                </c:pt>
                <c:pt idx="4">
                  <c:v>1.45</c:v>
                </c:pt>
              </c:numCache>
            </c:numRef>
          </c:val>
        </c:ser>
        <c:dLbls>
          <c:numFmt formatCode="0.0&quot; s&quot;" sourceLinked="0"/>
          <c:txPr>
            <a:bodyPr/>
            <a:lstStyle/>
            <a:p>
              <a:pPr>
                <a:defRPr b="0" i="0" strike="noStrike" sz="1300" u="none">
                  <a:solidFill>
                    <a:srgbClr val="1F2937"/>
                  </a:solidFill>
                  <a:latin typeface="Times New Roman"/>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374151"/>
                </a:solidFill>
                <a:latin typeface="Times New Roman"/>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7EB"/>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200" b="0" i="0" u="none" strike="noStrike">
                <a:solidFill>
                  <a:srgbClr val="6B7280"/>
                </a:solidFill>
                <a:latin typeface="Times New Roma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500" b="0" i="0" u="none" strike="noStrike">
                <a:solidFill>
                  <a:srgbClr val="1F2937"/>
                </a:solidFill>
                <a:latin typeface="Times New Roman"/>
              </a:defRPr>
            </a:pPr>
            <a:r>
              <a:rPr sz="1500" b="0" i="0" u="none" strike="noStrike">
                <a:solidFill>
                  <a:srgbClr val="1F2937"/>
                </a:solidFill>
                <a:latin typeface="Times New Roman"/>
              </a:rPr>
              <a:t>Slowest steps in our run (seconds)</a:t>
            </a:r>
          </a:p>
        </c:rich>
      </c:tx>
      <c:layout/>
      <c:overlay val="0"/>
    </c:title>
    <c:autoTitleDeleted val="0"/>
    <c:plotArea>
      <c:layout/>
      <c:barChart>
        <c:barDir val="bar"/>
        <c:grouping val="clustered"/>
        <c:varyColors val="0"/>
        <c:ser>
          <c:idx val="0"/>
          <c:order val="0"/>
          <c:tx>
            <c:strRef>
              <c:f>Sheet1!$B$1</c:f>
              <c:strCache>
                <c:ptCount val="1"/>
                <c:pt idx="0">
                  <c:v>Seconds</c:v>
                </c:pt>
              </c:strCache>
            </c:strRef>
          </c:tx>
          <c:spPr>
            <a:solidFill>
              <a:srgbClr val="14213D"/>
            </a:solidFill>
            <a:effectLst/>
          </c:spPr>
          <c:invertIfNegative val="0"/>
          <c:dLbls>
            <c:numFmt formatCode="0&quot; s&quot;" sourceLinked="0"/>
            <c:txPr>
              <a:bodyPr/>
              <a:lstStyle/>
              <a:p>
                <a:pPr>
                  <a:defRPr b="0" i="0" strike="noStrike" sz="1100" u="none">
                    <a:solidFill>
                      <a:srgbClr val="1F2937"/>
                    </a:solidFill>
                    <a:latin typeface="Times New Roman"/>
                  </a:defRPr>
                </a:pPr>
              </a:p>
            </c:txPr>
            <c:showLegendKey val="0"/>
            <c:showVal val="1"/>
            <c:showCatName val="0"/>
            <c:showSerName val="0"/>
            <c:showPercent val="0"/>
            <c:showBubbleSize val="0"/>
            <c:showLeaderLines val="0"/>
          </c:dLbls>
          <c:cat>
            <c:multiLvlStrRef>
              <c:f>Sheet1!$A$2:$A$10</c:f>
              <c:multiLvlStrCache>
                <c:ptCount val="9"/>
                <c:lvl>
                  <c:pt idx="0">
                    <c:v>Spark viral model</c:v>
                  </c:pt>
                  <c:pt idx="1">
                    <c:v>MapReduce top-N</c:v>
                  </c:pt>
                  <c:pt idx="2">
                    <c:v>Pig ETL</c:v>
                  </c:pt>
                  <c:pt idx="3">
                    <c:v>DQ gate (curated)</c:v>
                  </c:pt>
                  <c:pt idx="4">
                    <c:v>Mahout k-means</c:v>
                  </c:pt>
                  <c:pt idx="5">
                    <c:v>Hive window</c:v>
                  </c:pt>
                  <c:pt idx="6">
                    <c:v>HBase bulk load</c:v>
                  </c:pt>
                  <c:pt idx="7">
                    <c:v>Mahout item CF</c:v>
                  </c:pt>
                  <c:pt idx="8">
                    <c:v>Hive curated</c:v>
                  </c:pt>
                </c:lvl>
              </c:multiLvlStrCache>
            </c:multiLvlStrRef>
          </c:cat>
          <c:val>
            <c:numRef>
              <c:f>Sheet1!$B$2:$B$10</c:f>
              <c:numCache>
                <c:formatCode>General</c:formatCode>
                <c:ptCount val="9"/>
                <c:pt idx="0">
                  <c:v>95</c:v>
                </c:pt>
                <c:pt idx="1">
                  <c:v>105</c:v>
                </c:pt>
                <c:pt idx="2">
                  <c:v>178</c:v>
                </c:pt>
                <c:pt idx="3">
                  <c:v>191</c:v>
                </c:pt>
                <c:pt idx="4">
                  <c:v>260</c:v>
                </c:pt>
                <c:pt idx="5">
                  <c:v>278</c:v>
                </c:pt>
                <c:pt idx="6">
                  <c:v>352</c:v>
                </c:pt>
                <c:pt idx="7">
                  <c:v>490</c:v>
                </c:pt>
                <c:pt idx="8">
                  <c:v>551</c:v>
                </c:pt>
              </c:numCache>
            </c:numRef>
          </c:val>
        </c:ser>
        <c:dLbls>
          <c:numFmt formatCode="0&quot; s&quot;" sourceLinked="0"/>
          <c:txPr>
            <a:bodyPr/>
            <a:lstStyle/>
            <a:p>
              <a:pPr>
                <a:defRPr b="0" i="0" strike="noStrike" sz="1100" u="none">
                  <a:solidFill>
                    <a:srgbClr val="1F2937"/>
                  </a:solidFill>
                  <a:latin typeface="Times New Roman"/>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74151"/>
                </a:solidFill>
                <a:latin typeface="Times New Roman"/>
              </a:defRPr>
            </a:pPr>
            <a:endParaRPr lang="en-US"/>
          </a:p>
        </c:txPr>
        <c:crossAx val="2094734552"/>
        <c:crosses val="autoZero"/>
        <c:auto val="1"/>
        <c:lblAlgn val="ctr"/>
        <c:noMultiLvlLbl val="1"/>
      </c:catAx>
      <c:valAx>
        <c:axId val="2094734552"/>
        <c:scaling>
          <c:orientation val="minMax"/>
          <c:max val="650"/>
          <c:min val="0"/>
        </c:scaling>
        <c:delete val="0"/>
        <c:axPos val="b"/>
        <c:majorGridlines>
          <c:spPr>
            <a:ln w="9525" cap="flat">
              <a:solidFill>
                <a:srgbClr val="E5E7EB"/>
              </a:solidFill>
              <a:prstDash val="solid"/>
              <a:round/>
            </a:ln>
          </c:spPr>
        </c:majorGridlines>
        <c:numFmt formatCode="General" sourceLinked="0"/>
        <c:majorTickMark val="out"/>
        <c:minorTickMark val="none"/>
        <c:tickLblPos val="low"/>
        <c:spPr>
          <a:ln w="12700" cap="flat">
            <a:noFill/>
            <a:prstDash val="solid"/>
            <a:round/>
          </a:ln>
        </c:spPr>
        <c:txPr>
          <a:bodyPr/>
          <a:lstStyle/>
          <a:p>
            <a:pPr>
              <a:defRPr sz="1200" b="0" i="0" u="none" strike="noStrike">
                <a:solidFill>
                  <a:srgbClr val="6B7280"/>
                </a:solidFill>
                <a:latin typeface="Times New Roman"/>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Our project is GitPulse. We took real public activity from GitHub, about 2.4 million events, and analysed it with twelve tools from the Hadoop ecosystem, all running on one laptop. The green squares on the right are a nod to GitHub's own contribution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one line: GitPulse is an analytics platform for GitHub activity. Four numbers sum it up: 2.4 million events, 12 tools, 10 questions, and it all runs on one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two sources. GH Archive gives us the raw events, one file per hour. The GitHub API gives us information about each repository, like its language and star count. On the right is a simplified event: what happened, who did it, on which repository, and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ten questions that drive the whole design. Each one is answered by the tool best suited to it, which is why we use so many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full picture. Data comes in on the left. The dashed box in the middle is the Hadoop cluster, where data moves from raw, to clean, to curated, to machine learning. On the right, Impala and HBase serve the results, and Tableau shows them. The purple strip at the bottom is the real-time path. Airflow at the top runs the batch steps 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Hadoop normally runs on many computers. We simulate that with Docker: one NameNode, two DataNodes, one ResourceManager and two NodeManagers. Because the replication factor is 2, every file block is stored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every tool and its single job. Blue is batch processing, green is analytics and machine learning, orange is serving and orchestration, and purple is the real-time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one day of batch processing. We download the raw files, bring in lookup tables with Sqoop, clean the data with Pig, check it, compute the top repositories with MapReduce, build curated Hive tables, check again, and export the results to Postgres for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step is checked. Hive's assert_true fails the run if counts do not match. Out of 2.4 million lines, none were malformed and only one was a duplicate. The gates also caught two real problems: a file with no final newline, and 140 events already in GitHub's newer trimmed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live path we replay a real GitHub hour into Kafka sixty times faster. Storm parses each event and, in parallel, counts events per minute, keeps a rolling top list of repositories, and raises an alert when a repository suddenly spikes. Everything is written to HBase.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recommendations we hid each user's most recent stars and checked whether we could predict them. Mahout item-based filtering wins on every metric and covers over half the catalogue, while recommending only popular repositories almost never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more models. The viral model looks at a repository's first hour and predicts whether it will take off. AUC of 0.73 is a weak but real signal. K-means grouped repositories into six behaviour types, from solo push projects to repositories that mostly attract stars or issues.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our clearest findings: almost a third of GitHub activity is automated, and bots write more than half of all commit comments and issue comments. In our own test run the figure was 31.6 percent. Pig tags bots using three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few answers. Q1: by human stars, dockur/windows led the sample hours. Q6: most active repositories are solo projects, and only 407 are true community projects. Q5: the NixOS package repository merges 93 percent of its pull requests. Q3: Sunday is only about 3 percent quieter than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 same three queries on five engines. Impala answers in about a second because its daemons are always running. The others spend most of their time starting up. MapReduce is slowest because our partitions create many small files, and it starts one task per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Running every service at once would need far more memory than a laptop has. So we split the services into stages. A script starts only what the current step needs and stops everything else. Airflow switches stages automatically as the pipeline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Airflow runs the pipeline as two DAGs, which are graphs of tasks. The daily DAG processes one day at a time. The models DAG runs the machine learning once the data is loaded. Each task is a single command, so anything can be retried.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 full system on a Windows laptop with 16 GB for Docker: 3 hours of real data, both pipelines, and the streaming test. All 25 steps passed, the data-quality gates passed, and the end-to-end checks passed. The slowest step was building the curated Hive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big data project hits practical problems. Ours were memory, noisy bot data, the small-files problem, late events in the stream, bad input, and even line endings when running on Windows. Each one has a concrete fix in the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GitPulse is a complete, tested big data pipeline that answers real questions about open source. Next, we would scale to the full eight-day dataset, use the live GitHub feed, and deploy on a real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We are happy to take questions, and we can show the cluster running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P_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G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indent="0" marL="0">
              <a:buNone/>
              <a:defRPr lang="en-US" sz="3400" b="1" dirty="0">
                <a:solidFill>
                  <a:srgbClr val="14213D"/>
                </a:solidFill>
                <a:latin typeface="Times New Roman" pitchFamily="34" charset="0"/>
                <a:ea typeface="Times New Roman" pitchFamily="34" charset="-122"/>
                <a:cs typeface="Times New Roman" pitchFamily="34" charset="-120"/>
              </a:defRPr>
            </a:lvl1pPr>
          </a:lstStyle>
          <a:p>
            <a:pPr indent="0" marL="0">
              <a:buNone/>
            </a:pPr>
            <a:endParaRPr lang="en-US" sz="34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100" dirty="0">
                <a:solidFill>
                  <a:srgbClr val="5B6B7F"/>
                </a:solidFill>
                <a:latin typeface="Times New Roman" pitchFamily="34" charset="0"/>
                <a:ea typeface="Times New Roman" pitchFamily="34" charset="-122"/>
                <a:cs typeface="Times New Roman" pitchFamily="34" charset="-120"/>
              </a:rPr>
              <a:t>GitPulse  |  Big Data Analytics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GP_DARK">
    <p:bg>
      <p:bgPr>
        <a:solidFill>
          <a:srgbClr val="14213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Times New Roman"/>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Times New Roman"/>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Times New Roman"/>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Times New Roman"/>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Times New Roman"/>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Times New Roman"/>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Times New Roman"/>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Times New Roman"/>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Times New Roman"/>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chart" Target="/ppt/charts/chart5.xml"/><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slideLayout" Target="../slideLayouts/slideLayout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Rajiv Gandhi Institute of Technology logo">    </p:cNvPr>
          <p:cNvPicPr>
            <a:picLocks noChangeAspect="1"/>
          </p:cNvPicPr>
          <p:nvPr/>
        </p:nvPicPr>
        <p:blipFill>
          <a:blip r:embed="rId1"/>
          <a:stretch>
            <a:fillRect/>
          </a:stretch>
        </p:blipFill>
        <p:spPr>
          <a:xfrm>
            <a:off x="640080" y="411480"/>
            <a:ext cx="4206240" cy="651854"/>
          </a:xfrm>
          <a:prstGeom prst="rect">
            <a:avLst/>
          </a:prstGeom>
        </p:spPr>
      </p:pic>
      <p:sp>
        <p:nvSpPr>
          <p:cNvPr id="3" name="Text 0"/>
          <p:cNvSpPr txBox="1"/>
          <p:nvPr/>
        </p:nvSpPr>
        <p:spPr>
          <a:xfrm>
            <a:off x="640080" y="1463040"/>
            <a:ext cx="6400800" cy="365760"/>
          </a:xfrm>
          <a:prstGeom prst="rect">
            <a:avLst/>
          </a:prstGeom>
          <a:noFill/>
          <a:ln/>
        </p:spPr>
        <p:txBody>
          <a:bodyPr wrap="square" lIns="0" tIns="0" rIns="0" bIns="0" rtlCol="0" anchor="t"/>
          <a:lstStyle/>
          <a:p>
            <a:pPr indent="0" marL="0">
              <a:buNone/>
            </a:pPr>
            <a:r>
              <a:rPr lang="en-US" sz="1600" b="1" spc="200" kern="0" dirty="0">
                <a:solidFill>
                  <a:srgbClr val="2DA44E"/>
                </a:solidFill>
                <a:latin typeface="Times New Roman" pitchFamily="34" charset="0"/>
                <a:ea typeface="Times New Roman" pitchFamily="34" charset="-122"/>
                <a:cs typeface="Times New Roman" pitchFamily="34" charset="-120"/>
              </a:rPr>
              <a:t>BIG DATA ANALYTICS  |  MINI-PROJECT</a:t>
            </a:r>
            <a:endParaRPr lang="en-US" sz="1600" dirty="0"/>
          </a:p>
        </p:txBody>
      </p:sp>
      <p:sp>
        <p:nvSpPr>
          <p:cNvPr id="4" name="Text 1"/>
          <p:cNvSpPr txBox="1"/>
          <p:nvPr/>
        </p:nvSpPr>
        <p:spPr>
          <a:xfrm>
            <a:off x="640080" y="1874520"/>
            <a:ext cx="6583680" cy="1097280"/>
          </a:xfrm>
          <a:prstGeom prst="rect">
            <a:avLst/>
          </a:prstGeom>
          <a:noFill/>
          <a:ln/>
        </p:spPr>
        <p:txBody>
          <a:bodyPr wrap="square" lIns="0" tIns="0" rIns="0" bIns="0" rtlCol="0" anchor="t"/>
          <a:lstStyle/>
          <a:p>
            <a:pPr indent="0" marL="0">
              <a:buNone/>
            </a:pPr>
            <a:r>
              <a:rPr lang="en-US" sz="6600" b="1" dirty="0">
                <a:solidFill>
                  <a:srgbClr val="14213D"/>
                </a:solidFill>
                <a:latin typeface="Times New Roman" pitchFamily="34" charset="0"/>
                <a:ea typeface="Times New Roman" pitchFamily="34" charset="-122"/>
                <a:cs typeface="Times New Roman" pitchFamily="34" charset="-120"/>
              </a:rPr>
              <a:t>GitPulse</a:t>
            </a:r>
            <a:endParaRPr lang="en-US" sz="6600" dirty="0"/>
          </a:p>
        </p:txBody>
      </p:sp>
      <p:sp>
        <p:nvSpPr>
          <p:cNvPr id="5" name="Text 2"/>
          <p:cNvSpPr txBox="1"/>
          <p:nvPr/>
        </p:nvSpPr>
        <p:spPr>
          <a:xfrm>
            <a:off x="640080" y="2971800"/>
            <a:ext cx="6583680" cy="822960"/>
          </a:xfrm>
          <a:prstGeom prst="rect">
            <a:avLst/>
          </a:prstGeom>
          <a:noFill/>
          <a:ln/>
        </p:spPr>
        <p:txBody>
          <a:bodyPr wrap="square" lIns="0" tIns="0" rIns="0" bIns="0" rtlCol="0" anchor="t"/>
          <a:lstStyle/>
          <a:p>
            <a:pPr indent="0" marL="0">
              <a:buNone/>
            </a:pPr>
            <a:r>
              <a:rPr lang="en-US" sz="2600" dirty="0">
                <a:solidFill>
                  <a:srgbClr val="1F2937"/>
                </a:solidFill>
                <a:latin typeface="Times New Roman" pitchFamily="34" charset="0"/>
                <a:ea typeface="Times New Roman" pitchFamily="34" charset="-122"/>
                <a:cs typeface="Times New Roman" pitchFamily="34" charset="-120"/>
              </a:rPr>
              <a:t>Big Data Analytics on Open Source GitHub Activity</a:t>
            </a:r>
            <a:endParaRPr lang="en-US" sz="2600" dirty="0"/>
          </a:p>
        </p:txBody>
      </p:sp>
      <p:sp>
        <p:nvSpPr>
          <p:cNvPr id="6" name="Text 3"/>
          <p:cNvSpPr txBox="1"/>
          <p:nvPr/>
        </p:nvSpPr>
        <p:spPr>
          <a:xfrm>
            <a:off x="640080" y="4069080"/>
            <a:ext cx="3657600" cy="1097280"/>
          </a:xfrm>
          <a:prstGeom prst="rect">
            <a:avLst/>
          </a:prstGeom>
          <a:noFill/>
          <a:ln/>
        </p:spPr>
        <p:txBody>
          <a:bodyPr wrap="square" lIns="0" tIns="0" rIns="0" bIns="0" rtlCol="0" anchor="t"/>
          <a:lstStyle/>
          <a:p>
            <a:pPr indent="0" marL="0">
              <a:spcAft>
                <a:spcPts val="200"/>
              </a:spcAft>
              <a:buNone/>
            </a:pPr>
            <a:r>
              <a:rPr lang="en-US" sz="1800" dirty="0">
                <a:solidFill>
                  <a:srgbClr val="1F2937"/>
                </a:solidFill>
                <a:latin typeface="Times New Roman" pitchFamily="34" charset="0"/>
                <a:ea typeface="Times New Roman" pitchFamily="34" charset="-122"/>
                <a:cs typeface="Times New Roman" pitchFamily="34" charset="-120"/>
              </a:rPr>
              <a:t>Ayaan Memon (A-759)</a:t>
            </a:r>
            <a:endParaRPr lang="en-US" sz="1800" dirty="0"/>
          </a:p>
          <a:p>
            <a:pPr indent="0" marL="0">
              <a:spcAft>
                <a:spcPts val="200"/>
              </a:spcAft>
              <a:buNone/>
            </a:pPr>
            <a:r>
              <a:rPr lang="en-US" sz="1800" dirty="0">
                <a:solidFill>
                  <a:srgbClr val="1F2937"/>
                </a:solidFill>
                <a:latin typeface="Times New Roman" pitchFamily="34" charset="0"/>
                <a:ea typeface="Times New Roman" pitchFamily="34" charset="-122"/>
                <a:cs typeface="Times New Roman" pitchFamily="34" charset="-120"/>
              </a:rPr>
              <a:t>Tanmay Meshram (A-761)</a:t>
            </a:r>
            <a:endParaRPr lang="en-US" sz="1800" dirty="0"/>
          </a:p>
          <a:p>
            <a:pPr indent="0" marL="0">
              <a:spcAft>
                <a:spcPts val="200"/>
              </a:spcAft>
              <a:buNone/>
            </a:pPr>
            <a:r>
              <a:rPr lang="en-US" sz="1800" dirty="0">
                <a:solidFill>
                  <a:srgbClr val="1F2937"/>
                </a:solidFill>
                <a:latin typeface="Times New Roman" pitchFamily="34" charset="0"/>
                <a:ea typeface="Times New Roman" pitchFamily="34" charset="-122"/>
                <a:cs typeface="Times New Roman" pitchFamily="34" charset="-120"/>
              </a:rPr>
              <a:t>Kshitij Desai (A-772)</a:t>
            </a:r>
            <a:endParaRPr lang="en-US" sz="1800" dirty="0"/>
          </a:p>
        </p:txBody>
      </p:sp>
      <p:sp>
        <p:nvSpPr>
          <p:cNvPr id="7" name="Text 4"/>
          <p:cNvSpPr txBox="1"/>
          <p:nvPr/>
        </p:nvSpPr>
        <p:spPr>
          <a:xfrm>
            <a:off x="4389120" y="4069080"/>
            <a:ext cx="3108960" cy="822960"/>
          </a:xfrm>
          <a:prstGeom prst="rect">
            <a:avLst/>
          </a:prstGeom>
          <a:noFill/>
          <a:ln/>
        </p:spPr>
        <p:txBody>
          <a:bodyPr wrap="square" lIns="0" tIns="0" rIns="0" bIns="0" rtlCol="0" anchor="t"/>
          <a:lstStyle/>
          <a:p>
            <a:pPr indent="0" marL="0">
              <a:buNone/>
            </a:pPr>
            <a:r>
              <a:rPr lang="en-US" sz="1800" dirty="0">
                <a:solidFill>
                  <a:srgbClr val="4B5563"/>
                </a:solidFill>
                <a:latin typeface="Times New Roman" pitchFamily="34" charset="0"/>
                <a:ea typeface="Times New Roman" pitchFamily="34" charset="-122"/>
                <a:cs typeface="Times New Roman" pitchFamily="34" charset="-120"/>
              </a:rPr>
              <a:t>Guided by</a:t>
            </a:r>
            <a:endParaRPr lang="en-US" sz="1800" dirty="0"/>
          </a:p>
          <a:p>
            <a:pPr indent="0" marL="0">
              <a:buNone/>
            </a:pPr>
            <a:r>
              <a:rPr lang="en-US" sz="1800" b="1" dirty="0">
                <a:solidFill>
                  <a:srgbClr val="1F2937"/>
                </a:solidFill>
                <a:latin typeface="Times New Roman" pitchFamily="34" charset="0"/>
                <a:ea typeface="Times New Roman" pitchFamily="34" charset="-122"/>
                <a:cs typeface="Times New Roman" pitchFamily="34" charset="-120"/>
              </a:rPr>
              <a:t>Prof. Bhavesh Panchal</a:t>
            </a:r>
            <a:endParaRPr lang="en-US" sz="1800" dirty="0"/>
          </a:p>
        </p:txBody>
      </p:sp>
      <p:sp>
        <p:nvSpPr>
          <p:cNvPr id="8" name="Text 5"/>
          <p:cNvSpPr txBox="1"/>
          <p:nvPr/>
        </p:nvSpPr>
        <p:spPr>
          <a:xfrm>
            <a:off x="640080" y="5989320"/>
            <a:ext cx="7315200" cy="365760"/>
          </a:xfrm>
          <a:prstGeom prst="rect">
            <a:avLst/>
          </a:prstGeom>
          <a:noFill/>
          <a:ln/>
        </p:spPr>
        <p:txBody>
          <a:bodyPr wrap="square" lIns="0" tIns="0" rIns="0" bIns="0" rtlCol="0" anchor="t"/>
          <a:lstStyle/>
          <a:p>
            <a:pPr indent="0" marL="0">
              <a:buNone/>
            </a:pPr>
            <a:r>
              <a:rPr lang="en-US" sz="1400" dirty="0">
                <a:solidFill>
                  <a:srgbClr val="4B5563"/>
                </a:solidFill>
                <a:latin typeface="Times New Roman" pitchFamily="34" charset="0"/>
                <a:ea typeface="Times New Roman" pitchFamily="34" charset="-122"/>
                <a:cs typeface="Times New Roman" pitchFamily="34" charset="-120"/>
              </a:rPr>
              <a:t>Department of Computer Engineering, University of Mumbai  |  October 2026</a:t>
            </a:r>
            <a:endParaRPr lang="en-US" sz="1400" dirty="0"/>
          </a:p>
        </p:txBody>
      </p:sp>
      <p:sp>
        <p:nvSpPr>
          <p:cNvPr id="9" name="grid"/>
          <p:cNvSpPr/>
          <p:nvPr/>
        </p:nvSpPr>
        <p:spPr>
          <a:xfrm>
            <a:off x="8001000" y="868680"/>
            <a:ext cx="265176" cy="265176"/>
          </a:xfrm>
          <a:prstGeom prst="roundRect">
            <a:avLst>
              <a:gd name="adj" fmla="val 10345"/>
            </a:avLst>
          </a:prstGeom>
          <a:solidFill>
            <a:srgbClr val="E3F4E8"/>
          </a:solidFill>
          <a:ln w="12700">
            <a:solidFill>
              <a:srgbClr val="E3F4E8"/>
            </a:solidFill>
            <a:prstDash val="solid"/>
          </a:ln>
        </p:spPr>
      </p:sp>
      <p:sp>
        <p:nvSpPr>
          <p:cNvPr id="10" name="grid"/>
          <p:cNvSpPr/>
          <p:nvPr/>
        </p:nvSpPr>
        <p:spPr>
          <a:xfrm>
            <a:off x="8001000" y="1197864"/>
            <a:ext cx="265176" cy="265176"/>
          </a:xfrm>
          <a:prstGeom prst="roundRect">
            <a:avLst>
              <a:gd name="adj" fmla="val 10345"/>
            </a:avLst>
          </a:prstGeom>
          <a:solidFill>
            <a:srgbClr val="E3F4E8"/>
          </a:solidFill>
          <a:ln w="12700">
            <a:solidFill>
              <a:srgbClr val="E3F4E8"/>
            </a:solidFill>
            <a:prstDash val="solid"/>
          </a:ln>
        </p:spPr>
      </p:sp>
      <p:sp>
        <p:nvSpPr>
          <p:cNvPr id="11" name="grid"/>
          <p:cNvSpPr/>
          <p:nvPr/>
        </p:nvSpPr>
        <p:spPr>
          <a:xfrm>
            <a:off x="8001000" y="1527048"/>
            <a:ext cx="265176" cy="265176"/>
          </a:xfrm>
          <a:prstGeom prst="roundRect">
            <a:avLst>
              <a:gd name="adj" fmla="val 10345"/>
            </a:avLst>
          </a:prstGeom>
          <a:solidFill>
            <a:srgbClr val="E3F4E8"/>
          </a:solidFill>
          <a:ln w="12700">
            <a:solidFill>
              <a:srgbClr val="E3F4E8"/>
            </a:solidFill>
            <a:prstDash val="solid"/>
          </a:ln>
        </p:spPr>
      </p:sp>
      <p:sp>
        <p:nvSpPr>
          <p:cNvPr id="12" name="grid"/>
          <p:cNvSpPr/>
          <p:nvPr/>
        </p:nvSpPr>
        <p:spPr>
          <a:xfrm>
            <a:off x="8001000" y="1856232"/>
            <a:ext cx="265176" cy="265176"/>
          </a:xfrm>
          <a:prstGeom prst="roundRect">
            <a:avLst>
              <a:gd name="adj" fmla="val 10345"/>
            </a:avLst>
          </a:prstGeom>
          <a:solidFill>
            <a:srgbClr val="E3F4E8"/>
          </a:solidFill>
          <a:ln w="12700">
            <a:solidFill>
              <a:srgbClr val="E3F4E8"/>
            </a:solidFill>
            <a:prstDash val="solid"/>
          </a:ln>
        </p:spPr>
      </p:sp>
      <p:sp>
        <p:nvSpPr>
          <p:cNvPr id="13" name="grid"/>
          <p:cNvSpPr/>
          <p:nvPr/>
        </p:nvSpPr>
        <p:spPr>
          <a:xfrm>
            <a:off x="8001000" y="2185416"/>
            <a:ext cx="265176" cy="265176"/>
          </a:xfrm>
          <a:prstGeom prst="roundRect">
            <a:avLst>
              <a:gd name="adj" fmla="val 10345"/>
            </a:avLst>
          </a:prstGeom>
          <a:solidFill>
            <a:srgbClr val="E3F4E8"/>
          </a:solidFill>
          <a:ln w="12700">
            <a:solidFill>
              <a:srgbClr val="E3F4E8"/>
            </a:solidFill>
            <a:prstDash val="solid"/>
          </a:ln>
        </p:spPr>
      </p:sp>
      <p:sp>
        <p:nvSpPr>
          <p:cNvPr id="14" name="grid"/>
          <p:cNvSpPr/>
          <p:nvPr/>
        </p:nvSpPr>
        <p:spPr>
          <a:xfrm>
            <a:off x="8001000" y="2514600"/>
            <a:ext cx="265176" cy="265176"/>
          </a:xfrm>
          <a:prstGeom prst="roundRect">
            <a:avLst>
              <a:gd name="adj" fmla="val 10345"/>
            </a:avLst>
          </a:prstGeom>
          <a:solidFill>
            <a:srgbClr val="E3F4E8"/>
          </a:solidFill>
          <a:ln w="12700">
            <a:solidFill>
              <a:srgbClr val="E3F4E8"/>
            </a:solidFill>
            <a:prstDash val="solid"/>
          </a:ln>
        </p:spPr>
      </p:sp>
      <p:sp>
        <p:nvSpPr>
          <p:cNvPr id="15" name="grid"/>
          <p:cNvSpPr/>
          <p:nvPr/>
        </p:nvSpPr>
        <p:spPr>
          <a:xfrm>
            <a:off x="8001000" y="2843784"/>
            <a:ext cx="265176" cy="265176"/>
          </a:xfrm>
          <a:prstGeom prst="roundRect">
            <a:avLst>
              <a:gd name="adj" fmla="val 10345"/>
            </a:avLst>
          </a:prstGeom>
          <a:solidFill>
            <a:srgbClr val="E3F4E8"/>
          </a:solidFill>
          <a:ln w="12700">
            <a:solidFill>
              <a:srgbClr val="E3F4E8"/>
            </a:solidFill>
            <a:prstDash val="solid"/>
          </a:ln>
        </p:spPr>
      </p:sp>
      <p:sp>
        <p:nvSpPr>
          <p:cNvPr id="16" name="grid"/>
          <p:cNvSpPr/>
          <p:nvPr/>
        </p:nvSpPr>
        <p:spPr>
          <a:xfrm>
            <a:off x="8001000" y="3172968"/>
            <a:ext cx="265176" cy="265176"/>
          </a:xfrm>
          <a:prstGeom prst="roundRect">
            <a:avLst>
              <a:gd name="adj" fmla="val 10345"/>
            </a:avLst>
          </a:prstGeom>
          <a:solidFill>
            <a:srgbClr val="A7DDB4"/>
          </a:solidFill>
          <a:ln w="12700">
            <a:solidFill>
              <a:srgbClr val="A7DDB4"/>
            </a:solidFill>
            <a:prstDash val="solid"/>
          </a:ln>
        </p:spPr>
      </p:sp>
      <p:sp>
        <p:nvSpPr>
          <p:cNvPr id="17" name="grid"/>
          <p:cNvSpPr/>
          <p:nvPr/>
        </p:nvSpPr>
        <p:spPr>
          <a:xfrm>
            <a:off x="8001000" y="3502152"/>
            <a:ext cx="265176" cy="265176"/>
          </a:xfrm>
          <a:prstGeom prst="roundRect">
            <a:avLst>
              <a:gd name="adj" fmla="val 10345"/>
            </a:avLst>
          </a:prstGeom>
          <a:solidFill>
            <a:srgbClr val="E3F4E8"/>
          </a:solidFill>
          <a:ln w="12700">
            <a:solidFill>
              <a:srgbClr val="E3F4E8"/>
            </a:solidFill>
            <a:prstDash val="solid"/>
          </a:ln>
        </p:spPr>
      </p:sp>
      <p:sp>
        <p:nvSpPr>
          <p:cNvPr id="18" name="grid"/>
          <p:cNvSpPr/>
          <p:nvPr/>
        </p:nvSpPr>
        <p:spPr>
          <a:xfrm>
            <a:off x="8001000" y="3831336"/>
            <a:ext cx="265176" cy="265176"/>
          </a:xfrm>
          <a:prstGeom prst="roundRect">
            <a:avLst>
              <a:gd name="adj" fmla="val 10345"/>
            </a:avLst>
          </a:prstGeom>
          <a:solidFill>
            <a:srgbClr val="E3F4E8"/>
          </a:solidFill>
          <a:ln w="12700">
            <a:solidFill>
              <a:srgbClr val="E3F4E8"/>
            </a:solidFill>
            <a:prstDash val="solid"/>
          </a:ln>
        </p:spPr>
      </p:sp>
      <p:sp>
        <p:nvSpPr>
          <p:cNvPr id="19" name="grid"/>
          <p:cNvSpPr/>
          <p:nvPr/>
        </p:nvSpPr>
        <p:spPr>
          <a:xfrm>
            <a:off x="8001000" y="4160520"/>
            <a:ext cx="265176" cy="265176"/>
          </a:xfrm>
          <a:prstGeom prst="roundRect">
            <a:avLst>
              <a:gd name="adj" fmla="val 10345"/>
            </a:avLst>
          </a:prstGeom>
          <a:solidFill>
            <a:srgbClr val="E3F4E8"/>
          </a:solidFill>
          <a:ln w="12700">
            <a:solidFill>
              <a:srgbClr val="E3F4E8"/>
            </a:solidFill>
            <a:prstDash val="solid"/>
          </a:ln>
        </p:spPr>
      </p:sp>
      <p:sp>
        <p:nvSpPr>
          <p:cNvPr id="20" name="grid"/>
          <p:cNvSpPr/>
          <p:nvPr/>
        </p:nvSpPr>
        <p:spPr>
          <a:xfrm>
            <a:off x="8001000" y="4489704"/>
            <a:ext cx="265176" cy="265176"/>
          </a:xfrm>
          <a:prstGeom prst="roundRect">
            <a:avLst>
              <a:gd name="adj" fmla="val 10345"/>
            </a:avLst>
          </a:prstGeom>
          <a:solidFill>
            <a:srgbClr val="A7DDB4"/>
          </a:solidFill>
          <a:ln w="12700">
            <a:solidFill>
              <a:srgbClr val="A7DDB4"/>
            </a:solidFill>
            <a:prstDash val="solid"/>
          </a:ln>
        </p:spPr>
      </p:sp>
      <p:sp>
        <p:nvSpPr>
          <p:cNvPr id="21" name="grid"/>
          <p:cNvSpPr/>
          <p:nvPr/>
        </p:nvSpPr>
        <p:spPr>
          <a:xfrm>
            <a:off x="8001000" y="4818888"/>
            <a:ext cx="265176" cy="265176"/>
          </a:xfrm>
          <a:prstGeom prst="roundRect">
            <a:avLst>
              <a:gd name="adj" fmla="val 10345"/>
            </a:avLst>
          </a:prstGeom>
          <a:solidFill>
            <a:srgbClr val="E3F4E8"/>
          </a:solidFill>
          <a:ln w="12700">
            <a:solidFill>
              <a:srgbClr val="E3F4E8"/>
            </a:solidFill>
            <a:prstDash val="solid"/>
          </a:ln>
        </p:spPr>
      </p:sp>
      <p:sp>
        <p:nvSpPr>
          <p:cNvPr id="22" name="grid"/>
          <p:cNvSpPr/>
          <p:nvPr/>
        </p:nvSpPr>
        <p:spPr>
          <a:xfrm>
            <a:off x="8001000" y="5148072"/>
            <a:ext cx="265176" cy="265176"/>
          </a:xfrm>
          <a:prstGeom prst="roundRect">
            <a:avLst>
              <a:gd name="adj" fmla="val 10345"/>
            </a:avLst>
          </a:prstGeom>
          <a:solidFill>
            <a:srgbClr val="E3F4E8"/>
          </a:solidFill>
          <a:ln w="12700">
            <a:solidFill>
              <a:srgbClr val="E3F4E8"/>
            </a:solidFill>
            <a:prstDash val="solid"/>
          </a:ln>
        </p:spPr>
      </p:sp>
      <p:sp>
        <p:nvSpPr>
          <p:cNvPr id="23" name="grid"/>
          <p:cNvSpPr/>
          <p:nvPr/>
        </p:nvSpPr>
        <p:spPr>
          <a:xfrm>
            <a:off x="8330184" y="868680"/>
            <a:ext cx="265176" cy="265176"/>
          </a:xfrm>
          <a:prstGeom prst="roundRect">
            <a:avLst>
              <a:gd name="adj" fmla="val 10345"/>
            </a:avLst>
          </a:prstGeom>
          <a:solidFill>
            <a:srgbClr val="E3F4E8"/>
          </a:solidFill>
          <a:ln w="12700">
            <a:solidFill>
              <a:srgbClr val="E3F4E8"/>
            </a:solidFill>
            <a:prstDash val="solid"/>
          </a:ln>
        </p:spPr>
      </p:sp>
      <p:sp>
        <p:nvSpPr>
          <p:cNvPr id="24" name="grid"/>
          <p:cNvSpPr/>
          <p:nvPr/>
        </p:nvSpPr>
        <p:spPr>
          <a:xfrm>
            <a:off x="8330184" y="1197864"/>
            <a:ext cx="265176" cy="265176"/>
          </a:xfrm>
          <a:prstGeom prst="roundRect">
            <a:avLst>
              <a:gd name="adj" fmla="val 10345"/>
            </a:avLst>
          </a:prstGeom>
          <a:solidFill>
            <a:srgbClr val="E3F4E8"/>
          </a:solidFill>
          <a:ln w="12700">
            <a:solidFill>
              <a:srgbClr val="E3F4E8"/>
            </a:solidFill>
            <a:prstDash val="solid"/>
          </a:ln>
        </p:spPr>
      </p:sp>
      <p:sp>
        <p:nvSpPr>
          <p:cNvPr id="25" name="grid"/>
          <p:cNvSpPr/>
          <p:nvPr/>
        </p:nvSpPr>
        <p:spPr>
          <a:xfrm>
            <a:off x="8330184" y="1527048"/>
            <a:ext cx="265176" cy="265176"/>
          </a:xfrm>
          <a:prstGeom prst="roundRect">
            <a:avLst>
              <a:gd name="adj" fmla="val 10345"/>
            </a:avLst>
          </a:prstGeom>
          <a:solidFill>
            <a:srgbClr val="A7DDB4"/>
          </a:solidFill>
          <a:ln w="12700">
            <a:solidFill>
              <a:srgbClr val="A7DDB4"/>
            </a:solidFill>
            <a:prstDash val="solid"/>
          </a:ln>
        </p:spPr>
      </p:sp>
      <p:sp>
        <p:nvSpPr>
          <p:cNvPr id="26" name="grid"/>
          <p:cNvSpPr/>
          <p:nvPr/>
        </p:nvSpPr>
        <p:spPr>
          <a:xfrm>
            <a:off x="8330184" y="1856232"/>
            <a:ext cx="265176" cy="265176"/>
          </a:xfrm>
          <a:prstGeom prst="roundRect">
            <a:avLst>
              <a:gd name="adj" fmla="val 10345"/>
            </a:avLst>
          </a:prstGeom>
          <a:solidFill>
            <a:srgbClr val="E3F4E8"/>
          </a:solidFill>
          <a:ln w="12700">
            <a:solidFill>
              <a:srgbClr val="E3F4E8"/>
            </a:solidFill>
            <a:prstDash val="solid"/>
          </a:ln>
        </p:spPr>
      </p:sp>
      <p:sp>
        <p:nvSpPr>
          <p:cNvPr id="27" name="grid"/>
          <p:cNvSpPr/>
          <p:nvPr/>
        </p:nvSpPr>
        <p:spPr>
          <a:xfrm>
            <a:off x="8330184" y="2185416"/>
            <a:ext cx="265176" cy="265176"/>
          </a:xfrm>
          <a:prstGeom prst="roundRect">
            <a:avLst>
              <a:gd name="adj" fmla="val 10345"/>
            </a:avLst>
          </a:prstGeom>
          <a:solidFill>
            <a:srgbClr val="A7DDB4"/>
          </a:solidFill>
          <a:ln w="12700">
            <a:solidFill>
              <a:srgbClr val="A7DDB4"/>
            </a:solidFill>
            <a:prstDash val="solid"/>
          </a:ln>
        </p:spPr>
      </p:sp>
      <p:sp>
        <p:nvSpPr>
          <p:cNvPr id="28" name="grid"/>
          <p:cNvSpPr/>
          <p:nvPr/>
        </p:nvSpPr>
        <p:spPr>
          <a:xfrm>
            <a:off x="8330184" y="2514600"/>
            <a:ext cx="265176" cy="265176"/>
          </a:xfrm>
          <a:prstGeom prst="roundRect">
            <a:avLst>
              <a:gd name="adj" fmla="val 10345"/>
            </a:avLst>
          </a:prstGeom>
          <a:solidFill>
            <a:srgbClr val="E3F4E8"/>
          </a:solidFill>
          <a:ln w="12700">
            <a:solidFill>
              <a:srgbClr val="E3F4E8"/>
            </a:solidFill>
            <a:prstDash val="solid"/>
          </a:ln>
        </p:spPr>
      </p:sp>
      <p:sp>
        <p:nvSpPr>
          <p:cNvPr id="29" name="grid"/>
          <p:cNvSpPr/>
          <p:nvPr/>
        </p:nvSpPr>
        <p:spPr>
          <a:xfrm>
            <a:off x="8330184" y="2843784"/>
            <a:ext cx="265176" cy="265176"/>
          </a:xfrm>
          <a:prstGeom prst="roundRect">
            <a:avLst>
              <a:gd name="adj" fmla="val 10345"/>
            </a:avLst>
          </a:prstGeom>
          <a:solidFill>
            <a:srgbClr val="E3F4E8"/>
          </a:solidFill>
          <a:ln w="12700">
            <a:solidFill>
              <a:srgbClr val="E3F4E8"/>
            </a:solidFill>
            <a:prstDash val="solid"/>
          </a:ln>
        </p:spPr>
      </p:sp>
      <p:sp>
        <p:nvSpPr>
          <p:cNvPr id="30" name="grid"/>
          <p:cNvSpPr/>
          <p:nvPr/>
        </p:nvSpPr>
        <p:spPr>
          <a:xfrm>
            <a:off x="8330184" y="3172968"/>
            <a:ext cx="265176" cy="265176"/>
          </a:xfrm>
          <a:prstGeom prst="roundRect">
            <a:avLst>
              <a:gd name="adj" fmla="val 10345"/>
            </a:avLst>
          </a:prstGeom>
          <a:solidFill>
            <a:srgbClr val="E3F4E8"/>
          </a:solidFill>
          <a:ln w="12700">
            <a:solidFill>
              <a:srgbClr val="E3F4E8"/>
            </a:solidFill>
            <a:prstDash val="solid"/>
          </a:ln>
        </p:spPr>
      </p:sp>
      <p:sp>
        <p:nvSpPr>
          <p:cNvPr id="31" name="grid"/>
          <p:cNvSpPr/>
          <p:nvPr/>
        </p:nvSpPr>
        <p:spPr>
          <a:xfrm>
            <a:off x="8330184" y="3502152"/>
            <a:ext cx="265176" cy="265176"/>
          </a:xfrm>
          <a:prstGeom prst="roundRect">
            <a:avLst>
              <a:gd name="adj" fmla="val 10345"/>
            </a:avLst>
          </a:prstGeom>
          <a:solidFill>
            <a:srgbClr val="A7DDB4"/>
          </a:solidFill>
          <a:ln w="12700">
            <a:solidFill>
              <a:srgbClr val="A7DDB4"/>
            </a:solidFill>
            <a:prstDash val="solid"/>
          </a:ln>
        </p:spPr>
      </p:sp>
      <p:sp>
        <p:nvSpPr>
          <p:cNvPr id="32" name="grid"/>
          <p:cNvSpPr/>
          <p:nvPr/>
        </p:nvSpPr>
        <p:spPr>
          <a:xfrm>
            <a:off x="8330184" y="3831336"/>
            <a:ext cx="265176" cy="265176"/>
          </a:xfrm>
          <a:prstGeom prst="roundRect">
            <a:avLst>
              <a:gd name="adj" fmla="val 10345"/>
            </a:avLst>
          </a:prstGeom>
          <a:solidFill>
            <a:srgbClr val="A7DDB4"/>
          </a:solidFill>
          <a:ln w="12700">
            <a:solidFill>
              <a:srgbClr val="A7DDB4"/>
            </a:solidFill>
            <a:prstDash val="solid"/>
          </a:ln>
        </p:spPr>
      </p:sp>
      <p:sp>
        <p:nvSpPr>
          <p:cNvPr id="33" name="grid"/>
          <p:cNvSpPr/>
          <p:nvPr/>
        </p:nvSpPr>
        <p:spPr>
          <a:xfrm>
            <a:off x="8330184" y="4160520"/>
            <a:ext cx="265176" cy="265176"/>
          </a:xfrm>
          <a:prstGeom prst="roundRect">
            <a:avLst>
              <a:gd name="adj" fmla="val 10345"/>
            </a:avLst>
          </a:prstGeom>
          <a:solidFill>
            <a:srgbClr val="E3F4E8"/>
          </a:solidFill>
          <a:ln w="12700">
            <a:solidFill>
              <a:srgbClr val="E3F4E8"/>
            </a:solidFill>
            <a:prstDash val="solid"/>
          </a:ln>
        </p:spPr>
      </p:sp>
      <p:sp>
        <p:nvSpPr>
          <p:cNvPr id="34" name="grid"/>
          <p:cNvSpPr/>
          <p:nvPr/>
        </p:nvSpPr>
        <p:spPr>
          <a:xfrm>
            <a:off x="8330184" y="4489704"/>
            <a:ext cx="265176" cy="265176"/>
          </a:xfrm>
          <a:prstGeom prst="roundRect">
            <a:avLst>
              <a:gd name="adj" fmla="val 10345"/>
            </a:avLst>
          </a:prstGeom>
          <a:solidFill>
            <a:srgbClr val="E3F4E8"/>
          </a:solidFill>
          <a:ln w="12700">
            <a:solidFill>
              <a:srgbClr val="E3F4E8"/>
            </a:solidFill>
            <a:prstDash val="solid"/>
          </a:ln>
        </p:spPr>
      </p:sp>
      <p:sp>
        <p:nvSpPr>
          <p:cNvPr id="35" name="grid"/>
          <p:cNvSpPr/>
          <p:nvPr/>
        </p:nvSpPr>
        <p:spPr>
          <a:xfrm>
            <a:off x="8330184" y="4818888"/>
            <a:ext cx="265176" cy="265176"/>
          </a:xfrm>
          <a:prstGeom prst="roundRect">
            <a:avLst>
              <a:gd name="adj" fmla="val 10345"/>
            </a:avLst>
          </a:prstGeom>
          <a:solidFill>
            <a:srgbClr val="A7DDB4"/>
          </a:solidFill>
          <a:ln w="12700">
            <a:solidFill>
              <a:srgbClr val="A7DDB4"/>
            </a:solidFill>
            <a:prstDash val="solid"/>
          </a:ln>
        </p:spPr>
      </p:sp>
      <p:sp>
        <p:nvSpPr>
          <p:cNvPr id="36" name="grid"/>
          <p:cNvSpPr/>
          <p:nvPr/>
        </p:nvSpPr>
        <p:spPr>
          <a:xfrm>
            <a:off x="8330184" y="5148072"/>
            <a:ext cx="265176" cy="265176"/>
          </a:xfrm>
          <a:prstGeom prst="roundRect">
            <a:avLst>
              <a:gd name="adj" fmla="val 10345"/>
            </a:avLst>
          </a:prstGeom>
          <a:solidFill>
            <a:srgbClr val="E3F4E8"/>
          </a:solidFill>
          <a:ln w="12700">
            <a:solidFill>
              <a:srgbClr val="E3F4E8"/>
            </a:solidFill>
            <a:prstDash val="solid"/>
          </a:ln>
        </p:spPr>
      </p:sp>
      <p:sp>
        <p:nvSpPr>
          <p:cNvPr id="37" name="grid"/>
          <p:cNvSpPr/>
          <p:nvPr/>
        </p:nvSpPr>
        <p:spPr>
          <a:xfrm>
            <a:off x="8659368" y="868680"/>
            <a:ext cx="265176" cy="265176"/>
          </a:xfrm>
          <a:prstGeom prst="roundRect">
            <a:avLst>
              <a:gd name="adj" fmla="val 10345"/>
            </a:avLst>
          </a:prstGeom>
          <a:solidFill>
            <a:srgbClr val="A7DDB4"/>
          </a:solidFill>
          <a:ln w="12700">
            <a:solidFill>
              <a:srgbClr val="A7DDB4"/>
            </a:solidFill>
            <a:prstDash val="solid"/>
          </a:ln>
        </p:spPr>
      </p:sp>
      <p:sp>
        <p:nvSpPr>
          <p:cNvPr id="38" name="grid"/>
          <p:cNvSpPr/>
          <p:nvPr/>
        </p:nvSpPr>
        <p:spPr>
          <a:xfrm>
            <a:off x="8659368" y="1197864"/>
            <a:ext cx="265176" cy="265176"/>
          </a:xfrm>
          <a:prstGeom prst="roundRect">
            <a:avLst>
              <a:gd name="adj" fmla="val 10345"/>
            </a:avLst>
          </a:prstGeom>
          <a:solidFill>
            <a:srgbClr val="A7DDB4"/>
          </a:solidFill>
          <a:ln w="12700">
            <a:solidFill>
              <a:srgbClr val="A7DDB4"/>
            </a:solidFill>
            <a:prstDash val="solid"/>
          </a:ln>
        </p:spPr>
      </p:sp>
      <p:sp>
        <p:nvSpPr>
          <p:cNvPr id="39" name="grid"/>
          <p:cNvSpPr/>
          <p:nvPr/>
        </p:nvSpPr>
        <p:spPr>
          <a:xfrm>
            <a:off x="8659368" y="1527048"/>
            <a:ext cx="265176" cy="265176"/>
          </a:xfrm>
          <a:prstGeom prst="roundRect">
            <a:avLst>
              <a:gd name="adj" fmla="val 10345"/>
            </a:avLst>
          </a:prstGeom>
          <a:solidFill>
            <a:srgbClr val="A7DDB4"/>
          </a:solidFill>
          <a:ln w="12700">
            <a:solidFill>
              <a:srgbClr val="A7DDB4"/>
            </a:solidFill>
            <a:prstDash val="solid"/>
          </a:ln>
        </p:spPr>
      </p:sp>
      <p:sp>
        <p:nvSpPr>
          <p:cNvPr id="40" name="grid"/>
          <p:cNvSpPr/>
          <p:nvPr/>
        </p:nvSpPr>
        <p:spPr>
          <a:xfrm>
            <a:off x="8659368" y="1856232"/>
            <a:ext cx="265176" cy="265176"/>
          </a:xfrm>
          <a:prstGeom prst="roundRect">
            <a:avLst>
              <a:gd name="adj" fmla="val 10345"/>
            </a:avLst>
          </a:prstGeom>
          <a:solidFill>
            <a:srgbClr val="E3F4E8"/>
          </a:solidFill>
          <a:ln w="12700">
            <a:solidFill>
              <a:srgbClr val="E3F4E8"/>
            </a:solidFill>
            <a:prstDash val="solid"/>
          </a:ln>
        </p:spPr>
      </p:sp>
      <p:sp>
        <p:nvSpPr>
          <p:cNvPr id="41" name="grid"/>
          <p:cNvSpPr/>
          <p:nvPr/>
        </p:nvSpPr>
        <p:spPr>
          <a:xfrm>
            <a:off x="8659368" y="2185416"/>
            <a:ext cx="265176" cy="265176"/>
          </a:xfrm>
          <a:prstGeom prst="roundRect">
            <a:avLst>
              <a:gd name="adj" fmla="val 10345"/>
            </a:avLst>
          </a:prstGeom>
          <a:solidFill>
            <a:srgbClr val="E3F4E8"/>
          </a:solidFill>
          <a:ln w="12700">
            <a:solidFill>
              <a:srgbClr val="E3F4E8"/>
            </a:solidFill>
            <a:prstDash val="solid"/>
          </a:ln>
        </p:spPr>
      </p:sp>
      <p:sp>
        <p:nvSpPr>
          <p:cNvPr id="42" name="grid"/>
          <p:cNvSpPr/>
          <p:nvPr/>
        </p:nvSpPr>
        <p:spPr>
          <a:xfrm>
            <a:off x="8659368" y="2514600"/>
            <a:ext cx="265176" cy="265176"/>
          </a:xfrm>
          <a:prstGeom prst="roundRect">
            <a:avLst>
              <a:gd name="adj" fmla="val 10345"/>
            </a:avLst>
          </a:prstGeom>
          <a:solidFill>
            <a:srgbClr val="5FBF77"/>
          </a:solidFill>
          <a:ln w="12700">
            <a:solidFill>
              <a:srgbClr val="5FBF77"/>
            </a:solidFill>
            <a:prstDash val="solid"/>
          </a:ln>
        </p:spPr>
      </p:sp>
      <p:sp>
        <p:nvSpPr>
          <p:cNvPr id="43" name="grid"/>
          <p:cNvSpPr/>
          <p:nvPr/>
        </p:nvSpPr>
        <p:spPr>
          <a:xfrm>
            <a:off x="8659368" y="2843784"/>
            <a:ext cx="265176" cy="265176"/>
          </a:xfrm>
          <a:prstGeom prst="roundRect">
            <a:avLst>
              <a:gd name="adj" fmla="val 10345"/>
            </a:avLst>
          </a:prstGeom>
          <a:solidFill>
            <a:srgbClr val="A7DDB4"/>
          </a:solidFill>
          <a:ln w="12700">
            <a:solidFill>
              <a:srgbClr val="A7DDB4"/>
            </a:solidFill>
            <a:prstDash val="solid"/>
          </a:ln>
        </p:spPr>
      </p:sp>
      <p:sp>
        <p:nvSpPr>
          <p:cNvPr id="44" name="grid"/>
          <p:cNvSpPr/>
          <p:nvPr/>
        </p:nvSpPr>
        <p:spPr>
          <a:xfrm>
            <a:off x="8659368" y="3172968"/>
            <a:ext cx="265176" cy="265176"/>
          </a:xfrm>
          <a:prstGeom prst="roundRect">
            <a:avLst>
              <a:gd name="adj" fmla="val 10345"/>
            </a:avLst>
          </a:prstGeom>
          <a:solidFill>
            <a:srgbClr val="E3F4E8"/>
          </a:solidFill>
          <a:ln w="12700">
            <a:solidFill>
              <a:srgbClr val="E3F4E8"/>
            </a:solidFill>
            <a:prstDash val="solid"/>
          </a:ln>
        </p:spPr>
      </p:sp>
      <p:sp>
        <p:nvSpPr>
          <p:cNvPr id="45" name="grid"/>
          <p:cNvSpPr/>
          <p:nvPr/>
        </p:nvSpPr>
        <p:spPr>
          <a:xfrm>
            <a:off x="8659368" y="3502152"/>
            <a:ext cx="265176" cy="265176"/>
          </a:xfrm>
          <a:prstGeom prst="roundRect">
            <a:avLst>
              <a:gd name="adj" fmla="val 10345"/>
            </a:avLst>
          </a:prstGeom>
          <a:solidFill>
            <a:srgbClr val="A7DDB4"/>
          </a:solidFill>
          <a:ln w="12700">
            <a:solidFill>
              <a:srgbClr val="A7DDB4"/>
            </a:solidFill>
            <a:prstDash val="solid"/>
          </a:ln>
        </p:spPr>
      </p:sp>
      <p:sp>
        <p:nvSpPr>
          <p:cNvPr id="46" name="grid"/>
          <p:cNvSpPr/>
          <p:nvPr/>
        </p:nvSpPr>
        <p:spPr>
          <a:xfrm>
            <a:off x="8659368" y="3831336"/>
            <a:ext cx="265176" cy="265176"/>
          </a:xfrm>
          <a:prstGeom prst="roundRect">
            <a:avLst>
              <a:gd name="adj" fmla="val 10345"/>
            </a:avLst>
          </a:prstGeom>
          <a:solidFill>
            <a:srgbClr val="E3F4E8"/>
          </a:solidFill>
          <a:ln w="12700">
            <a:solidFill>
              <a:srgbClr val="E3F4E8"/>
            </a:solidFill>
            <a:prstDash val="solid"/>
          </a:ln>
        </p:spPr>
      </p:sp>
      <p:sp>
        <p:nvSpPr>
          <p:cNvPr id="47" name="grid"/>
          <p:cNvSpPr/>
          <p:nvPr/>
        </p:nvSpPr>
        <p:spPr>
          <a:xfrm>
            <a:off x="8659368" y="4160520"/>
            <a:ext cx="265176" cy="265176"/>
          </a:xfrm>
          <a:prstGeom prst="roundRect">
            <a:avLst>
              <a:gd name="adj" fmla="val 10345"/>
            </a:avLst>
          </a:prstGeom>
          <a:solidFill>
            <a:srgbClr val="E3F4E8"/>
          </a:solidFill>
          <a:ln w="12700">
            <a:solidFill>
              <a:srgbClr val="E3F4E8"/>
            </a:solidFill>
            <a:prstDash val="solid"/>
          </a:ln>
        </p:spPr>
      </p:sp>
      <p:sp>
        <p:nvSpPr>
          <p:cNvPr id="48" name="grid"/>
          <p:cNvSpPr/>
          <p:nvPr/>
        </p:nvSpPr>
        <p:spPr>
          <a:xfrm>
            <a:off x="8659368" y="4489704"/>
            <a:ext cx="265176" cy="265176"/>
          </a:xfrm>
          <a:prstGeom prst="roundRect">
            <a:avLst>
              <a:gd name="adj" fmla="val 10345"/>
            </a:avLst>
          </a:prstGeom>
          <a:solidFill>
            <a:srgbClr val="5FBF77"/>
          </a:solidFill>
          <a:ln w="12700">
            <a:solidFill>
              <a:srgbClr val="5FBF77"/>
            </a:solidFill>
            <a:prstDash val="solid"/>
          </a:ln>
        </p:spPr>
      </p:sp>
      <p:sp>
        <p:nvSpPr>
          <p:cNvPr id="49" name="grid"/>
          <p:cNvSpPr/>
          <p:nvPr/>
        </p:nvSpPr>
        <p:spPr>
          <a:xfrm>
            <a:off x="8659368" y="4818888"/>
            <a:ext cx="265176" cy="265176"/>
          </a:xfrm>
          <a:prstGeom prst="roundRect">
            <a:avLst>
              <a:gd name="adj" fmla="val 10345"/>
            </a:avLst>
          </a:prstGeom>
          <a:solidFill>
            <a:srgbClr val="E3F4E8"/>
          </a:solidFill>
          <a:ln w="12700">
            <a:solidFill>
              <a:srgbClr val="E3F4E8"/>
            </a:solidFill>
            <a:prstDash val="solid"/>
          </a:ln>
        </p:spPr>
      </p:sp>
      <p:sp>
        <p:nvSpPr>
          <p:cNvPr id="50" name="grid"/>
          <p:cNvSpPr/>
          <p:nvPr/>
        </p:nvSpPr>
        <p:spPr>
          <a:xfrm>
            <a:off x="8659368" y="5148072"/>
            <a:ext cx="265176" cy="265176"/>
          </a:xfrm>
          <a:prstGeom prst="roundRect">
            <a:avLst>
              <a:gd name="adj" fmla="val 10345"/>
            </a:avLst>
          </a:prstGeom>
          <a:solidFill>
            <a:srgbClr val="E3F4E8"/>
          </a:solidFill>
          <a:ln w="12700">
            <a:solidFill>
              <a:srgbClr val="E3F4E8"/>
            </a:solidFill>
            <a:prstDash val="solid"/>
          </a:ln>
        </p:spPr>
      </p:sp>
      <p:sp>
        <p:nvSpPr>
          <p:cNvPr id="51" name="grid"/>
          <p:cNvSpPr/>
          <p:nvPr/>
        </p:nvSpPr>
        <p:spPr>
          <a:xfrm>
            <a:off x="8988552" y="868680"/>
            <a:ext cx="265176" cy="265176"/>
          </a:xfrm>
          <a:prstGeom prst="roundRect">
            <a:avLst>
              <a:gd name="adj" fmla="val 10345"/>
            </a:avLst>
          </a:prstGeom>
          <a:solidFill>
            <a:srgbClr val="E3F4E8"/>
          </a:solidFill>
          <a:ln w="12700">
            <a:solidFill>
              <a:srgbClr val="E3F4E8"/>
            </a:solidFill>
            <a:prstDash val="solid"/>
          </a:ln>
        </p:spPr>
      </p:sp>
      <p:sp>
        <p:nvSpPr>
          <p:cNvPr id="52" name="grid"/>
          <p:cNvSpPr/>
          <p:nvPr/>
        </p:nvSpPr>
        <p:spPr>
          <a:xfrm>
            <a:off x="8988552" y="1197864"/>
            <a:ext cx="265176" cy="265176"/>
          </a:xfrm>
          <a:prstGeom prst="roundRect">
            <a:avLst>
              <a:gd name="adj" fmla="val 10345"/>
            </a:avLst>
          </a:prstGeom>
          <a:solidFill>
            <a:srgbClr val="2DA44E"/>
          </a:solidFill>
          <a:ln w="12700">
            <a:solidFill>
              <a:srgbClr val="2DA44E"/>
            </a:solidFill>
            <a:prstDash val="solid"/>
          </a:ln>
        </p:spPr>
      </p:sp>
      <p:sp>
        <p:nvSpPr>
          <p:cNvPr id="53" name="grid"/>
          <p:cNvSpPr/>
          <p:nvPr/>
        </p:nvSpPr>
        <p:spPr>
          <a:xfrm>
            <a:off x="8988552" y="1527048"/>
            <a:ext cx="265176" cy="265176"/>
          </a:xfrm>
          <a:prstGeom prst="roundRect">
            <a:avLst>
              <a:gd name="adj" fmla="val 10345"/>
            </a:avLst>
          </a:prstGeom>
          <a:solidFill>
            <a:srgbClr val="E3F4E8"/>
          </a:solidFill>
          <a:ln w="12700">
            <a:solidFill>
              <a:srgbClr val="E3F4E8"/>
            </a:solidFill>
            <a:prstDash val="solid"/>
          </a:ln>
        </p:spPr>
      </p:sp>
      <p:sp>
        <p:nvSpPr>
          <p:cNvPr id="54" name="grid"/>
          <p:cNvSpPr/>
          <p:nvPr/>
        </p:nvSpPr>
        <p:spPr>
          <a:xfrm>
            <a:off x="8988552" y="1856232"/>
            <a:ext cx="265176" cy="265176"/>
          </a:xfrm>
          <a:prstGeom prst="roundRect">
            <a:avLst>
              <a:gd name="adj" fmla="val 10345"/>
            </a:avLst>
          </a:prstGeom>
          <a:solidFill>
            <a:srgbClr val="5FBF77"/>
          </a:solidFill>
          <a:ln w="12700">
            <a:solidFill>
              <a:srgbClr val="5FBF77"/>
            </a:solidFill>
            <a:prstDash val="solid"/>
          </a:ln>
        </p:spPr>
      </p:sp>
      <p:sp>
        <p:nvSpPr>
          <p:cNvPr id="55" name="grid"/>
          <p:cNvSpPr/>
          <p:nvPr/>
        </p:nvSpPr>
        <p:spPr>
          <a:xfrm>
            <a:off x="8988552" y="2185416"/>
            <a:ext cx="265176" cy="265176"/>
          </a:xfrm>
          <a:prstGeom prst="roundRect">
            <a:avLst>
              <a:gd name="adj" fmla="val 10345"/>
            </a:avLst>
          </a:prstGeom>
          <a:solidFill>
            <a:srgbClr val="A7DDB4"/>
          </a:solidFill>
          <a:ln w="12700">
            <a:solidFill>
              <a:srgbClr val="A7DDB4"/>
            </a:solidFill>
            <a:prstDash val="solid"/>
          </a:ln>
        </p:spPr>
      </p:sp>
      <p:sp>
        <p:nvSpPr>
          <p:cNvPr id="56" name="grid"/>
          <p:cNvSpPr/>
          <p:nvPr/>
        </p:nvSpPr>
        <p:spPr>
          <a:xfrm>
            <a:off x="8988552" y="2514600"/>
            <a:ext cx="265176" cy="265176"/>
          </a:xfrm>
          <a:prstGeom prst="roundRect">
            <a:avLst>
              <a:gd name="adj" fmla="val 10345"/>
            </a:avLst>
          </a:prstGeom>
          <a:solidFill>
            <a:srgbClr val="E3F4E8"/>
          </a:solidFill>
          <a:ln w="12700">
            <a:solidFill>
              <a:srgbClr val="E3F4E8"/>
            </a:solidFill>
            <a:prstDash val="solid"/>
          </a:ln>
        </p:spPr>
      </p:sp>
      <p:sp>
        <p:nvSpPr>
          <p:cNvPr id="57" name="grid"/>
          <p:cNvSpPr/>
          <p:nvPr/>
        </p:nvSpPr>
        <p:spPr>
          <a:xfrm>
            <a:off x="8988552" y="2843784"/>
            <a:ext cx="265176" cy="265176"/>
          </a:xfrm>
          <a:prstGeom prst="roundRect">
            <a:avLst>
              <a:gd name="adj" fmla="val 10345"/>
            </a:avLst>
          </a:prstGeom>
          <a:solidFill>
            <a:srgbClr val="5FBF77"/>
          </a:solidFill>
          <a:ln w="12700">
            <a:solidFill>
              <a:srgbClr val="5FBF77"/>
            </a:solidFill>
            <a:prstDash val="solid"/>
          </a:ln>
        </p:spPr>
      </p:sp>
      <p:sp>
        <p:nvSpPr>
          <p:cNvPr id="58" name="grid"/>
          <p:cNvSpPr/>
          <p:nvPr/>
        </p:nvSpPr>
        <p:spPr>
          <a:xfrm>
            <a:off x="8988552" y="3172968"/>
            <a:ext cx="265176" cy="265176"/>
          </a:xfrm>
          <a:prstGeom prst="roundRect">
            <a:avLst>
              <a:gd name="adj" fmla="val 10345"/>
            </a:avLst>
          </a:prstGeom>
          <a:solidFill>
            <a:srgbClr val="A7DDB4"/>
          </a:solidFill>
          <a:ln w="12700">
            <a:solidFill>
              <a:srgbClr val="A7DDB4"/>
            </a:solidFill>
            <a:prstDash val="solid"/>
          </a:ln>
        </p:spPr>
      </p:sp>
      <p:sp>
        <p:nvSpPr>
          <p:cNvPr id="59" name="grid"/>
          <p:cNvSpPr/>
          <p:nvPr/>
        </p:nvSpPr>
        <p:spPr>
          <a:xfrm>
            <a:off x="8988552" y="3502152"/>
            <a:ext cx="265176" cy="265176"/>
          </a:xfrm>
          <a:prstGeom prst="roundRect">
            <a:avLst>
              <a:gd name="adj" fmla="val 10345"/>
            </a:avLst>
          </a:prstGeom>
          <a:solidFill>
            <a:srgbClr val="5FBF77"/>
          </a:solidFill>
          <a:ln w="12700">
            <a:solidFill>
              <a:srgbClr val="5FBF77"/>
            </a:solidFill>
            <a:prstDash val="solid"/>
          </a:ln>
        </p:spPr>
      </p:sp>
      <p:sp>
        <p:nvSpPr>
          <p:cNvPr id="60" name="grid"/>
          <p:cNvSpPr/>
          <p:nvPr/>
        </p:nvSpPr>
        <p:spPr>
          <a:xfrm>
            <a:off x="8988552" y="3831336"/>
            <a:ext cx="265176" cy="265176"/>
          </a:xfrm>
          <a:prstGeom prst="roundRect">
            <a:avLst>
              <a:gd name="adj" fmla="val 10345"/>
            </a:avLst>
          </a:prstGeom>
          <a:solidFill>
            <a:srgbClr val="5FBF77"/>
          </a:solidFill>
          <a:ln w="12700">
            <a:solidFill>
              <a:srgbClr val="5FBF77"/>
            </a:solidFill>
            <a:prstDash val="solid"/>
          </a:ln>
        </p:spPr>
      </p:sp>
      <p:sp>
        <p:nvSpPr>
          <p:cNvPr id="61" name="grid"/>
          <p:cNvSpPr/>
          <p:nvPr/>
        </p:nvSpPr>
        <p:spPr>
          <a:xfrm>
            <a:off x="8988552" y="4160520"/>
            <a:ext cx="265176" cy="265176"/>
          </a:xfrm>
          <a:prstGeom prst="roundRect">
            <a:avLst>
              <a:gd name="adj" fmla="val 10345"/>
            </a:avLst>
          </a:prstGeom>
          <a:solidFill>
            <a:srgbClr val="E3F4E8"/>
          </a:solidFill>
          <a:ln w="12700">
            <a:solidFill>
              <a:srgbClr val="E3F4E8"/>
            </a:solidFill>
            <a:prstDash val="solid"/>
          </a:ln>
        </p:spPr>
      </p:sp>
      <p:sp>
        <p:nvSpPr>
          <p:cNvPr id="62" name="grid"/>
          <p:cNvSpPr/>
          <p:nvPr/>
        </p:nvSpPr>
        <p:spPr>
          <a:xfrm>
            <a:off x="8988552" y="4489704"/>
            <a:ext cx="265176" cy="265176"/>
          </a:xfrm>
          <a:prstGeom prst="roundRect">
            <a:avLst>
              <a:gd name="adj" fmla="val 10345"/>
            </a:avLst>
          </a:prstGeom>
          <a:solidFill>
            <a:srgbClr val="E3F4E8"/>
          </a:solidFill>
          <a:ln w="12700">
            <a:solidFill>
              <a:srgbClr val="E3F4E8"/>
            </a:solidFill>
            <a:prstDash val="solid"/>
          </a:ln>
        </p:spPr>
      </p:sp>
      <p:sp>
        <p:nvSpPr>
          <p:cNvPr id="63" name="grid"/>
          <p:cNvSpPr/>
          <p:nvPr/>
        </p:nvSpPr>
        <p:spPr>
          <a:xfrm>
            <a:off x="8988552" y="4818888"/>
            <a:ext cx="265176" cy="265176"/>
          </a:xfrm>
          <a:prstGeom prst="roundRect">
            <a:avLst>
              <a:gd name="adj" fmla="val 10345"/>
            </a:avLst>
          </a:prstGeom>
          <a:solidFill>
            <a:srgbClr val="A7DDB4"/>
          </a:solidFill>
          <a:ln w="12700">
            <a:solidFill>
              <a:srgbClr val="A7DDB4"/>
            </a:solidFill>
            <a:prstDash val="solid"/>
          </a:ln>
        </p:spPr>
      </p:sp>
      <p:sp>
        <p:nvSpPr>
          <p:cNvPr id="64" name="grid"/>
          <p:cNvSpPr/>
          <p:nvPr/>
        </p:nvSpPr>
        <p:spPr>
          <a:xfrm>
            <a:off x="8988552" y="5148072"/>
            <a:ext cx="265176" cy="265176"/>
          </a:xfrm>
          <a:prstGeom prst="roundRect">
            <a:avLst>
              <a:gd name="adj" fmla="val 10345"/>
            </a:avLst>
          </a:prstGeom>
          <a:solidFill>
            <a:srgbClr val="E3F4E8"/>
          </a:solidFill>
          <a:ln w="12700">
            <a:solidFill>
              <a:srgbClr val="E3F4E8"/>
            </a:solidFill>
            <a:prstDash val="solid"/>
          </a:ln>
        </p:spPr>
      </p:sp>
      <p:sp>
        <p:nvSpPr>
          <p:cNvPr id="65" name="grid"/>
          <p:cNvSpPr/>
          <p:nvPr/>
        </p:nvSpPr>
        <p:spPr>
          <a:xfrm>
            <a:off x="9317736" y="868680"/>
            <a:ext cx="265176" cy="265176"/>
          </a:xfrm>
          <a:prstGeom prst="roundRect">
            <a:avLst>
              <a:gd name="adj" fmla="val 10345"/>
            </a:avLst>
          </a:prstGeom>
          <a:solidFill>
            <a:srgbClr val="E3F4E8"/>
          </a:solidFill>
          <a:ln w="12700">
            <a:solidFill>
              <a:srgbClr val="E3F4E8"/>
            </a:solidFill>
            <a:prstDash val="solid"/>
          </a:ln>
        </p:spPr>
      </p:sp>
      <p:sp>
        <p:nvSpPr>
          <p:cNvPr id="66" name="grid"/>
          <p:cNvSpPr/>
          <p:nvPr/>
        </p:nvSpPr>
        <p:spPr>
          <a:xfrm>
            <a:off x="9317736" y="1197864"/>
            <a:ext cx="265176" cy="265176"/>
          </a:xfrm>
          <a:prstGeom prst="roundRect">
            <a:avLst>
              <a:gd name="adj" fmla="val 10345"/>
            </a:avLst>
          </a:prstGeom>
          <a:solidFill>
            <a:srgbClr val="A7DDB4"/>
          </a:solidFill>
          <a:ln w="12700">
            <a:solidFill>
              <a:srgbClr val="A7DDB4"/>
            </a:solidFill>
            <a:prstDash val="solid"/>
          </a:ln>
        </p:spPr>
      </p:sp>
      <p:sp>
        <p:nvSpPr>
          <p:cNvPr id="67" name="grid"/>
          <p:cNvSpPr/>
          <p:nvPr/>
        </p:nvSpPr>
        <p:spPr>
          <a:xfrm>
            <a:off x="9317736" y="1527048"/>
            <a:ext cx="265176" cy="265176"/>
          </a:xfrm>
          <a:prstGeom prst="roundRect">
            <a:avLst>
              <a:gd name="adj" fmla="val 10345"/>
            </a:avLst>
          </a:prstGeom>
          <a:solidFill>
            <a:srgbClr val="5FBF77"/>
          </a:solidFill>
          <a:ln w="12700">
            <a:solidFill>
              <a:srgbClr val="5FBF77"/>
            </a:solidFill>
            <a:prstDash val="solid"/>
          </a:ln>
        </p:spPr>
      </p:sp>
      <p:sp>
        <p:nvSpPr>
          <p:cNvPr id="68" name="grid"/>
          <p:cNvSpPr/>
          <p:nvPr/>
        </p:nvSpPr>
        <p:spPr>
          <a:xfrm>
            <a:off x="9317736" y="1856232"/>
            <a:ext cx="265176" cy="265176"/>
          </a:xfrm>
          <a:prstGeom prst="roundRect">
            <a:avLst>
              <a:gd name="adj" fmla="val 10345"/>
            </a:avLst>
          </a:prstGeom>
          <a:solidFill>
            <a:srgbClr val="5FBF77"/>
          </a:solidFill>
          <a:ln w="12700">
            <a:solidFill>
              <a:srgbClr val="5FBF77"/>
            </a:solidFill>
            <a:prstDash val="solid"/>
          </a:ln>
        </p:spPr>
      </p:sp>
      <p:sp>
        <p:nvSpPr>
          <p:cNvPr id="69" name="grid"/>
          <p:cNvSpPr/>
          <p:nvPr/>
        </p:nvSpPr>
        <p:spPr>
          <a:xfrm>
            <a:off x="9317736" y="2185416"/>
            <a:ext cx="265176" cy="265176"/>
          </a:xfrm>
          <a:prstGeom prst="roundRect">
            <a:avLst>
              <a:gd name="adj" fmla="val 10345"/>
            </a:avLst>
          </a:prstGeom>
          <a:solidFill>
            <a:srgbClr val="2DA44E"/>
          </a:solidFill>
          <a:ln w="12700">
            <a:solidFill>
              <a:srgbClr val="2DA44E"/>
            </a:solidFill>
            <a:prstDash val="solid"/>
          </a:ln>
        </p:spPr>
      </p:sp>
      <p:sp>
        <p:nvSpPr>
          <p:cNvPr id="70" name="grid"/>
          <p:cNvSpPr/>
          <p:nvPr/>
        </p:nvSpPr>
        <p:spPr>
          <a:xfrm>
            <a:off x="9317736" y="2514600"/>
            <a:ext cx="265176" cy="265176"/>
          </a:xfrm>
          <a:prstGeom prst="roundRect">
            <a:avLst>
              <a:gd name="adj" fmla="val 10345"/>
            </a:avLst>
          </a:prstGeom>
          <a:solidFill>
            <a:srgbClr val="A7DDB4"/>
          </a:solidFill>
          <a:ln w="12700">
            <a:solidFill>
              <a:srgbClr val="A7DDB4"/>
            </a:solidFill>
            <a:prstDash val="solid"/>
          </a:ln>
        </p:spPr>
      </p:sp>
      <p:sp>
        <p:nvSpPr>
          <p:cNvPr id="71" name="grid"/>
          <p:cNvSpPr/>
          <p:nvPr/>
        </p:nvSpPr>
        <p:spPr>
          <a:xfrm>
            <a:off x="9317736" y="2843784"/>
            <a:ext cx="265176" cy="265176"/>
          </a:xfrm>
          <a:prstGeom prst="roundRect">
            <a:avLst>
              <a:gd name="adj" fmla="val 10345"/>
            </a:avLst>
          </a:prstGeom>
          <a:solidFill>
            <a:srgbClr val="A7DDB4"/>
          </a:solidFill>
          <a:ln w="12700">
            <a:solidFill>
              <a:srgbClr val="A7DDB4"/>
            </a:solidFill>
            <a:prstDash val="solid"/>
          </a:ln>
        </p:spPr>
      </p:sp>
      <p:sp>
        <p:nvSpPr>
          <p:cNvPr id="72" name="grid"/>
          <p:cNvSpPr/>
          <p:nvPr/>
        </p:nvSpPr>
        <p:spPr>
          <a:xfrm>
            <a:off x="9317736" y="3172968"/>
            <a:ext cx="265176" cy="265176"/>
          </a:xfrm>
          <a:prstGeom prst="roundRect">
            <a:avLst>
              <a:gd name="adj" fmla="val 10345"/>
            </a:avLst>
          </a:prstGeom>
          <a:solidFill>
            <a:srgbClr val="A7DDB4"/>
          </a:solidFill>
          <a:ln w="12700">
            <a:solidFill>
              <a:srgbClr val="A7DDB4"/>
            </a:solidFill>
            <a:prstDash val="solid"/>
          </a:ln>
        </p:spPr>
      </p:sp>
      <p:sp>
        <p:nvSpPr>
          <p:cNvPr id="73" name="grid"/>
          <p:cNvSpPr/>
          <p:nvPr/>
        </p:nvSpPr>
        <p:spPr>
          <a:xfrm>
            <a:off x="9317736" y="3502152"/>
            <a:ext cx="265176" cy="265176"/>
          </a:xfrm>
          <a:prstGeom prst="roundRect">
            <a:avLst>
              <a:gd name="adj" fmla="val 10345"/>
            </a:avLst>
          </a:prstGeom>
          <a:solidFill>
            <a:srgbClr val="A7DDB4"/>
          </a:solidFill>
          <a:ln w="12700">
            <a:solidFill>
              <a:srgbClr val="A7DDB4"/>
            </a:solidFill>
            <a:prstDash val="solid"/>
          </a:ln>
        </p:spPr>
      </p:sp>
      <p:sp>
        <p:nvSpPr>
          <p:cNvPr id="74" name="grid"/>
          <p:cNvSpPr/>
          <p:nvPr/>
        </p:nvSpPr>
        <p:spPr>
          <a:xfrm>
            <a:off x="9317736" y="3831336"/>
            <a:ext cx="265176" cy="265176"/>
          </a:xfrm>
          <a:prstGeom prst="roundRect">
            <a:avLst>
              <a:gd name="adj" fmla="val 10345"/>
            </a:avLst>
          </a:prstGeom>
          <a:solidFill>
            <a:srgbClr val="2DA44E"/>
          </a:solidFill>
          <a:ln w="12700">
            <a:solidFill>
              <a:srgbClr val="2DA44E"/>
            </a:solidFill>
            <a:prstDash val="solid"/>
          </a:ln>
        </p:spPr>
      </p:sp>
      <p:sp>
        <p:nvSpPr>
          <p:cNvPr id="75" name="grid"/>
          <p:cNvSpPr/>
          <p:nvPr/>
        </p:nvSpPr>
        <p:spPr>
          <a:xfrm>
            <a:off x="9317736" y="4160520"/>
            <a:ext cx="265176" cy="265176"/>
          </a:xfrm>
          <a:prstGeom prst="roundRect">
            <a:avLst>
              <a:gd name="adj" fmla="val 10345"/>
            </a:avLst>
          </a:prstGeom>
          <a:solidFill>
            <a:srgbClr val="A7DDB4"/>
          </a:solidFill>
          <a:ln w="12700">
            <a:solidFill>
              <a:srgbClr val="A7DDB4"/>
            </a:solidFill>
            <a:prstDash val="solid"/>
          </a:ln>
        </p:spPr>
      </p:sp>
      <p:sp>
        <p:nvSpPr>
          <p:cNvPr id="76" name="grid"/>
          <p:cNvSpPr/>
          <p:nvPr/>
        </p:nvSpPr>
        <p:spPr>
          <a:xfrm>
            <a:off x="9317736" y="4489704"/>
            <a:ext cx="265176" cy="265176"/>
          </a:xfrm>
          <a:prstGeom prst="roundRect">
            <a:avLst>
              <a:gd name="adj" fmla="val 10345"/>
            </a:avLst>
          </a:prstGeom>
          <a:solidFill>
            <a:srgbClr val="A7DDB4"/>
          </a:solidFill>
          <a:ln w="12700">
            <a:solidFill>
              <a:srgbClr val="A7DDB4"/>
            </a:solidFill>
            <a:prstDash val="solid"/>
          </a:ln>
        </p:spPr>
      </p:sp>
      <p:sp>
        <p:nvSpPr>
          <p:cNvPr id="77" name="grid"/>
          <p:cNvSpPr/>
          <p:nvPr/>
        </p:nvSpPr>
        <p:spPr>
          <a:xfrm>
            <a:off x="9317736" y="4818888"/>
            <a:ext cx="265176" cy="265176"/>
          </a:xfrm>
          <a:prstGeom prst="roundRect">
            <a:avLst>
              <a:gd name="adj" fmla="val 10345"/>
            </a:avLst>
          </a:prstGeom>
          <a:solidFill>
            <a:srgbClr val="A7DDB4"/>
          </a:solidFill>
          <a:ln w="12700">
            <a:solidFill>
              <a:srgbClr val="A7DDB4"/>
            </a:solidFill>
            <a:prstDash val="solid"/>
          </a:ln>
        </p:spPr>
      </p:sp>
      <p:sp>
        <p:nvSpPr>
          <p:cNvPr id="78" name="grid"/>
          <p:cNvSpPr/>
          <p:nvPr/>
        </p:nvSpPr>
        <p:spPr>
          <a:xfrm>
            <a:off x="9317736" y="5148072"/>
            <a:ext cx="265176" cy="265176"/>
          </a:xfrm>
          <a:prstGeom prst="roundRect">
            <a:avLst>
              <a:gd name="adj" fmla="val 10345"/>
            </a:avLst>
          </a:prstGeom>
          <a:solidFill>
            <a:srgbClr val="E3F4E8"/>
          </a:solidFill>
          <a:ln w="12700">
            <a:solidFill>
              <a:srgbClr val="E3F4E8"/>
            </a:solidFill>
            <a:prstDash val="solid"/>
          </a:ln>
        </p:spPr>
      </p:sp>
      <p:sp>
        <p:nvSpPr>
          <p:cNvPr id="79" name="grid"/>
          <p:cNvSpPr/>
          <p:nvPr/>
        </p:nvSpPr>
        <p:spPr>
          <a:xfrm>
            <a:off x="9646920" y="868680"/>
            <a:ext cx="265176" cy="265176"/>
          </a:xfrm>
          <a:prstGeom prst="roundRect">
            <a:avLst>
              <a:gd name="adj" fmla="val 10345"/>
            </a:avLst>
          </a:prstGeom>
          <a:solidFill>
            <a:srgbClr val="2DA44E"/>
          </a:solidFill>
          <a:ln w="12700">
            <a:solidFill>
              <a:srgbClr val="2DA44E"/>
            </a:solidFill>
            <a:prstDash val="solid"/>
          </a:ln>
        </p:spPr>
      </p:sp>
      <p:sp>
        <p:nvSpPr>
          <p:cNvPr id="80" name="grid"/>
          <p:cNvSpPr/>
          <p:nvPr/>
        </p:nvSpPr>
        <p:spPr>
          <a:xfrm>
            <a:off x="9646920" y="1197864"/>
            <a:ext cx="265176" cy="265176"/>
          </a:xfrm>
          <a:prstGeom prst="roundRect">
            <a:avLst>
              <a:gd name="adj" fmla="val 10345"/>
            </a:avLst>
          </a:prstGeom>
          <a:solidFill>
            <a:srgbClr val="E3F4E8"/>
          </a:solidFill>
          <a:ln w="12700">
            <a:solidFill>
              <a:srgbClr val="E3F4E8"/>
            </a:solidFill>
            <a:prstDash val="solid"/>
          </a:ln>
        </p:spPr>
      </p:sp>
      <p:sp>
        <p:nvSpPr>
          <p:cNvPr id="81" name="grid"/>
          <p:cNvSpPr/>
          <p:nvPr/>
        </p:nvSpPr>
        <p:spPr>
          <a:xfrm>
            <a:off x="9646920" y="1527048"/>
            <a:ext cx="265176" cy="265176"/>
          </a:xfrm>
          <a:prstGeom prst="roundRect">
            <a:avLst>
              <a:gd name="adj" fmla="val 10345"/>
            </a:avLst>
          </a:prstGeom>
          <a:solidFill>
            <a:srgbClr val="A7DDB4"/>
          </a:solidFill>
          <a:ln w="12700">
            <a:solidFill>
              <a:srgbClr val="A7DDB4"/>
            </a:solidFill>
            <a:prstDash val="solid"/>
          </a:ln>
        </p:spPr>
      </p:sp>
      <p:sp>
        <p:nvSpPr>
          <p:cNvPr id="82" name="grid"/>
          <p:cNvSpPr/>
          <p:nvPr/>
        </p:nvSpPr>
        <p:spPr>
          <a:xfrm>
            <a:off x="9646920" y="1856232"/>
            <a:ext cx="265176" cy="265176"/>
          </a:xfrm>
          <a:prstGeom prst="roundRect">
            <a:avLst>
              <a:gd name="adj" fmla="val 10345"/>
            </a:avLst>
          </a:prstGeom>
          <a:solidFill>
            <a:srgbClr val="2DA44E"/>
          </a:solidFill>
          <a:ln w="12700">
            <a:solidFill>
              <a:srgbClr val="2DA44E"/>
            </a:solidFill>
            <a:prstDash val="solid"/>
          </a:ln>
        </p:spPr>
      </p:sp>
      <p:sp>
        <p:nvSpPr>
          <p:cNvPr id="83" name="grid"/>
          <p:cNvSpPr/>
          <p:nvPr/>
        </p:nvSpPr>
        <p:spPr>
          <a:xfrm>
            <a:off x="9646920" y="2185416"/>
            <a:ext cx="265176" cy="265176"/>
          </a:xfrm>
          <a:prstGeom prst="roundRect">
            <a:avLst>
              <a:gd name="adj" fmla="val 10345"/>
            </a:avLst>
          </a:prstGeom>
          <a:solidFill>
            <a:srgbClr val="1E7A38"/>
          </a:solidFill>
          <a:ln w="12700">
            <a:solidFill>
              <a:srgbClr val="1E7A38"/>
            </a:solidFill>
            <a:prstDash val="solid"/>
          </a:ln>
        </p:spPr>
      </p:sp>
      <p:sp>
        <p:nvSpPr>
          <p:cNvPr id="84" name="grid"/>
          <p:cNvSpPr/>
          <p:nvPr/>
        </p:nvSpPr>
        <p:spPr>
          <a:xfrm>
            <a:off x="9646920" y="2514600"/>
            <a:ext cx="265176" cy="265176"/>
          </a:xfrm>
          <a:prstGeom prst="roundRect">
            <a:avLst>
              <a:gd name="adj" fmla="val 10345"/>
            </a:avLst>
          </a:prstGeom>
          <a:solidFill>
            <a:srgbClr val="1E7A38"/>
          </a:solidFill>
          <a:ln w="12700">
            <a:solidFill>
              <a:srgbClr val="1E7A38"/>
            </a:solidFill>
            <a:prstDash val="solid"/>
          </a:ln>
        </p:spPr>
      </p:sp>
      <p:sp>
        <p:nvSpPr>
          <p:cNvPr id="85" name="grid"/>
          <p:cNvSpPr/>
          <p:nvPr/>
        </p:nvSpPr>
        <p:spPr>
          <a:xfrm>
            <a:off x="9646920" y="2843784"/>
            <a:ext cx="265176" cy="265176"/>
          </a:xfrm>
          <a:prstGeom prst="roundRect">
            <a:avLst>
              <a:gd name="adj" fmla="val 10345"/>
            </a:avLst>
          </a:prstGeom>
          <a:solidFill>
            <a:srgbClr val="1E7A38"/>
          </a:solidFill>
          <a:ln w="12700">
            <a:solidFill>
              <a:srgbClr val="1E7A38"/>
            </a:solidFill>
            <a:prstDash val="solid"/>
          </a:ln>
        </p:spPr>
      </p:sp>
      <p:sp>
        <p:nvSpPr>
          <p:cNvPr id="86" name="grid"/>
          <p:cNvSpPr/>
          <p:nvPr/>
        </p:nvSpPr>
        <p:spPr>
          <a:xfrm>
            <a:off x="9646920" y="3172968"/>
            <a:ext cx="265176" cy="265176"/>
          </a:xfrm>
          <a:prstGeom prst="roundRect">
            <a:avLst>
              <a:gd name="adj" fmla="val 10345"/>
            </a:avLst>
          </a:prstGeom>
          <a:solidFill>
            <a:srgbClr val="1E7A38"/>
          </a:solidFill>
          <a:ln w="12700">
            <a:solidFill>
              <a:srgbClr val="1E7A38"/>
            </a:solidFill>
            <a:prstDash val="solid"/>
          </a:ln>
        </p:spPr>
      </p:sp>
      <p:sp>
        <p:nvSpPr>
          <p:cNvPr id="87" name="grid"/>
          <p:cNvSpPr/>
          <p:nvPr/>
        </p:nvSpPr>
        <p:spPr>
          <a:xfrm>
            <a:off x="9646920" y="3502152"/>
            <a:ext cx="265176" cy="265176"/>
          </a:xfrm>
          <a:prstGeom prst="roundRect">
            <a:avLst>
              <a:gd name="adj" fmla="val 10345"/>
            </a:avLst>
          </a:prstGeom>
          <a:solidFill>
            <a:srgbClr val="2DA44E"/>
          </a:solidFill>
          <a:ln w="12700">
            <a:solidFill>
              <a:srgbClr val="2DA44E"/>
            </a:solidFill>
            <a:prstDash val="solid"/>
          </a:ln>
        </p:spPr>
      </p:sp>
      <p:sp>
        <p:nvSpPr>
          <p:cNvPr id="88" name="grid"/>
          <p:cNvSpPr/>
          <p:nvPr/>
        </p:nvSpPr>
        <p:spPr>
          <a:xfrm>
            <a:off x="9646920" y="3831336"/>
            <a:ext cx="265176" cy="265176"/>
          </a:xfrm>
          <a:prstGeom prst="roundRect">
            <a:avLst>
              <a:gd name="adj" fmla="val 10345"/>
            </a:avLst>
          </a:prstGeom>
          <a:solidFill>
            <a:srgbClr val="5FBF77"/>
          </a:solidFill>
          <a:ln w="12700">
            <a:solidFill>
              <a:srgbClr val="5FBF77"/>
            </a:solidFill>
            <a:prstDash val="solid"/>
          </a:ln>
        </p:spPr>
      </p:sp>
      <p:sp>
        <p:nvSpPr>
          <p:cNvPr id="89" name="grid"/>
          <p:cNvSpPr/>
          <p:nvPr/>
        </p:nvSpPr>
        <p:spPr>
          <a:xfrm>
            <a:off x="9646920" y="4160520"/>
            <a:ext cx="265176" cy="265176"/>
          </a:xfrm>
          <a:prstGeom prst="roundRect">
            <a:avLst>
              <a:gd name="adj" fmla="val 10345"/>
            </a:avLst>
          </a:prstGeom>
          <a:solidFill>
            <a:srgbClr val="5FBF77"/>
          </a:solidFill>
          <a:ln w="12700">
            <a:solidFill>
              <a:srgbClr val="5FBF77"/>
            </a:solidFill>
            <a:prstDash val="solid"/>
          </a:ln>
        </p:spPr>
      </p:sp>
      <p:sp>
        <p:nvSpPr>
          <p:cNvPr id="90" name="grid"/>
          <p:cNvSpPr/>
          <p:nvPr/>
        </p:nvSpPr>
        <p:spPr>
          <a:xfrm>
            <a:off x="9646920" y="4489704"/>
            <a:ext cx="265176" cy="265176"/>
          </a:xfrm>
          <a:prstGeom prst="roundRect">
            <a:avLst>
              <a:gd name="adj" fmla="val 10345"/>
            </a:avLst>
          </a:prstGeom>
          <a:solidFill>
            <a:srgbClr val="E3F4E8"/>
          </a:solidFill>
          <a:ln w="12700">
            <a:solidFill>
              <a:srgbClr val="E3F4E8"/>
            </a:solidFill>
            <a:prstDash val="solid"/>
          </a:ln>
        </p:spPr>
      </p:sp>
      <p:sp>
        <p:nvSpPr>
          <p:cNvPr id="91" name="grid"/>
          <p:cNvSpPr/>
          <p:nvPr/>
        </p:nvSpPr>
        <p:spPr>
          <a:xfrm>
            <a:off x="9646920" y="4818888"/>
            <a:ext cx="265176" cy="265176"/>
          </a:xfrm>
          <a:prstGeom prst="roundRect">
            <a:avLst>
              <a:gd name="adj" fmla="val 10345"/>
            </a:avLst>
          </a:prstGeom>
          <a:solidFill>
            <a:srgbClr val="A7DDB4"/>
          </a:solidFill>
          <a:ln w="12700">
            <a:solidFill>
              <a:srgbClr val="A7DDB4"/>
            </a:solidFill>
            <a:prstDash val="solid"/>
          </a:ln>
        </p:spPr>
      </p:sp>
      <p:sp>
        <p:nvSpPr>
          <p:cNvPr id="92" name="grid"/>
          <p:cNvSpPr/>
          <p:nvPr/>
        </p:nvSpPr>
        <p:spPr>
          <a:xfrm>
            <a:off x="9646920" y="5148072"/>
            <a:ext cx="265176" cy="265176"/>
          </a:xfrm>
          <a:prstGeom prst="roundRect">
            <a:avLst>
              <a:gd name="adj" fmla="val 10345"/>
            </a:avLst>
          </a:prstGeom>
          <a:solidFill>
            <a:srgbClr val="A7DDB4"/>
          </a:solidFill>
          <a:ln w="12700">
            <a:solidFill>
              <a:srgbClr val="A7DDB4"/>
            </a:solidFill>
            <a:prstDash val="solid"/>
          </a:ln>
        </p:spPr>
      </p:sp>
      <p:sp>
        <p:nvSpPr>
          <p:cNvPr id="93" name="grid"/>
          <p:cNvSpPr/>
          <p:nvPr/>
        </p:nvSpPr>
        <p:spPr>
          <a:xfrm>
            <a:off x="9976104" y="868680"/>
            <a:ext cx="265176" cy="265176"/>
          </a:xfrm>
          <a:prstGeom prst="roundRect">
            <a:avLst>
              <a:gd name="adj" fmla="val 10345"/>
            </a:avLst>
          </a:prstGeom>
          <a:solidFill>
            <a:srgbClr val="A7DDB4"/>
          </a:solidFill>
          <a:ln w="12700">
            <a:solidFill>
              <a:srgbClr val="A7DDB4"/>
            </a:solidFill>
            <a:prstDash val="solid"/>
          </a:ln>
        </p:spPr>
      </p:sp>
      <p:sp>
        <p:nvSpPr>
          <p:cNvPr id="94" name="grid"/>
          <p:cNvSpPr/>
          <p:nvPr/>
        </p:nvSpPr>
        <p:spPr>
          <a:xfrm>
            <a:off x="9976104" y="1197864"/>
            <a:ext cx="265176" cy="265176"/>
          </a:xfrm>
          <a:prstGeom prst="roundRect">
            <a:avLst>
              <a:gd name="adj" fmla="val 10345"/>
            </a:avLst>
          </a:prstGeom>
          <a:solidFill>
            <a:srgbClr val="A7DDB4"/>
          </a:solidFill>
          <a:ln w="12700">
            <a:solidFill>
              <a:srgbClr val="A7DDB4"/>
            </a:solidFill>
            <a:prstDash val="solid"/>
          </a:ln>
        </p:spPr>
      </p:sp>
      <p:sp>
        <p:nvSpPr>
          <p:cNvPr id="95" name="grid"/>
          <p:cNvSpPr/>
          <p:nvPr/>
        </p:nvSpPr>
        <p:spPr>
          <a:xfrm>
            <a:off x="9976104" y="1527048"/>
            <a:ext cx="265176" cy="265176"/>
          </a:xfrm>
          <a:prstGeom prst="roundRect">
            <a:avLst>
              <a:gd name="adj" fmla="val 10345"/>
            </a:avLst>
          </a:prstGeom>
          <a:solidFill>
            <a:srgbClr val="2DA44E"/>
          </a:solidFill>
          <a:ln w="12700">
            <a:solidFill>
              <a:srgbClr val="2DA44E"/>
            </a:solidFill>
            <a:prstDash val="solid"/>
          </a:ln>
        </p:spPr>
      </p:sp>
      <p:sp>
        <p:nvSpPr>
          <p:cNvPr id="96" name="grid"/>
          <p:cNvSpPr/>
          <p:nvPr/>
        </p:nvSpPr>
        <p:spPr>
          <a:xfrm>
            <a:off x="9976104" y="1856232"/>
            <a:ext cx="265176" cy="265176"/>
          </a:xfrm>
          <a:prstGeom prst="roundRect">
            <a:avLst>
              <a:gd name="adj" fmla="val 10345"/>
            </a:avLst>
          </a:prstGeom>
          <a:solidFill>
            <a:srgbClr val="2DA44E"/>
          </a:solidFill>
          <a:ln w="12700">
            <a:solidFill>
              <a:srgbClr val="2DA44E"/>
            </a:solidFill>
            <a:prstDash val="solid"/>
          </a:ln>
        </p:spPr>
      </p:sp>
      <p:sp>
        <p:nvSpPr>
          <p:cNvPr id="97" name="grid"/>
          <p:cNvSpPr/>
          <p:nvPr/>
        </p:nvSpPr>
        <p:spPr>
          <a:xfrm>
            <a:off x="9976104" y="2185416"/>
            <a:ext cx="265176" cy="265176"/>
          </a:xfrm>
          <a:prstGeom prst="roundRect">
            <a:avLst>
              <a:gd name="adj" fmla="val 10345"/>
            </a:avLst>
          </a:prstGeom>
          <a:solidFill>
            <a:srgbClr val="A7DDB4"/>
          </a:solidFill>
          <a:ln w="12700">
            <a:solidFill>
              <a:srgbClr val="A7DDB4"/>
            </a:solidFill>
            <a:prstDash val="solid"/>
          </a:ln>
        </p:spPr>
      </p:sp>
      <p:sp>
        <p:nvSpPr>
          <p:cNvPr id="98" name="grid"/>
          <p:cNvSpPr/>
          <p:nvPr/>
        </p:nvSpPr>
        <p:spPr>
          <a:xfrm>
            <a:off x="9976104" y="2514600"/>
            <a:ext cx="265176" cy="265176"/>
          </a:xfrm>
          <a:prstGeom prst="roundRect">
            <a:avLst>
              <a:gd name="adj" fmla="val 10345"/>
            </a:avLst>
          </a:prstGeom>
          <a:solidFill>
            <a:srgbClr val="1E7A38"/>
          </a:solidFill>
          <a:ln w="12700">
            <a:solidFill>
              <a:srgbClr val="1E7A38"/>
            </a:solidFill>
            <a:prstDash val="solid"/>
          </a:ln>
        </p:spPr>
      </p:sp>
      <p:sp>
        <p:nvSpPr>
          <p:cNvPr id="99" name="grid"/>
          <p:cNvSpPr/>
          <p:nvPr/>
        </p:nvSpPr>
        <p:spPr>
          <a:xfrm>
            <a:off x="9976104" y="2843784"/>
            <a:ext cx="265176" cy="265176"/>
          </a:xfrm>
          <a:prstGeom prst="roundRect">
            <a:avLst>
              <a:gd name="adj" fmla="val 10345"/>
            </a:avLst>
          </a:prstGeom>
          <a:solidFill>
            <a:srgbClr val="E3F4E8"/>
          </a:solidFill>
          <a:ln w="12700">
            <a:solidFill>
              <a:srgbClr val="E3F4E8"/>
            </a:solidFill>
            <a:prstDash val="solid"/>
          </a:ln>
        </p:spPr>
      </p:sp>
      <p:sp>
        <p:nvSpPr>
          <p:cNvPr id="100" name="grid"/>
          <p:cNvSpPr/>
          <p:nvPr/>
        </p:nvSpPr>
        <p:spPr>
          <a:xfrm>
            <a:off x="9976104" y="3172968"/>
            <a:ext cx="265176" cy="265176"/>
          </a:xfrm>
          <a:prstGeom prst="roundRect">
            <a:avLst>
              <a:gd name="adj" fmla="val 10345"/>
            </a:avLst>
          </a:prstGeom>
          <a:solidFill>
            <a:srgbClr val="A7DDB4"/>
          </a:solidFill>
          <a:ln w="12700">
            <a:solidFill>
              <a:srgbClr val="A7DDB4"/>
            </a:solidFill>
            <a:prstDash val="solid"/>
          </a:ln>
        </p:spPr>
      </p:sp>
      <p:sp>
        <p:nvSpPr>
          <p:cNvPr id="101" name="grid"/>
          <p:cNvSpPr/>
          <p:nvPr/>
        </p:nvSpPr>
        <p:spPr>
          <a:xfrm>
            <a:off x="9976104" y="3502152"/>
            <a:ext cx="265176" cy="265176"/>
          </a:xfrm>
          <a:prstGeom prst="roundRect">
            <a:avLst>
              <a:gd name="adj" fmla="val 10345"/>
            </a:avLst>
          </a:prstGeom>
          <a:solidFill>
            <a:srgbClr val="5FBF77"/>
          </a:solidFill>
          <a:ln w="12700">
            <a:solidFill>
              <a:srgbClr val="5FBF77"/>
            </a:solidFill>
            <a:prstDash val="solid"/>
          </a:ln>
        </p:spPr>
      </p:sp>
      <p:sp>
        <p:nvSpPr>
          <p:cNvPr id="102" name="grid"/>
          <p:cNvSpPr/>
          <p:nvPr/>
        </p:nvSpPr>
        <p:spPr>
          <a:xfrm>
            <a:off x="9976104" y="3831336"/>
            <a:ext cx="265176" cy="265176"/>
          </a:xfrm>
          <a:prstGeom prst="roundRect">
            <a:avLst>
              <a:gd name="adj" fmla="val 10345"/>
            </a:avLst>
          </a:prstGeom>
          <a:solidFill>
            <a:srgbClr val="5FBF77"/>
          </a:solidFill>
          <a:ln w="12700">
            <a:solidFill>
              <a:srgbClr val="5FBF77"/>
            </a:solidFill>
            <a:prstDash val="solid"/>
          </a:ln>
        </p:spPr>
      </p:sp>
      <p:sp>
        <p:nvSpPr>
          <p:cNvPr id="103" name="grid"/>
          <p:cNvSpPr/>
          <p:nvPr/>
        </p:nvSpPr>
        <p:spPr>
          <a:xfrm>
            <a:off x="9976104" y="4160520"/>
            <a:ext cx="265176" cy="265176"/>
          </a:xfrm>
          <a:prstGeom prst="roundRect">
            <a:avLst>
              <a:gd name="adj" fmla="val 10345"/>
            </a:avLst>
          </a:prstGeom>
          <a:solidFill>
            <a:srgbClr val="E3F4E8"/>
          </a:solidFill>
          <a:ln w="12700">
            <a:solidFill>
              <a:srgbClr val="E3F4E8"/>
            </a:solidFill>
            <a:prstDash val="solid"/>
          </a:ln>
        </p:spPr>
      </p:sp>
      <p:sp>
        <p:nvSpPr>
          <p:cNvPr id="104" name="grid"/>
          <p:cNvSpPr/>
          <p:nvPr/>
        </p:nvSpPr>
        <p:spPr>
          <a:xfrm>
            <a:off x="9976104" y="4489704"/>
            <a:ext cx="265176" cy="265176"/>
          </a:xfrm>
          <a:prstGeom prst="roundRect">
            <a:avLst>
              <a:gd name="adj" fmla="val 10345"/>
            </a:avLst>
          </a:prstGeom>
          <a:solidFill>
            <a:srgbClr val="1E7A38"/>
          </a:solidFill>
          <a:ln w="12700">
            <a:solidFill>
              <a:srgbClr val="1E7A38"/>
            </a:solidFill>
            <a:prstDash val="solid"/>
          </a:ln>
        </p:spPr>
      </p:sp>
      <p:sp>
        <p:nvSpPr>
          <p:cNvPr id="105" name="grid"/>
          <p:cNvSpPr/>
          <p:nvPr/>
        </p:nvSpPr>
        <p:spPr>
          <a:xfrm>
            <a:off x="9976104" y="4818888"/>
            <a:ext cx="265176" cy="265176"/>
          </a:xfrm>
          <a:prstGeom prst="roundRect">
            <a:avLst>
              <a:gd name="adj" fmla="val 10345"/>
            </a:avLst>
          </a:prstGeom>
          <a:solidFill>
            <a:srgbClr val="5FBF77"/>
          </a:solidFill>
          <a:ln w="12700">
            <a:solidFill>
              <a:srgbClr val="5FBF77"/>
            </a:solidFill>
            <a:prstDash val="solid"/>
          </a:ln>
        </p:spPr>
      </p:sp>
      <p:sp>
        <p:nvSpPr>
          <p:cNvPr id="106" name="grid"/>
          <p:cNvSpPr/>
          <p:nvPr/>
        </p:nvSpPr>
        <p:spPr>
          <a:xfrm>
            <a:off x="9976104" y="5148072"/>
            <a:ext cx="265176" cy="265176"/>
          </a:xfrm>
          <a:prstGeom prst="roundRect">
            <a:avLst>
              <a:gd name="adj" fmla="val 10345"/>
            </a:avLst>
          </a:prstGeom>
          <a:solidFill>
            <a:srgbClr val="1E7A38"/>
          </a:solidFill>
          <a:ln w="12700">
            <a:solidFill>
              <a:srgbClr val="1E7A38"/>
            </a:solidFill>
            <a:prstDash val="solid"/>
          </a:ln>
        </p:spPr>
      </p:sp>
      <p:sp>
        <p:nvSpPr>
          <p:cNvPr id="107" name="grid"/>
          <p:cNvSpPr/>
          <p:nvPr/>
        </p:nvSpPr>
        <p:spPr>
          <a:xfrm>
            <a:off x="10305288" y="868680"/>
            <a:ext cx="265176" cy="265176"/>
          </a:xfrm>
          <a:prstGeom prst="roundRect">
            <a:avLst>
              <a:gd name="adj" fmla="val 10345"/>
            </a:avLst>
          </a:prstGeom>
          <a:solidFill>
            <a:srgbClr val="5FBF77"/>
          </a:solidFill>
          <a:ln w="12700">
            <a:solidFill>
              <a:srgbClr val="5FBF77"/>
            </a:solidFill>
            <a:prstDash val="solid"/>
          </a:ln>
        </p:spPr>
      </p:sp>
      <p:sp>
        <p:nvSpPr>
          <p:cNvPr id="108" name="grid"/>
          <p:cNvSpPr/>
          <p:nvPr/>
        </p:nvSpPr>
        <p:spPr>
          <a:xfrm>
            <a:off x="10305288" y="1197864"/>
            <a:ext cx="265176" cy="265176"/>
          </a:xfrm>
          <a:prstGeom prst="roundRect">
            <a:avLst>
              <a:gd name="adj" fmla="val 10345"/>
            </a:avLst>
          </a:prstGeom>
          <a:solidFill>
            <a:srgbClr val="5FBF77"/>
          </a:solidFill>
          <a:ln w="12700">
            <a:solidFill>
              <a:srgbClr val="5FBF77"/>
            </a:solidFill>
            <a:prstDash val="solid"/>
          </a:ln>
        </p:spPr>
      </p:sp>
      <p:sp>
        <p:nvSpPr>
          <p:cNvPr id="109" name="grid"/>
          <p:cNvSpPr/>
          <p:nvPr/>
        </p:nvSpPr>
        <p:spPr>
          <a:xfrm>
            <a:off x="10305288" y="1527048"/>
            <a:ext cx="265176" cy="265176"/>
          </a:xfrm>
          <a:prstGeom prst="roundRect">
            <a:avLst>
              <a:gd name="adj" fmla="val 10345"/>
            </a:avLst>
          </a:prstGeom>
          <a:solidFill>
            <a:srgbClr val="E3F4E8"/>
          </a:solidFill>
          <a:ln w="12700">
            <a:solidFill>
              <a:srgbClr val="E3F4E8"/>
            </a:solidFill>
            <a:prstDash val="solid"/>
          </a:ln>
        </p:spPr>
      </p:sp>
      <p:sp>
        <p:nvSpPr>
          <p:cNvPr id="110" name="grid"/>
          <p:cNvSpPr/>
          <p:nvPr/>
        </p:nvSpPr>
        <p:spPr>
          <a:xfrm>
            <a:off x="10305288" y="1856232"/>
            <a:ext cx="265176" cy="265176"/>
          </a:xfrm>
          <a:prstGeom prst="roundRect">
            <a:avLst>
              <a:gd name="adj" fmla="val 10345"/>
            </a:avLst>
          </a:prstGeom>
          <a:solidFill>
            <a:srgbClr val="2DA44E"/>
          </a:solidFill>
          <a:ln w="12700">
            <a:solidFill>
              <a:srgbClr val="2DA44E"/>
            </a:solidFill>
            <a:prstDash val="solid"/>
          </a:ln>
        </p:spPr>
      </p:sp>
      <p:sp>
        <p:nvSpPr>
          <p:cNvPr id="111" name="grid"/>
          <p:cNvSpPr/>
          <p:nvPr/>
        </p:nvSpPr>
        <p:spPr>
          <a:xfrm>
            <a:off x="10305288" y="2185416"/>
            <a:ext cx="265176" cy="265176"/>
          </a:xfrm>
          <a:prstGeom prst="roundRect">
            <a:avLst>
              <a:gd name="adj" fmla="val 10345"/>
            </a:avLst>
          </a:prstGeom>
          <a:solidFill>
            <a:srgbClr val="1E7A38"/>
          </a:solidFill>
          <a:ln w="12700">
            <a:solidFill>
              <a:srgbClr val="1E7A38"/>
            </a:solidFill>
            <a:prstDash val="solid"/>
          </a:ln>
        </p:spPr>
      </p:sp>
      <p:sp>
        <p:nvSpPr>
          <p:cNvPr id="112" name="grid"/>
          <p:cNvSpPr/>
          <p:nvPr/>
        </p:nvSpPr>
        <p:spPr>
          <a:xfrm>
            <a:off x="10305288" y="2514600"/>
            <a:ext cx="265176" cy="265176"/>
          </a:xfrm>
          <a:prstGeom prst="roundRect">
            <a:avLst>
              <a:gd name="adj" fmla="val 10345"/>
            </a:avLst>
          </a:prstGeom>
          <a:solidFill>
            <a:srgbClr val="A7DDB4"/>
          </a:solidFill>
          <a:ln w="12700">
            <a:solidFill>
              <a:srgbClr val="A7DDB4"/>
            </a:solidFill>
            <a:prstDash val="solid"/>
          </a:ln>
        </p:spPr>
      </p:sp>
      <p:sp>
        <p:nvSpPr>
          <p:cNvPr id="113" name="grid"/>
          <p:cNvSpPr/>
          <p:nvPr/>
        </p:nvSpPr>
        <p:spPr>
          <a:xfrm>
            <a:off x="10305288" y="2843784"/>
            <a:ext cx="265176" cy="265176"/>
          </a:xfrm>
          <a:prstGeom prst="roundRect">
            <a:avLst>
              <a:gd name="adj" fmla="val 10345"/>
            </a:avLst>
          </a:prstGeom>
          <a:solidFill>
            <a:srgbClr val="E3F4E8"/>
          </a:solidFill>
          <a:ln w="12700">
            <a:solidFill>
              <a:srgbClr val="E3F4E8"/>
            </a:solidFill>
            <a:prstDash val="solid"/>
          </a:ln>
        </p:spPr>
      </p:sp>
      <p:sp>
        <p:nvSpPr>
          <p:cNvPr id="114" name="grid"/>
          <p:cNvSpPr/>
          <p:nvPr/>
        </p:nvSpPr>
        <p:spPr>
          <a:xfrm>
            <a:off x="10305288" y="3172968"/>
            <a:ext cx="265176" cy="265176"/>
          </a:xfrm>
          <a:prstGeom prst="roundRect">
            <a:avLst>
              <a:gd name="adj" fmla="val 10345"/>
            </a:avLst>
          </a:prstGeom>
          <a:solidFill>
            <a:srgbClr val="E3F4E8"/>
          </a:solidFill>
          <a:ln w="12700">
            <a:solidFill>
              <a:srgbClr val="E3F4E8"/>
            </a:solidFill>
            <a:prstDash val="solid"/>
          </a:ln>
        </p:spPr>
      </p:sp>
      <p:sp>
        <p:nvSpPr>
          <p:cNvPr id="115" name="grid"/>
          <p:cNvSpPr/>
          <p:nvPr/>
        </p:nvSpPr>
        <p:spPr>
          <a:xfrm>
            <a:off x="10305288" y="3502152"/>
            <a:ext cx="265176" cy="265176"/>
          </a:xfrm>
          <a:prstGeom prst="roundRect">
            <a:avLst>
              <a:gd name="adj" fmla="val 10345"/>
            </a:avLst>
          </a:prstGeom>
          <a:solidFill>
            <a:srgbClr val="2DA44E"/>
          </a:solidFill>
          <a:ln w="12700">
            <a:solidFill>
              <a:srgbClr val="2DA44E"/>
            </a:solidFill>
            <a:prstDash val="solid"/>
          </a:ln>
        </p:spPr>
      </p:sp>
      <p:sp>
        <p:nvSpPr>
          <p:cNvPr id="116" name="grid"/>
          <p:cNvSpPr/>
          <p:nvPr/>
        </p:nvSpPr>
        <p:spPr>
          <a:xfrm>
            <a:off x="10305288" y="3831336"/>
            <a:ext cx="265176" cy="265176"/>
          </a:xfrm>
          <a:prstGeom prst="roundRect">
            <a:avLst>
              <a:gd name="adj" fmla="val 10345"/>
            </a:avLst>
          </a:prstGeom>
          <a:solidFill>
            <a:srgbClr val="2DA44E"/>
          </a:solidFill>
          <a:ln w="12700">
            <a:solidFill>
              <a:srgbClr val="2DA44E"/>
            </a:solidFill>
            <a:prstDash val="solid"/>
          </a:ln>
        </p:spPr>
      </p:sp>
      <p:sp>
        <p:nvSpPr>
          <p:cNvPr id="117" name="grid"/>
          <p:cNvSpPr/>
          <p:nvPr/>
        </p:nvSpPr>
        <p:spPr>
          <a:xfrm>
            <a:off x="10305288" y="4160520"/>
            <a:ext cx="265176" cy="265176"/>
          </a:xfrm>
          <a:prstGeom prst="roundRect">
            <a:avLst>
              <a:gd name="adj" fmla="val 10345"/>
            </a:avLst>
          </a:prstGeom>
          <a:solidFill>
            <a:srgbClr val="2DA44E"/>
          </a:solidFill>
          <a:ln w="12700">
            <a:solidFill>
              <a:srgbClr val="2DA44E"/>
            </a:solidFill>
            <a:prstDash val="solid"/>
          </a:ln>
        </p:spPr>
      </p:sp>
      <p:sp>
        <p:nvSpPr>
          <p:cNvPr id="118" name="grid"/>
          <p:cNvSpPr/>
          <p:nvPr/>
        </p:nvSpPr>
        <p:spPr>
          <a:xfrm>
            <a:off x="10305288" y="4489704"/>
            <a:ext cx="265176" cy="265176"/>
          </a:xfrm>
          <a:prstGeom prst="roundRect">
            <a:avLst>
              <a:gd name="adj" fmla="val 10345"/>
            </a:avLst>
          </a:prstGeom>
          <a:solidFill>
            <a:srgbClr val="1E7A38"/>
          </a:solidFill>
          <a:ln w="12700">
            <a:solidFill>
              <a:srgbClr val="1E7A38"/>
            </a:solidFill>
            <a:prstDash val="solid"/>
          </a:ln>
        </p:spPr>
      </p:sp>
      <p:sp>
        <p:nvSpPr>
          <p:cNvPr id="119" name="grid"/>
          <p:cNvSpPr/>
          <p:nvPr/>
        </p:nvSpPr>
        <p:spPr>
          <a:xfrm>
            <a:off x="10305288" y="4818888"/>
            <a:ext cx="265176" cy="265176"/>
          </a:xfrm>
          <a:prstGeom prst="roundRect">
            <a:avLst>
              <a:gd name="adj" fmla="val 10345"/>
            </a:avLst>
          </a:prstGeom>
          <a:solidFill>
            <a:srgbClr val="A7DDB4"/>
          </a:solidFill>
          <a:ln w="12700">
            <a:solidFill>
              <a:srgbClr val="A7DDB4"/>
            </a:solidFill>
            <a:prstDash val="solid"/>
          </a:ln>
        </p:spPr>
      </p:sp>
      <p:sp>
        <p:nvSpPr>
          <p:cNvPr id="120" name="grid"/>
          <p:cNvSpPr/>
          <p:nvPr/>
        </p:nvSpPr>
        <p:spPr>
          <a:xfrm>
            <a:off x="10305288" y="5148072"/>
            <a:ext cx="265176" cy="265176"/>
          </a:xfrm>
          <a:prstGeom prst="roundRect">
            <a:avLst>
              <a:gd name="adj" fmla="val 10345"/>
            </a:avLst>
          </a:prstGeom>
          <a:solidFill>
            <a:srgbClr val="1E7A38"/>
          </a:solidFill>
          <a:ln w="12700">
            <a:solidFill>
              <a:srgbClr val="1E7A38"/>
            </a:solidFill>
            <a:prstDash val="solid"/>
          </a:ln>
        </p:spPr>
      </p:sp>
      <p:sp>
        <p:nvSpPr>
          <p:cNvPr id="121" name="grid"/>
          <p:cNvSpPr/>
          <p:nvPr/>
        </p:nvSpPr>
        <p:spPr>
          <a:xfrm>
            <a:off x="10634472" y="868680"/>
            <a:ext cx="265176" cy="265176"/>
          </a:xfrm>
          <a:prstGeom prst="roundRect">
            <a:avLst>
              <a:gd name="adj" fmla="val 10345"/>
            </a:avLst>
          </a:prstGeom>
          <a:solidFill>
            <a:srgbClr val="E3F4E8"/>
          </a:solidFill>
          <a:ln w="12700">
            <a:solidFill>
              <a:srgbClr val="E3F4E8"/>
            </a:solidFill>
            <a:prstDash val="solid"/>
          </a:ln>
        </p:spPr>
      </p:sp>
      <p:sp>
        <p:nvSpPr>
          <p:cNvPr id="122" name="grid"/>
          <p:cNvSpPr/>
          <p:nvPr/>
        </p:nvSpPr>
        <p:spPr>
          <a:xfrm>
            <a:off x="10634472" y="1197864"/>
            <a:ext cx="265176" cy="265176"/>
          </a:xfrm>
          <a:prstGeom prst="roundRect">
            <a:avLst>
              <a:gd name="adj" fmla="val 10345"/>
            </a:avLst>
          </a:prstGeom>
          <a:solidFill>
            <a:srgbClr val="E3F4E8"/>
          </a:solidFill>
          <a:ln w="12700">
            <a:solidFill>
              <a:srgbClr val="E3F4E8"/>
            </a:solidFill>
            <a:prstDash val="solid"/>
          </a:ln>
        </p:spPr>
      </p:sp>
      <p:sp>
        <p:nvSpPr>
          <p:cNvPr id="123" name="grid"/>
          <p:cNvSpPr/>
          <p:nvPr/>
        </p:nvSpPr>
        <p:spPr>
          <a:xfrm>
            <a:off x="10634472" y="1527048"/>
            <a:ext cx="265176" cy="265176"/>
          </a:xfrm>
          <a:prstGeom prst="roundRect">
            <a:avLst>
              <a:gd name="adj" fmla="val 10345"/>
            </a:avLst>
          </a:prstGeom>
          <a:solidFill>
            <a:srgbClr val="E3F4E8"/>
          </a:solidFill>
          <a:ln w="12700">
            <a:solidFill>
              <a:srgbClr val="E3F4E8"/>
            </a:solidFill>
            <a:prstDash val="solid"/>
          </a:ln>
        </p:spPr>
      </p:sp>
      <p:sp>
        <p:nvSpPr>
          <p:cNvPr id="124" name="grid"/>
          <p:cNvSpPr/>
          <p:nvPr/>
        </p:nvSpPr>
        <p:spPr>
          <a:xfrm>
            <a:off x="10634472" y="1856232"/>
            <a:ext cx="265176" cy="265176"/>
          </a:xfrm>
          <a:prstGeom prst="roundRect">
            <a:avLst>
              <a:gd name="adj" fmla="val 10345"/>
            </a:avLst>
          </a:prstGeom>
          <a:solidFill>
            <a:srgbClr val="E3F4E8"/>
          </a:solidFill>
          <a:ln w="12700">
            <a:solidFill>
              <a:srgbClr val="E3F4E8"/>
            </a:solidFill>
            <a:prstDash val="solid"/>
          </a:ln>
        </p:spPr>
      </p:sp>
      <p:sp>
        <p:nvSpPr>
          <p:cNvPr id="125" name="grid"/>
          <p:cNvSpPr/>
          <p:nvPr/>
        </p:nvSpPr>
        <p:spPr>
          <a:xfrm>
            <a:off x="10634472" y="2185416"/>
            <a:ext cx="265176" cy="265176"/>
          </a:xfrm>
          <a:prstGeom prst="roundRect">
            <a:avLst>
              <a:gd name="adj" fmla="val 10345"/>
            </a:avLst>
          </a:prstGeom>
          <a:solidFill>
            <a:srgbClr val="5FBF77"/>
          </a:solidFill>
          <a:ln w="12700">
            <a:solidFill>
              <a:srgbClr val="5FBF77"/>
            </a:solidFill>
            <a:prstDash val="solid"/>
          </a:ln>
        </p:spPr>
      </p:sp>
      <p:sp>
        <p:nvSpPr>
          <p:cNvPr id="126" name="grid"/>
          <p:cNvSpPr/>
          <p:nvPr/>
        </p:nvSpPr>
        <p:spPr>
          <a:xfrm>
            <a:off x="10634472" y="2514600"/>
            <a:ext cx="265176" cy="265176"/>
          </a:xfrm>
          <a:prstGeom prst="roundRect">
            <a:avLst>
              <a:gd name="adj" fmla="val 10345"/>
            </a:avLst>
          </a:prstGeom>
          <a:solidFill>
            <a:srgbClr val="1E7A38"/>
          </a:solidFill>
          <a:ln w="12700">
            <a:solidFill>
              <a:srgbClr val="1E7A38"/>
            </a:solidFill>
            <a:prstDash val="solid"/>
          </a:ln>
        </p:spPr>
      </p:sp>
      <p:sp>
        <p:nvSpPr>
          <p:cNvPr id="127" name="grid"/>
          <p:cNvSpPr/>
          <p:nvPr/>
        </p:nvSpPr>
        <p:spPr>
          <a:xfrm>
            <a:off x="10634472" y="2843784"/>
            <a:ext cx="265176" cy="265176"/>
          </a:xfrm>
          <a:prstGeom prst="roundRect">
            <a:avLst>
              <a:gd name="adj" fmla="val 10345"/>
            </a:avLst>
          </a:prstGeom>
          <a:solidFill>
            <a:srgbClr val="1E7A38"/>
          </a:solidFill>
          <a:ln w="12700">
            <a:solidFill>
              <a:srgbClr val="1E7A38"/>
            </a:solidFill>
            <a:prstDash val="solid"/>
          </a:ln>
        </p:spPr>
      </p:sp>
      <p:sp>
        <p:nvSpPr>
          <p:cNvPr id="128" name="grid"/>
          <p:cNvSpPr/>
          <p:nvPr/>
        </p:nvSpPr>
        <p:spPr>
          <a:xfrm>
            <a:off x="10634472" y="3172968"/>
            <a:ext cx="265176" cy="265176"/>
          </a:xfrm>
          <a:prstGeom prst="roundRect">
            <a:avLst>
              <a:gd name="adj" fmla="val 10345"/>
            </a:avLst>
          </a:prstGeom>
          <a:solidFill>
            <a:srgbClr val="E3F4E8"/>
          </a:solidFill>
          <a:ln w="12700">
            <a:solidFill>
              <a:srgbClr val="E3F4E8"/>
            </a:solidFill>
            <a:prstDash val="solid"/>
          </a:ln>
        </p:spPr>
      </p:sp>
      <p:sp>
        <p:nvSpPr>
          <p:cNvPr id="129" name="grid"/>
          <p:cNvSpPr/>
          <p:nvPr/>
        </p:nvSpPr>
        <p:spPr>
          <a:xfrm>
            <a:off x="10634472" y="3502152"/>
            <a:ext cx="265176" cy="265176"/>
          </a:xfrm>
          <a:prstGeom prst="roundRect">
            <a:avLst>
              <a:gd name="adj" fmla="val 10345"/>
            </a:avLst>
          </a:prstGeom>
          <a:solidFill>
            <a:srgbClr val="5FBF77"/>
          </a:solidFill>
          <a:ln w="12700">
            <a:solidFill>
              <a:srgbClr val="5FBF77"/>
            </a:solidFill>
            <a:prstDash val="solid"/>
          </a:ln>
        </p:spPr>
      </p:sp>
      <p:sp>
        <p:nvSpPr>
          <p:cNvPr id="130" name="grid"/>
          <p:cNvSpPr/>
          <p:nvPr/>
        </p:nvSpPr>
        <p:spPr>
          <a:xfrm>
            <a:off x="10634472" y="3831336"/>
            <a:ext cx="265176" cy="265176"/>
          </a:xfrm>
          <a:prstGeom prst="roundRect">
            <a:avLst>
              <a:gd name="adj" fmla="val 10345"/>
            </a:avLst>
          </a:prstGeom>
          <a:solidFill>
            <a:srgbClr val="E3F4E8"/>
          </a:solidFill>
          <a:ln w="12700">
            <a:solidFill>
              <a:srgbClr val="E3F4E8"/>
            </a:solidFill>
            <a:prstDash val="solid"/>
          </a:ln>
        </p:spPr>
      </p:sp>
      <p:sp>
        <p:nvSpPr>
          <p:cNvPr id="131" name="grid"/>
          <p:cNvSpPr/>
          <p:nvPr/>
        </p:nvSpPr>
        <p:spPr>
          <a:xfrm>
            <a:off x="10634472" y="4160520"/>
            <a:ext cx="265176" cy="265176"/>
          </a:xfrm>
          <a:prstGeom prst="roundRect">
            <a:avLst>
              <a:gd name="adj" fmla="val 10345"/>
            </a:avLst>
          </a:prstGeom>
          <a:solidFill>
            <a:srgbClr val="A7DDB4"/>
          </a:solidFill>
          <a:ln w="12700">
            <a:solidFill>
              <a:srgbClr val="A7DDB4"/>
            </a:solidFill>
            <a:prstDash val="solid"/>
          </a:ln>
        </p:spPr>
      </p:sp>
      <p:sp>
        <p:nvSpPr>
          <p:cNvPr id="132" name="grid"/>
          <p:cNvSpPr/>
          <p:nvPr/>
        </p:nvSpPr>
        <p:spPr>
          <a:xfrm>
            <a:off x="10634472" y="4489704"/>
            <a:ext cx="265176" cy="265176"/>
          </a:xfrm>
          <a:prstGeom prst="roundRect">
            <a:avLst>
              <a:gd name="adj" fmla="val 10345"/>
            </a:avLst>
          </a:prstGeom>
          <a:solidFill>
            <a:srgbClr val="5FBF77"/>
          </a:solidFill>
          <a:ln w="12700">
            <a:solidFill>
              <a:srgbClr val="5FBF77"/>
            </a:solidFill>
            <a:prstDash val="solid"/>
          </a:ln>
        </p:spPr>
      </p:sp>
      <p:sp>
        <p:nvSpPr>
          <p:cNvPr id="133" name="grid"/>
          <p:cNvSpPr/>
          <p:nvPr/>
        </p:nvSpPr>
        <p:spPr>
          <a:xfrm>
            <a:off x="10634472" y="4818888"/>
            <a:ext cx="265176" cy="265176"/>
          </a:xfrm>
          <a:prstGeom prst="roundRect">
            <a:avLst>
              <a:gd name="adj" fmla="val 10345"/>
            </a:avLst>
          </a:prstGeom>
          <a:solidFill>
            <a:srgbClr val="E3F4E8"/>
          </a:solidFill>
          <a:ln w="12700">
            <a:solidFill>
              <a:srgbClr val="E3F4E8"/>
            </a:solidFill>
            <a:prstDash val="solid"/>
          </a:ln>
        </p:spPr>
      </p:sp>
      <p:sp>
        <p:nvSpPr>
          <p:cNvPr id="134" name="grid"/>
          <p:cNvSpPr/>
          <p:nvPr/>
        </p:nvSpPr>
        <p:spPr>
          <a:xfrm>
            <a:off x="10634472" y="5148072"/>
            <a:ext cx="265176" cy="265176"/>
          </a:xfrm>
          <a:prstGeom prst="roundRect">
            <a:avLst>
              <a:gd name="adj" fmla="val 10345"/>
            </a:avLst>
          </a:prstGeom>
          <a:solidFill>
            <a:srgbClr val="A7DDB4"/>
          </a:solidFill>
          <a:ln w="12700">
            <a:solidFill>
              <a:srgbClr val="A7DDB4"/>
            </a:solidFill>
            <a:prstDash val="solid"/>
          </a:ln>
        </p:spPr>
      </p:sp>
      <p:sp>
        <p:nvSpPr>
          <p:cNvPr id="135" name="grid"/>
          <p:cNvSpPr/>
          <p:nvPr/>
        </p:nvSpPr>
        <p:spPr>
          <a:xfrm>
            <a:off x="10963656" y="868680"/>
            <a:ext cx="265176" cy="265176"/>
          </a:xfrm>
          <a:prstGeom prst="roundRect">
            <a:avLst>
              <a:gd name="adj" fmla="val 10345"/>
            </a:avLst>
          </a:prstGeom>
          <a:solidFill>
            <a:srgbClr val="A7DDB4"/>
          </a:solidFill>
          <a:ln w="12700">
            <a:solidFill>
              <a:srgbClr val="A7DDB4"/>
            </a:solidFill>
            <a:prstDash val="solid"/>
          </a:ln>
        </p:spPr>
      </p:sp>
      <p:sp>
        <p:nvSpPr>
          <p:cNvPr id="136" name="grid"/>
          <p:cNvSpPr/>
          <p:nvPr/>
        </p:nvSpPr>
        <p:spPr>
          <a:xfrm>
            <a:off x="10963656" y="1197864"/>
            <a:ext cx="265176" cy="265176"/>
          </a:xfrm>
          <a:prstGeom prst="roundRect">
            <a:avLst>
              <a:gd name="adj" fmla="val 10345"/>
            </a:avLst>
          </a:prstGeom>
          <a:solidFill>
            <a:srgbClr val="A7DDB4"/>
          </a:solidFill>
          <a:ln w="12700">
            <a:solidFill>
              <a:srgbClr val="A7DDB4"/>
            </a:solidFill>
            <a:prstDash val="solid"/>
          </a:ln>
        </p:spPr>
      </p:sp>
      <p:sp>
        <p:nvSpPr>
          <p:cNvPr id="137" name="grid"/>
          <p:cNvSpPr/>
          <p:nvPr/>
        </p:nvSpPr>
        <p:spPr>
          <a:xfrm>
            <a:off x="10963656" y="1527048"/>
            <a:ext cx="265176" cy="265176"/>
          </a:xfrm>
          <a:prstGeom prst="roundRect">
            <a:avLst>
              <a:gd name="adj" fmla="val 10345"/>
            </a:avLst>
          </a:prstGeom>
          <a:solidFill>
            <a:srgbClr val="2DA44E"/>
          </a:solidFill>
          <a:ln w="12700">
            <a:solidFill>
              <a:srgbClr val="2DA44E"/>
            </a:solidFill>
            <a:prstDash val="solid"/>
          </a:ln>
        </p:spPr>
      </p:sp>
      <p:sp>
        <p:nvSpPr>
          <p:cNvPr id="138" name="grid"/>
          <p:cNvSpPr/>
          <p:nvPr/>
        </p:nvSpPr>
        <p:spPr>
          <a:xfrm>
            <a:off x="10963656" y="1856232"/>
            <a:ext cx="265176" cy="265176"/>
          </a:xfrm>
          <a:prstGeom prst="roundRect">
            <a:avLst>
              <a:gd name="adj" fmla="val 10345"/>
            </a:avLst>
          </a:prstGeom>
          <a:solidFill>
            <a:srgbClr val="E3F4E8"/>
          </a:solidFill>
          <a:ln w="12700">
            <a:solidFill>
              <a:srgbClr val="E3F4E8"/>
            </a:solidFill>
            <a:prstDash val="solid"/>
          </a:ln>
        </p:spPr>
      </p:sp>
      <p:sp>
        <p:nvSpPr>
          <p:cNvPr id="139" name="grid"/>
          <p:cNvSpPr/>
          <p:nvPr/>
        </p:nvSpPr>
        <p:spPr>
          <a:xfrm>
            <a:off x="10963656" y="2185416"/>
            <a:ext cx="265176" cy="265176"/>
          </a:xfrm>
          <a:prstGeom prst="roundRect">
            <a:avLst>
              <a:gd name="adj" fmla="val 10345"/>
            </a:avLst>
          </a:prstGeom>
          <a:solidFill>
            <a:srgbClr val="E3F4E8"/>
          </a:solidFill>
          <a:ln w="12700">
            <a:solidFill>
              <a:srgbClr val="E3F4E8"/>
            </a:solidFill>
            <a:prstDash val="solid"/>
          </a:ln>
        </p:spPr>
      </p:sp>
      <p:sp>
        <p:nvSpPr>
          <p:cNvPr id="140" name="grid"/>
          <p:cNvSpPr/>
          <p:nvPr/>
        </p:nvSpPr>
        <p:spPr>
          <a:xfrm>
            <a:off x="10963656" y="2514600"/>
            <a:ext cx="265176" cy="265176"/>
          </a:xfrm>
          <a:prstGeom prst="roundRect">
            <a:avLst>
              <a:gd name="adj" fmla="val 10345"/>
            </a:avLst>
          </a:prstGeom>
          <a:solidFill>
            <a:srgbClr val="E3F4E8"/>
          </a:solidFill>
          <a:ln w="12700">
            <a:solidFill>
              <a:srgbClr val="E3F4E8"/>
            </a:solidFill>
            <a:prstDash val="solid"/>
          </a:ln>
        </p:spPr>
      </p:sp>
      <p:sp>
        <p:nvSpPr>
          <p:cNvPr id="141" name="grid"/>
          <p:cNvSpPr/>
          <p:nvPr/>
        </p:nvSpPr>
        <p:spPr>
          <a:xfrm>
            <a:off x="10963656" y="2843784"/>
            <a:ext cx="265176" cy="265176"/>
          </a:xfrm>
          <a:prstGeom prst="roundRect">
            <a:avLst>
              <a:gd name="adj" fmla="val 10345"/>
            </a:avLst>
          </a:prstGeom>
          <a:solidFill>
            <a:srgbClr val="2DA44E"/>
          </a:solidFill>
          <a:ln w="12700">
            <a:solidFill>
              <a:srgbClr val="2DA44E"/>
            </a:solidFill>
            <a:prstDash val="solid"/>
          </a:ln>
        </p:spPr>
      </p:sp>
      <p:sp>
        <p:nvSpPr>
          <p:cNvPr id="142" name="grid"/>
          <p:cNvSpPr/>
          <p:nvPr/>
        </p:nvSpPr>
        <p:spPr>
          <a:xfrm>
            <a:off x="10963656" y="3172968"/>
            <a:ext cx="265176" cy="265176"/>
          </a:xfrm>
          <a:prstGeom prst="roundRect">
            <a:avLst>
              <a:gd name="adj" fmla="val 10345"/>
            </a:avLst>
          </a:prstGeom>
          <a:solidFill>
            <a:srgbClr val="E3F4E8"/>
          </a:solidFill>
          <a:ln w="12700">
            <a:solidFill>
              <a:srgbClr val="E3F4E8"/>
            </a:solidFill>
            <a:prstDash val="solid"/>
          </a:ln>
        </p:spPr>
      </p:sp>
      <p:sp>
        <p:nvSpPr>
          <p:cNvPr id="143" name="grid"/>
          <p:cNvSpPr/>
          <p:nvPr/>
        </p:nvSpPr>
        <p:spPr>
          <a:xfrm>
            <a:off x="10963656" y="3502152"/>
            <a:ext cx="265176" cy="265176"/>
          </a:xfrm>
          <a:prstGeom prst="roundRect">
            <a:avLst>
              <a:gd name="adj" fmla="val 10345"/>
            </a:avLst>
          </a:prstGeom>
          <a:solidFill>
            <a:srgbClr val="5FBF77"/>
          </a:solidFill>
          <a:ln w="12700">
            <a:solidFill>
              <a:srgbClr val="5FBF77"/>
            </a:solidFill>
            <a:prstDash val="solid"/>
          </a:ln>
        </p:spPr>
      </p:sp>
      <p:sp>
        <p:nvSpPr>
          <p:cNvPr id="144" name="grid"/>
          <p:cNvSpPr/>
          <p:nvPr/>
        </p:nvSpPr>
        <p:spPr>
          <a:xfrm>
            <a:off x="10963656" y="3831336"/>
            <a:ext cx="265176" cy="265176"/>
          </a:xfrm>
          <a:prstGeom prst="roundRect">
            <a:avLst>
              <a:gd name="adj" fmla="val 10345"/>
            </a:avLst>
          </a:prstGeom>
          <a:solidFill>
            <a:srgbClr val="E3F4E8"/>
          </a:solidFill>
          <a:ln w="12700">
            <a:solidFill>
              <a:srgbClr val="E3F4E8"/>
            </a:solidFill>
            <a:prstDash val="solid"/>
          </a:ln>
        </p:spPr>
      </p:sp>
      <p:sp>
        <p:nvSpPr>
          <p:cNvPr id="145" name="grid"/>
          <p:cNvSpPr/>
          <p:nvPr/>
        </p:nvSpPr>
        <p:spPr>
          <a:xfrm>
            <a:off x="10963656" y="4160520"/>
            <a:ext cx="265176" cy="265176"/>
          </a:xfrm>
          <a:prstGeom prst="roundRect">
            <a:avLst>
              <a:gd name="adj" fmla="val 10345"/>
            </a:avLst>
          </a:prstGeom>
          <a:solidFill>
            <a:srgbClr val="5FBF77"/>
          </a:solidFill>
          <a:ln w="12700">
            <a:solidFill>
              <a:srgbClr val="5FBF77"/>
            </a:solidFill>
            <a:prstDash val="solid"/>
          </a:ln>
        </p:spPr>
      </p:sp>
      <p:sp>
        <p:nvSpPr>
          <p:cNvPr id="146" name="grid"/>
          <p:cNvSpPr/>
          <p:nvPr/>
        </p:nvSpPr>
        <p:spPr>
          <a:xfrm>
            <a:off x="10963656" y="4489704"/>
            <a:ext cx="265176" cy="265176"/>
          </a:xfrm>
          <a:prstGeom prst="roundRect">
            <a:avLst>
              <a:gd name="adj" fmla="val 10345"/>
            </a:avLst>
          </a:prstGeom>
          <a:solidFill>
            <a:srgbClr val="5FBF77"/>
          </a:solidFill>
          <a:ln w="12700">
            <a:solidFill>
              <a:srgbClr val="5FBF77"/>
            </a:solidFill>
            <a:prstDash val="solid"/>
          </a:ln>
        </p:spPr>
      </p:sp>
      <p:sp>
        <p:nvSpPr>
          <p:cNvPr id="147" name="grid"/>
          <p:cNvSpPr/>
          <p:nvPr/>
        </p:nvSpPr>
        <p:spPr>
          <a:xfrm>
            <a:off x="10963656" y="4818888"/>
            <a:ext cx="265176" cy="265176"/>
          </a:xfrm>
          <a:prstGeom prst="roundRect">
            <a:avLst>
              <a:gd name="adj" fmla="val 10345"/>
            </a:avLst>
          </a:prstGeom>
          <a:solidFill>
            <a:srgbClr val="E3F4E8"/>
          </a:solidFill>
          <a:ln w="12700">
            <a:solidFill>
              <a:srgbClr val="E3F4E8"/>
            </a:solidFill>
            <a:prstDash val="solid"/>
          </a:ln>
        </p:spPr>
      </p:sp>
      <p:sp>
        <p:nvSpPr>
          <p:cNvPr id="148" name="grid"/>
          <p:cNvSpPr/>
          <p:nvPr/>
        </p:nvSpPr>
        <p:spPr>
          <a:xfrm>
            <a:off x="10963656" y="5148072"/>
            <a:ext cx="265176" cy="265176"/>
          </a:xfrm>
          <a:prstGeom prst="roundRect">
            <a:avLst>
              <a:gd name="adj" fmla="val 10345"/>
            </a:avLst>
          </a:prstGeom>
          <a:solidFill>
            <a:srgbClr val="2DA44E"/>
          </a:solidFill>
          <a:ln w="12700">
            <a:solidFill>
              <a:srgbClr val="2DA44E"/>
            </a:solidFill>
            <a:prstDash val="solid"/>
          </a:ln>
        </p:spPr>
      </p:sp>
      <p:sp>
        <p:nvSpPr>
          <p:cNvPr id="149" name="grid"/>
          <p:cNvSpPr/>
          <p:nvPr/>
        </p:nvSpPr>
        <p:spPr>
          <a:xfrm>
            <a:off x="11292840" y="868680"/>
            <a:ext cx="265176" cy="265176"/>
          </a:xfrm>
          <a:prstGeom prst="roundRect">
            <a:avLst>
              <a:gd name="adj" fmla="val 10345"/>
            </a:avLst>
          </a:prstGeom>
          <a:solidFill>
            <a:srgbClr val="5FBF77"/>
          </a:solidFill>
          <a:ln w="12700">
            <a:solidFill>
              <a:srgbClr val="5FBF77"/>
            </a:solidFill>
            <a:prstDash val="solid"/>
          </a:ln>
        </p:spPr>
      </p:sp>
      <p:sp>
        <p:nvSpPr>
          <p:cNvPr id="150" name="grid"/>
          <p:cNvSpPr/>
          <p:nvPr/>
        </p:nvSpPr>
        <p:spPr>
          <a:xfrm>
            <a:off x="11292840" y="1197864"/>
            <a:ext cx="265176" cy="265176"/>
          </a:xfrm>
          <a:prstGeom prst="roundRect">
            <a:avLst>
              <a:gd name="adj" fmla="val 10345"/>
            </a:avLst>
          </a:prstGeom>
          <a:solidFill>
            <a:srgbClr val="2DA44E"/>
          </a:solidFill>
          <a:ln w="12700">
            <a:solidFill>
              <a:srgbClr val="2DA44E"/>
            </a:solidFill>
            <a:prstDash val="solid"/>
          </a:ln>
        </p:spPr>
      </p:sp>
      <p:sp>
        <p:nvSpPr>
          <p:cNvPr id="151" name="grid"/>
          <p:cNvSpPr/>
          <p:nvPr/>
        </p:nvSpPr>
        <p:spPr>
          <a:xfrm>
            <a:off x="11292840" y="1527048"/>
            <a:ext cx="265176" cy="265176"/>
          </a:xfrm>
          <a:prstGeom prst="roundRect">
            <a:avLst>
              <a:gd name="adj" fmla="val 10345"/>
            </a:avLst>
          </a:prstGeom>
          <a:solidFill>
            <a:srgbClr val="A7DDB4"/>
          </a:solidFill>
          <a:ln w="12700">
            <a:solidFill>
              <a:srgbClr val="A7DDB4"/>
            </a:solidFill>
            <a:prstDash val="solid"/>
          </a:ln>
        </p:spPr>
      </p:sp>
      <p:sp>
        <p:nvSpPr>
          <p:cNvPr id="152" name="grid"/>
          <p:cNvSpPr/>
          <p:nvPr/>
        </p:nvSpPr>
        <p:spPr>
          <a:xfrm>
            <a:off x="11292840" y="1856232"/>
            <a:ext cx="265176" cy="265176"/>
          </a:xfrm>
          <a:prstGeom prst="roundRect">
            <a:avLst>
              <a:gd name="adj" fmla="val 10345"/>
            </a:avLst>
          </a:prstGeom>
          <a:solidFill>
            <a:srgbClr val="1E7A38"/>
          </a:solidFill>
          <a:ln w="12700">
            <a:solidFill>
              <a:srgbClr val="1E7A38"/>
            </a:solidFill>
            <a:prstDash val="solid"/>
          </a:ln>
        </p:spPr>
      </p:sp>
      <p:sp>
        <p:nvSpPr>
          <p:cNvPr id="153" name="grid"/>
          <p:cNvSpPr/>
          <p:nvPr/>
        </p:nvSpPr>
        <p:spPr>
          <a:xfrm>
            <a:off x="11292840" y="2185416"/>
            <a:ext cx="265176" cy="265176"/>
          </a:xfrm>
          <a:prstGeom prst="roundRect">
            <a:avLst>
              <a:gd name="adj" fmla="val 10345"/>
            </a:avLst>
          </a:prstGeom>
          <a:solidFill>
            <a:srgbClr val="2DA44E"/>
          </a:solidFill>
          <a:ln w="12700">
            <a:solidFill>
              <a:srgbClr val="2DA44E"/>
            </a:solidFill>
            <a:prstDash val="solid"/>
          </a:ln>
        </p:spPr>
      </p:sp>
      <p:sp>
        <p:nvSpPr>
          <p:cNvPr id="154" name="grid"/>
          <p:cNvSpPr/>
          <p:nvPr/>
        </p:nvSpPr>
        <p:spPr>
          <a:xfrm>
            <a:off x="11292840" y="2514600"/>
            <a:ext cx="265176" cy="265176"/>
          </a:xfrm>
          <a:prstGeom prst="roundRect">
            <a:avLst>
              <a:gd name="adj" fmla="val 10345"/>
            </a:avLst>
          </a:prstGeom>
          <a:solidFill>
            <a:srgbClr val="2DA44E"/>
          </a:solidFill>
          <a:ln w="12700">
            <a:solidFill>
              <a:srgbClr val="2DA44E"/>
            </a:solidFill>
            <a:prstDash val="solid"/>
          </a:ln>
        </p:spPr>
      </p:sp>
      <p:sp>
        <p:nvSpPr>
          <p:cNvPr id="155" name="grid"/>
          <p:cNvSpPr/>
          <p:nvPr/>
        </p:nvSpPr>
        <p:spPr>
          <a:xfrm>
            <a:off x="11292840" y="2843784"/>
            <a:ext cx="265176" cy="265176"/>
          </a:xfrm>
          <a:prstGeom prst="roundRect">
            <a:avLst>
              <a:gd name="adj" fmla="val 10345"/>
            </a:avLst>
          </a:prstGeom>
          <a:solidFill>
            <a:srgbClr val="A7DDB4"/>
          </a:solidFill>
          <a:ln w="12700">
            <a:solidFill>
              <a:srgbClr val="A7DDB4"/>
            </a:solidFill>
            <a:prstDash val="solid"/>
          </a:ln>
        </p:spPr>
      </p:sp>
      <p:sp>
        <p:nvSpPr>
          <p:cNvPr id="156" name="grid"/>
          <p:cNvSpPr/>
          <p:nvPr/>
        </p:nvSpPr>
        <p:spPr>
          <a:xfrm>
            <a:off x="11292840" y="3172968"/>
            <a:ext cx="265176" cy="265176"/>
          </a:xfrm>
          <a:prstGeom prst="roundRect">
            <a:avLst>
              <a:gd name="adj" fmla="val 10345"/>
            </a:avLst>
          </a:prstGeom>
          <a:solidFill>
            <a:srgbClr val="A7DDB4"/>
          </a:solidFill>
          <a:ln w="12700">
            <a:solidFill>
              <a:srgbClr val="A7DDB4"/>
            </a:solidFill>
            <a:prstDash val="solid"/>
          </a:ln>
        </p:spPr>
      </p:sp>
      <p:sp>
        <p:nvSpPr>
          <p:cNvPr id="157" name="grid"/>
          <p:cNvSpPr/>
          <p:nvPr/>
        </p:nvSpPr>
        <p:spPr>
          <a:xfrm>
            <a:off x="11292840" y="3502152"/>
            <a:ext cx="265176" cy="265176"/>
          </a:xfrm>
          <a:prstGeom prst="roundRect">
            <a:avLst>
              <a:gd name="adj" fmla="val 10345"/>
            </a:avLst>
          </a:prstGeom>
          <a:solidFill>
            <a:srgbClr val="E3F4E8"/>
          </a:solidFill>
          <a:ln w="12700">
            <a:solidFill>
              <a:srgbClr val="E3F4E8"/>
            </a:solidFill>
            <a:prstDash val="solid"/>
          </a:ln>
        </p:spPr>
      </p:sp>
      <p:sp>
        <p:nvSpPr>
          <p:cNvPr id="158" name="grid"/>
          <p:cNvSpPr/>
          <p:nvPr/>
        </p:nvSpPr>
        <p:spPr>
          <a:xfrm>
            <a:off x="11292840" y="3831336"/>
            <a:ext cx="265176" cy="265176"/>
          </a:xfrm>
          <a:prstGeom prst="roundRect">
            <a:avLst>
              <a:gd name="adj" fmla="val 10345"/>
            </a:avLst>
          </a:prstGeom>
          <a:solidFill>
            <a:srgbClr val="1E7A38"/>
          </a:solidFill>
          <a:ln w="12700">
            <a:solidFill>
              <a:srgbClr val="1E7A38"/>
            </a:solidFill>
            <a:prstDash val="solid"/>
          </a:ln>
        </p:spPr>
      </p:sp>
      <p:sp>
        <p:nvSpPr>
          <p:cNvPr id="159" name="grid"/>
          <p:cNvSpPr/>
          <p:nvPr/>
        </p:nvSpPr>
        <p:spPr>
          <a:xfrm>
            <a:off x="11292840" y="4160520"/>
            <a:ext cx="265176" cy="265176"/>
          </a:xfrm>
          <a:prstGeom prst="roundRect">
            <a:avLst>
              <a:gd name="adj" fmla="val 10345"/>
            </a:avLst>
          </a:prstGeom>
          <a:solidFill>
            <a:srgbClr val="E3F4E8"/>
          </a:solidFill>
          <a:ln w="12700">
            <a:solidFill>
              <a:srgbClr val="E3F4E8"/>
            </a:solidFill>
            <a:prstDash val="solid"/>
          </a:ln>
        </p:spPr>
      </p:sp>
      <p:sp>
        <p:nvSpPr>
          <p:cNvPr id="160" name="grid"/>
          <p:cNvSpPr/>
          <p:nvPr/>
        </p:nvSpPr>
        <p:spPr>
          <a:xfrm>
            <a:off x="11292840" y="4489704"/>
            <a:ext cx="265176" cy="265176"/>
          </a:xfrm>
          <a:prstGeom prst="roundRect">
            <a:avLst>
              <a:gd name="adj" fmla="val 10345"/>
            </a:avLst>
          </a:prstGeom>
          <a:solidFill>
            <a:srgbClr val="E3F4E8"/>
          </a:solidFill>
          <a:ln w="12700">
            <a:solidFill>
              <a:srgbClr val="E3F4E8"/>
            </a:solidFill>
            <a:prstDash val="solid"/>
          </a:ln>
        </p:spPr>
      </p:sp>
      <p:sp>
        <p:nvSpPr>
          <p:cNvPr id="161" name="grid"/>
          <p:cNvSpPr/>
          <p:nvPr/>
        </p:nvSpPr>
        <p:spPr>
          <a:xfrm>
            <a:off x="11292840" y="4818888"/>
            <a:ext cx="265176" cy="265176"/>
          </a:xfrm>
          <a:prstGeom prst="roundRect">
            <a:avLst>
              <a:gd name="adj" fmla="val 10345"/>
            </a:avLst>
          </a:prstGeom>
          <a:solidFill>
            <a:srgbClr val="E3F4E8"/>
          </a:solidFill>
          <a:ln w="12700">
            <a:solidFill>
              <a:srgbClr val="E3F4E8"/>
            </a:solidFill>
            <a:prstDash val="solid"/>
          </a:ln>
        </p:spPr>
      </p:sp>
      <p:sp>
        <p:nvSpPr>
          <p:cNvPr id="162" name="grid"/>
          <p:cNvSpPr/>
          <p:nvPr/>
        </p:nvSpPr>
        <p:spPr>
          <a:xfrm>
            <a:off x="11292840" y="5148072"/>
            <a:ext cx="265176" cy="265176"/>
          </a:xfrm>
          <a:prstGeom prst="roundRect">
            <a:avLst>
              <a:gd name="adj" fmla="val 10345"/>
            </a:avLst>
          </a:prstGeom>
          <a:solidFill>
            <a:srgbClr val="A7DDB4"/>
          </a:solidFill>
          <a:ln w="12700">
            <a:solidFill>
              <a:srgbClr val="A7DDB4"/>
            </a:solidFill>
            <a:prstDash val="solid"/>
          </a:ln>
        </p:spPr>
      </p:sp>
      <p:sp>
        <p:nvSpPr>
          <p:cNvPr id="163" name="grid"/>
          <p:cNvSpPr/>
          <p:nvPr/>
        </p:nvSpPr>
        <p:spPr>
          <a:xfrm>
            <a:off x="11622024" y="868680"/>
            <a:ext cx="265176" cy="265176"/>
          </a:xfrm>
          <a:prstGeom prst="roundRect">
            <a:avLst>
              <a:gd name="adj" fmla="val 10345"/>
            </a:avLst>
          </a:prstGeom>
          <a:solidFill>
            <a:srgbClr val="E3F4E8"/>
          </a:solidFill>
          <a:ln w="12700">
            <a:solidFill>
              <a:srgbClr val="E3F4E8"/>
            </a:solidFill>
            <a:prstDash val="solid"/>
          </a:ln>
        </p:spPr>
      </p:sp>
      <p:sp>
        <p:nvSpPr>
          <p:cNvPr id="164" name="grid"/>
          <p:cNvSpPr/>
          <p:nvPr/>
        </p:nvSpPr>
        <p:spPr>
          <a:xfrm>
            <a:off x="11622024" y="1197864"/>
            <a:ext cx="265176" cy="265176"/>
          </a:xfrm>
          <a:prstGeom prst="roundRect">
            <a:avLst>
              <a:gd name="adj" fmla="val 10345"/>
            </a:avLst>
          </a:prstGeom>
          <a:solidFill>
            <a:srgbClr val="2DA44E"/>
          </a:solidFill>
          <a:ln w="12700">
            <a:solidFill>
              <a:srgbClr val="2DA44E"/>
            </a:solidFill>
            <a:prstDash val="solid"/>
          </a:ln>
        </p:spPr>
      </p:sp>
      <p:sp>
        <p:nvSpPr>
          <p:cNvPr id="165" name="grid"/>
          <p:cNvSpPr/>
          <p:nvPr/>
        </p:nvSpPr>
        <p:spPr>
          <a:xfrm>
            <a:off x="11622024" y="1527048"/>
            <a:ext cx="265176" cy="265176"/>
          </a:xfrm>
          <a:prstGeom prst="roundRect">
            <a:avLst>
              <a:gd name="adj" fmla="val 10345"/>
            </a:avLst>
          </a:prstGeom>
          <a:solidFill>
            <a:srgbClr val="5FBF77"/>
          </a:solidFill>
          <a:ln w="12700">
            <a:solidFill>
              <a:srgbClr val="5FBF77"/>
            </a:solidFill>
            <a:prstDash val="solid"/>
          </a:ln>
        </p:spPr>
      </p:sp>
      <p:sp>
        <p:nvSpPr>
          <p:cNvPr id="166" name="grid"/>
          <p:cNvSpPr/>
          <p:nvPr/>
        </p:nvSpPr>
        <p:spPr>
          <a:xfrm>
            <a:off x="11622024" y="1856232"/>
            <a:ext cx="265176" cy="265176"/>
          </a:xfrm>
          <a:prstGeom prst="roundRect">
            <a:avLst>
              <a:gd name="adj" fmla="val 10345"/>
            </a:avLst>
          </a:prstGeom>
          <a:solidFill>
            <a:srgbClr val="A7DDB4"/>
          </a:solidFill>
          <a:ln w="12700">
            <a:solidFill>
              <a:srgbClr val="A7DDB4"/>
            </a:solidFill>
            <a:prstDash val="solid"/>
          </a:ln>
        </p:spPr>
      </p:sp>
      <p:sp>
        <p:nvSpPr>
          <p:cNvPr id="167" name="grid"/>
          <p:cNvSpPr/>
          <p:nvPr/>
        </p:nvSpPr>
        <p:spPr>
          <a:xfrm>
            <a:off x="11622024" y="2185416"/>
            <a:ext cx="265176" cy="265176"/>
          </a:xfrm>
          <a:prstGeom prst="roundRect">
            <a:avLst>
              <a:gd name="adj" fmla="val 10345"/>
            </a:avLst>
          </a:prstGeom>
          <a:solidFill>
            <a:srgbClr val="5FBF77"/>
          </a:solidFill>
          <a:ln w="12700">
            <a:solidFill>
              <a:srgbClr val="5FBF77"/>
            </a:solidFill>
            <a:prstDash val="solid"/>
          </a:ln>
        </p:spPr>
      </p:sp>
      <p:sp>
        <p:nvSpPr>
          <p:cNvPr id="168" name="grid"/>
          <p:cNvSpPr/>
          <p:nvPr/>
        </p:nvSpPr>
        <p:spPr>
          <a:xfrm>
            <a:off x="11622024" y="2514600"/>
            <a:ext cx="265176" cy="265176"/>
          </a:xfrm>
          <a:prstGeom prst="roundRect">
            <a:avLst>
              <a:gd name="adj" fmla="val 10345"/>
            </a:avLst>
          </a:prstGeom>
          <a:solidFill>
            <a:srgbClr val="1E7A38"/>
          </a:solidFill>
          <a:ln w="12700">
            <a:solidFill>
              <a:srgbClr val="1E7A38"/>
            </a:solidFill>
            <a:prstDash val="solid"/>
          </a:ln>
        </p:spPr>
      </p:sp>
      <p:sp>
        <p:nvSpPr>
          <p:cNvPr id="169" name="grid"/>
          <p:cNvSpPr/>
          <p:nvPr/>
        </p:nvSpPr>
        <p:spPr>
          <a:xfrm>
            <a:off x="11622024" y="2843784"/>
            <a:ext cx="265176" cy="265176"/>
          </a:xfrm>
          <a:prstGeom prst="roundRect">
            <a:avLst>
              <a:gd name="adj" fmla="val 10345"/>
            </a:avLst>
          </a:prstGeom>
          <a:solidFill>
            <a:srgbClr val="5FBF77"/>
          </a:solidFill>
          <a:ln w="12700">
            <a:solidFill>
              <a:srgbClr val="5FBF77"/>
            </a:solidFill>
            <a:prstDash val="solid"/>
          </a:ln>
        </p:spPr>
      </p:sp>
      <p:sp>
        <p:nvSpPr>
          <p:cNvPr id="170" name="grid"/>
          <p:cNvSpPr/>
          <p:nvPr/>
        </p:nvSpPr>
        <p:spPr>
          <a:xfrm>
            <a:off x="11622024" y="3172968"/>
            <a:ext cx="265176" cy="265176"/>
          </a:xfrm>
          <a:prstGeom prst="roundRect">
            <a:avLst>
              <a:gd name="adj" fmla="val 10345"/>
            </a:avLst>
          </a:prstGeom>
          <a:solidFill>
            <a:srgbClr val="5FBF77"/>
          </a:solidFill>
          <a:ln w="12700">
            <a:solidFill>
              <a:srgbClr val="5FBF77"/>
            </a:solidFill>
            <a:prstDash val="solid"/>
          </a:ln>
        </p:spPr>
      </p:sp>
      <p:sp>
        <p:nvSpPr>
          <p:cNvPr id="171" name="grid"/>
          <p:cNvSpPr/>
          <p:nvPr/>
        </p:nvSpPr>
        <p:spPr>
          <a:xfrm>
            <a:off x="11622024" y="3502152"/>
            <a:ext cx="265176" cy="265176"/>
          </a:xfrm>
          <a:prstGeom prst="roundRect">
            <a:avLst>
              <a:gd name="adj" fmla="val 10345"/>
            </a:avLst>
          </a:prstGeom>
          <a:solidFill>
            <a:srgbClr val="E3F4E8"/>
          </a:solidFill>
          <a:ln w="12700">
            <a:solidFill>
              <a:srgbClr val="E3F4E8"/>
            </a:solidFill>
            <a:prstDash val="solid"/>
          </a:ln>
        </p:spPr>
      </p:sp>
      <p:sp>
        <p:nvSpPr>
          <p:cNvPr id="172" name="grid"/>
          <p:cNvSpPr/>
          <p:nvPr/>
        </p:nvSpPr>
        <p:spPr>
          <a:xfrm>
            <a:off x="11622024" y="3831336"/>
            <a:ext cx="265176" cy="265176"/>
          </a:xfrm>
          <a:prstGeom prst="roundRect">
            <a:avLst>
              <a:gd name="adj" fmla="val 10345"/>
            </a:avLst>
          </a:prstGeom>
          <a:solidFill>
            <a:srgbClr val="1E7A38"/>
          </a:solidFill>
          <a:ln w="12700">
            <a:solidFill>
              <a:srgbClr val="1E7A38"/>
            </a:solidFill>
            <a:prstDash val="solid"/>
          </a:ln>
        </p:spPr>
      </p:sp>
      <p:sp>
        <p:nvSpPr>
          <p:cNvPr id="173" name="grid"/>
          <p:cNvSpPr/>
          <p:nvPr/>
        </p:nvSpPr>
        <p:spPr>
          <a:xfrm>
            <a:off x="11622024" y="4160520"/>
            <a:ext cx="265176" cy="265176"/>
          </a:xfrm>
          <a:prstGeom prst="roundRect">
            <a:avLst>
              <a:gd name="adj" fmla="val 10345"/>
            </a:avLst>
          </a:prstGeom>
          <a:solidFill>
            <a:srgbClr val="2DA44E"/>
          </a:solidFill>
          <a:ln w="12700">
            <a:solidFill>
              <a:srgbClr val="2DA44E"/>
            </a:solidFill>
            <a:prstDash val="solid"/>
          </a:ln>
        </p:spPr>
      </p:sp>
      <p:sp>
        <p:nvSpPr>
          <p:cNvPr id="174" name="grid"/>
          <p:cNvSpPr/>
          <p:nvPr/>
        </p:nvSpPr>
        <p:spPr>
          <a:xfrm>
            <a:off x="11622024" y="4489704"/>
            <a:ext cx="265176" cy="265176"/>
          </a:xfrm>
          <a:prstGeom prst="roundRect">
            <a:avLst>
              <a:gd name="adj" fmla="val 10345"/>
            </a:avLst>
          </a:prstGeom>
          <a:solidFill>
            <a:srgbClr val="5FBF77"/>
          </a:solidFill>
          <a:ln w="12700">
            <a:solidFill>
              <a:srgbClr val="5FBF77"/>
            </a:solidFill>
            <a:prstDash val="solid"/>
          </a:ln>
        </p:spPr>
      </p:sp>
      <p:sp>
        <p:nvSpPr>
          <p:cNvPr id="175" name="grid"/>
          <p:cNvSpPr/>
          <p:nvPr/>
        </p:nvSpPr>
        <p:spPr>
          <a:xfrm>
            <a:off x="11622024" y="4818888"/>
            <a:ext cx="265176" cy="265176"/>
          </a:xfrm>
          <a:prstGeom prst="roundRect">
            <a:avLst>
              <a:gd name="adj" fmla="val 10345"/>
            </a:avLst>
          </a:prstGeom>
          <a:solidFill>
            <a:srgbClr val="1E7A38"/>
          </a:solidFill>
          <a:ln w="12700">
            <a:solidFill>
              <a:srgbClr val="1E7A38"/>
            </a:solidFill>
            <a:prstDash val="solid"/>
          </a:ln>
        </p:spPr>
      </p:sp>
      <p:sp>
        <p:nvSpPr>
          <p:cNvPr id="176" name="grid"/>
          <p:cNvSpPr/>
          <p:nvPr/>
        </p:nvSpPr>
        <p:spPr>
          <a:xfrm>
            <a:off x="11622024" y="5148072"/>
            <a:ext cx="265176" cy="265176"/>
          </a:xfrm>
          <a:prstGeom prst="roundRect">
            <a:avLst>
              <a:gd name="adj" fmla="val 10345"/>
            </a:avLst>
          </a:prstGeom>
          <a:solidFill>
            <a:srgbClr val="2DA44E"/>
          </a:solidFill>
          <a:ln w="12700">
            <a:solidFill>
              <a:srgbClr val="2DA44E"/>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What is GitPulse?</a:t>
            </a:r>
            <a:endParaRPr lang="en-US" sz="3400" dirty="0"/>
          </a:p>
        </p:txBody>
      </p:sp>
      <p:sp>
        <p:nvSpPr>
          <p:cNvPr id="3" name="Text 1"/>
          <p:cNvSpPr txBox="1"/>
          <p:nvPr/>
        </p:nvSpPr>
        <p:spPr>
          <a:xfrm>
            <a:off x="548640" y="1417320"/>
            <a:ext cx="5120640" cy="4206240"/>
          </a:xfrm>
          <a:prstGeom prst="rect">
            <a:avLst/>
          </a:prstGeom>
          <a:noFill/>
          <a:ln/>
        </p:spPr>
        <p:txBody>
          <a:bodyPr wrap="square" lIns="0" tIns="0" rIns="0" bIns="0" rtlCol="0" anchor="t"/>
          <a:lstStyle/>
          <a:p>
            <a:pPr algn="just" indent="0" marL="0">
              <a:spcAft>
                <a:spcPts val="1400"/>
              </a:spcAft>
              <a:buNone/>
            </a:pPr>
            <a:r>
              <a:rPr lang="en-US" sz="1900" dirty="0">
                <a:solidFill>
                  <a:srgbClr val="1F2937"/>
                </a:solidFill>
                <a:latin typeface="Times New Roman" pitchFamily="34" charset="0"/>
                <a:ea typeface="Times New Roman" pitchFamily="34" charset="-122"/>
                <a:cs typeface="Times New Roman" pitchFamily="34" charset="-120"/>
              </a:rPr>
              <a:t>Every action on GitHub, such as a push, a star, a pull request or a comment, is recorded as an event.</a:t>
            </a:r>
            <a:endParaRPr lang="en-US" sz="1900" dirty="0"/>
          </a:p>
          <a:p>
            <a:pPr algn="just" indent="0" marL="0">
              <a:spcAft>
                <a:spcPts val="1400"/>
              </a:spcAft>
              <a:buNone/>
            </a:pPr>
            <a:r>
              <a:rPr lang="en-US" sz="1900" dirty="0">
                <a:solidFill>
                  <a:srgbClr val="1F2937"/>
                </a:solidFill>
                <a:latin typeface="Times New Roman" pitchFamily="34" charset="0"/>
                <a:ea typeface="Times New Roman" pitchFamily="34" charset="-122"/>
                <a:cs typeface="Times New Roman" pitchFamily="34" charset="-120"/>
              </a:rPr>
              <a:t>GitPulse collects millions of these events and turns them into answers: which projects are trending, how much work bots do, and which repositories a developer might like next.</a:t>
            </a:r>
            <a:endParaRPr lang="en-US" sz="1900" dirty="0"/>
          </a:p>
          <a:p>
            <a:pPr algn="just" indent="0" marL="0">
              <a:spcAft>
                <a:spcPts val="1400"/>
              </a:spcAft>
              <a:buNone/>
            </a:pPr>
            <a:r>
              <a:rPr lang="en-US" sz="1900" dirty="0">
                <a:solidFill>
                  <a:srgbClr val="1F2937"/>
                </a:solidFill>
                <a:latin typeface="Times New Roman" pitchFamily="34" charset="0"/>
                <a:ea typeface="Times New Roman" pitchFamily="34" charset="-122"/>
                <a:cs typeface="Times New Roman" pitchFamily="34" charset="-120"/>
              </a:rPr>
              <a:t>It does this with a full big data stack: batch processing, a data warehouse, machine learning and a real-time stream.</a:t>
            </a:r>
            <a:endParaRPr lang="en-US" sz="1900" dirty="0"/>
          </a:p>
        </p:txBody>
      </p:sp>
      <p:sp>
        <p:nvSpPr>
          <p:cNvPr id="4" name="stat real GitHub events processed"/>
          <p:cNvSpPr/>
          <p:nvPr/>
        </p:nvSpPr>
        <p:spPr>
          <a:xfrm>
            <a:off x="6126480" y="1417320"/>
            <a:ext cx="2651760" cy="2011680"/>
          </a:xfrm>
          <a:prstGeom prst="roundRect">
            <a:avLst>
              <a:gd name="adj" fmla="val 5455"/>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309360" y="1554480"/>
            <a:ext cx="2286000" cy="1106424"/>
          </a:xfrm>
          <a:prstGeom prst="rect">
            <a:avLst/>
          </a:prstGeom>
          <a:noFill/>
          <a:ln/>
        </p:spPr>
        <p:txBody>
          <a:bodyPr wrap="square" lIns="0" tIns="0" rIns="0" bIns="0" rtlCol="0" anchor="ctr"/>
          <a:lstStyle/>
          <a:p>
            <a:pPr indent="0" marL="0">
              <a:buNone/>
            </a:pPr>
            <a:r>
              <a:rPr lang="en-US" sz="3600" b="1" dirty="0">
                <a:solidFill>
                  <a:srgbClr val="14213D"/>
                </a:solidFill>
                <a:latin typeface="Times New Roman" pitchFamily="34" charset="0"/>
                <a:ea typeface="Times New Roman" pitchFamily="34" charset="-122"/>
                <a:cs typeface="Times New Roman" pitchFamily="34" charset="-120"/>
              </a:rPr>
              <a:t>2.4 M</a:t>
            </a:r>
            <a:endParaRPr lang="en-US" sz="3600" dirty="0"/>
          </a:p>
        </p:txBody>
      </p:sp>
      <p:sp>
        <p:nvSpPr>
          <p:cNvPr id="6" name="Text 4"/>
          <p:cNvSpPr txBox="1"/>
          <p:nvPr/>
        </p:nvSpPr>
        <p:spPr>
          <a:xfrm>
            <a:off x="6309360" y="2624328"/>
            <a:ext cx="2286000" cy="704088"/>
          </a:xfrm>
          <a:prstGeom prst="rect">
            <a:avLst/>
          </a:prstGeom>
          <a:noFill/>
          <a:ln/>
        </p:spPr>
        <p:txBody>
          <a:bodyPr wrap="square" lIns="0" tIns="0" rIns="0" bIns="0" rtlCol="0" anchor="t"/>
          <a:lstStyle/>
          <a:p>
            <a:pPr indent="0" marL="0">
              <a:buNone/>
            </a:pPr>
            <a:r>
              <a:rPr lang="en-US" sz="1400" dirty="0">
                <a:solidFill>
                  <a:srgbClr val="4B5563"/>
                </a:solidFill>
                <a:latin typeface="Times New Roman" pitchFamily="34" charset="0"/>
                <a:ea typeface="Times New Roman" pitchFamily="34" charset="-122"/>
                <a:cs typeface="Times New Roman" pitchFamily="34" charset="-120"/>
              </a:rPr>
              <a:t>real GitHub events processed</a:t>
            </a:r>
            <a:endParaRPr lang="en-US" sz="1400" dirty="0"/>
          </a:p>
        </p:txBody>
      </p:sp>
      <p:sp>
        <p:nvSpPr>
          <p:cNvPr id="7" name="stat Hadoop-ecosystem tools, each doing one job"/>
          <p:cNvSpPr/>
          <p:nvPr/>
        </p:nvSpPr>
        <p:spPr>
          <a:xfrm>
            <a:off x="9006840" y="1417320"/>
            <a:ext cx="2651760" cy="2011680"/>
          </a:xfrm>
          <a:prstGeom prst="roundRect">
            <a:avLst>
              <a:gd name="adj" fmla="val 5455"/>
            </a:avLst>
          </a:prstGeom>
          <a:solidFill>
            <a:srgbClr val="E3F4E8"/>
          </a:solidFill>
          <a:ln w="12700">
            <a:solidFill>
              <a:srgbClr val="E3F4E8"/>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9189720" y="1554480"/>
            <a:ext cx="2286000" cy="1106424"/>
          </a:xfrm>
          <a:prstGeom prst="rect">
            <a:avLst/>
          </a:prstGeom>
          <a:noFill/>
          <a:ln/>
        </p:spPr>
        <p:txBody>
          <a:bodyPr wrap="square" lIns="0" tIns="0" rIns="0" bIns="0" rtlCol="0" anchor="ctr"/>
          <a:lstStyle/>
          <a:p>
            <a:pPr indent="0" marL="0">
              <a:buNone/>
            </a:pPr>
            <a:r>
              <a:rPr lang="en-US" sz="3600" b="1" dirty="0">
                <a:solidFill>
                  <a:srgbClr val="2DA44E"/>
                </a:solidFill>
                <a:latin typeface="Times New Roman" pitchFamily="34" charset="0"/>
                <a:ea typeface="Times New Roman" pitchFamily="34" charset="-122"/>
                <a:cs typeface="Times New Roman" pitchFamily="34" charset="-120"/>
              </a:rPr>
              <a:t>12</a:t>
            </a:r>
            <a:endParaRPr lang="en-US" sz="3600" dirty="0"/>
          </a:p>
        </p:txBody>
      </p:sp>
      <p:sp>
        <p:nvSpPr>
          <p:cNvPr id="9" name="Text 7"/>
          <p:cNvSpPr txBox="1"/>
          <p:nvPr/>
        </p:nvSpPr>
        <p:spPr>
          <a:xfrm>
            <a:off x="9189720" y="2624328"/>
            <a:ext cx="2286000" cy="704088"/>
          </a:xfrm>
          <a:prstGeom prst="rect">
            <a:avLst/>
          </a:prstGeom>
          <a:noFill/>
          <a:ln/>
        </p:spPr>
        <p:txBody>
          <a:bodyPr wrap="square" lIns="0" tIns="0" rIns="0" bIns="0" rtlCol="0" anchor="t"/>
          <a:lstStyle/>
          <a:p>
            <a:pPr indent="0" marL="0">
              <a:buNone/>
            </a:pPr>
            <a:r>
              <a:rPr lang="en-US" sz="1400" dirty="0">
                <a:solidFill>
                  <a:srgbClr val="4B5563"/>
                </a:solidFill>
                <a:latin typeface="Times New Roman" pitchFamily="34" charset="0"/>
                <a:ea typeface="Times New Roman" pitchFamily="34" charset="-122"/>
                <a:cs typeface="Times New Roman" pitchFamily="34" charset="-120"/>
              </a:rPr>
              <a:t>Hadoop-ecosystem tools, each doing one job</a:t>
            </a:r>
            <a:endParaRPr lang="en-US" sz="1400" dirty="0"/>
          </a:p>
        </p:txBody>
      </p:sp>
      <p:sp>
        <p:nvSpPr>
          <p:cNvPr id="10" name="stat analytical questions answered"/>
          <p:cNvSpPr/>
          <p:nvPr/>
        </p:nvSpPr>
        <p:spPr>
          <a:xfrm>
            <a:off x="6126480" y="3657600"/>
            <a:ext cx="2651760" cy="2011680"/>
          </a:xfrm>
          <a:prstGeom prst="roundRect">
            <a:avLst>
              <a:gd name="adj" fmla="val 5455"/>
            </a:avLst>
          </a:prstGeom>
          <a:solidFill>
            <a:srgbClr val="FBEBDD"/>
          </a:solidFill>
          <a:ln w="12700">
            <a:solidFill>
              <a:srgbClr val="FBEBDD"/>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6309360" y="3794760"/>
            <a:ext cx="2286000" cy="1106424"/>
          </a:xfrm>
          <a:prstGeom prst="rect">
            <a:avLst/>
          </a:prstGeom>
          <a:noFill/>
          <a:ln/>
        </p:spPr>
        <p:txBody>
          <a:bodyPr wrap="square" lIns="0" tIns="0" rIns="0" bIns="0" rtlCol="0" anchor="ctr"/>
          <a:lstStyle/>
          <a:p>
            <a:pPr indent="0" marL="0">
              <a:buNone/>
            </a:pPr>
            <a:r>
              <a:rPr lang="en-US" sz="3600" b="1" dirty="0">
                <a:solidFill>
                  <a:srgbClr val="D9822B"/>
                </a:solidFill>
                <a:latin typeface="Times New Roman" pitchFamily="34" charset="0"/>
                <a:ea typeface="Times New Roman" pitchFamily="34" charset="-122"/>
                <a:cs typeface="Times New Roman" pitchFamily="34" charset="-120"/>
              </a:rPr>
              <a:t>10</a:t>
            </a:r>
            <a:endParaRPr lang="en-US" sz="3600" dirty="0"/>
          </a:p>
        </p:txBody>
      </p:sp>
      <p:sp>
        <p:nvSpPr>
          <p:cNvPr id="12" name="Text 10"/>
          <p:cNvSpPr txBox="1"/>
          <p:nvPr/>
        </p:nvSpPr>
        <p:spPr>
          <a:xfrm>
            <a:off x="6309360" y="4864608"/>
            <a:ext cx="2286000" cy="704088"/>
          </a:xfrm>
          <a:prstGeom prst="rect">
            <a:avLst/>
          </a:prstGeom>
          <a:noFill/>
          <a:ln/>
        </p:spPr>
        <p:txBody>
          <a:bodyPr wrap="square" lIns="0" tIns="0" rIns="0" bIns="0" rtlCol="0" anchor="t"/>
          <a:lstStyle/>
          <a:p>
            <a:pPr indent="0" marL="0">
              <a:buNone/>
            </a:pPr>
            <a:r>
              <a:rPr lang="en-US" sz="1400" dirty="0">
                <a:solidFill>
                  <a:srgbClr val="4B5563"/>
                </a:solidFill>
                <a:latin typeface="Times New Roman" pitchFamily="34" charset="0"/>
                <a:ea typeface="Times New Roman" pitchFamily="34" charset="-122"/>
                <a:cs typeface="Times New Roman" pitchFamily="34" charset="-120"/>
              </a:rPr>
              <a:t>analytical questions answered</a:t>
            </a:r>
            <a:endParaRPr lang="en-US" sz="1400" dirty="0"/>
          </a:p>
        </p:txBody>
      </p:sp>
      <p:sp>
        <p:nvSpPr>
          <p:cNvPr id="13" name="stat whole cluster in Docker, 16 GB RAM"/>
          <p:cNvSpPr/>
          <p:nvPr/>
        </p:nvSpPr>
        <p:spPr>
          <a:xfrm>
            <a:off x="9006840" y="3657600"/>
            <a:ext cx="2651760" cy="2011680"/>
          </a:xfrm>
          <a:prstGeom prst="roundRect">
            <a:avLst>
              <a:gd name="adj" fmla="val 5455"/>
            </a:avLst>
          </a:prstGeom>
          <a:solidFill>
            <a:srgbClr val="F0E8F7"/>
          </a:solidFill>
          <a:ln w="12700">
            <a:solidFill>
              <a:srgbClr val="F0E8F7"/>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9189720" y="3794760"/>
            <a:ext cx="2286000" cy="1106424"/>
          </a:xfrm>
          <a:prstGeom prst="rect">
            <a:avLst/>
          </a:prstGeom>
          <a:noFill/>
          <a:ln/>
        </p:spPr>
        <p:txBody>
          <a:bodyPr wrap="square" lIns="0" tIns="0" rIns="0" bIns="0" rtlCol="0" anchor="ctr"/>
          <a:lstStyle/>
          <a:p>
            <a:pPr indent="0" marL="0">
              <a:buNone/>
            </a:pPr>
            <a:r>
              <a:rPr lang="en-US" sz="3600" b="1" dirty="0">
                <a:solidFill>
                  <a:srgbClr val="7A4FA3"/>
                </a:solidFill>
                <a:latin typeface="Times New Roman" pitchFamily="34" charset="0"/>
                <a:ea typeface="Times New Roman" pitchFamily="34" charset="-122"/>
                <a:cs typeface="Times New Roman" pitchFamily="34" charset="-120"/>
              </a:rPr>
              <a:t>1 laptop</a:t>
            </a:r>
            <a:endParaRPr lang="en-US" sz="3600" dirty="0"/>
          </a:p>
        </p:txBody>
      </p:sp>
      <p:sp>
        <p:nvSpPr>
          <p:cNvPr id="15" name="Text 13"/>
          <p:cNvSpPr txBox="1"/>
          <p:nvPr/>
        </p:nvSpPr>
        <p:spPr>
          <a:xfrm>
            <a:off x="9189720" y="4864608"/>
            <a:ext cx="2286000" cy="704088"/>
          </a:xfrm>
          <a:prstGeom prst="rect">
            <a:avLst/>
          </a:prstGeom>
          <a:noFill/>
          <a:ln/>
        </p:spPr>
        <p:txBody>
          <a:bodyPr wrap="square" lIns="0" tIns="0" rIns="0" bIns="0" rtlCol="0" anchor="t"/>
          <a:lstStyle/>
          <a:p>
            <a:pPr indent="0" marL="0">
              <a:buNone/>
            </a:pPr>
            <a:r>
              <a:rPr lang="en-US" sz="1400" dirty="0">
                <a:solidFill>
                  <a:srgbClr val="4B5563"/>
                </a:solidFill>
                <a:latin typeface="Times New Roman" pitchFamily="34" charset="0"/>
                <a:ea typeface="Times New Roman" pitchFamily="34" charset="-122"/>
                <a:cs typeface="Times New Roman" pitchFamily="34" charset="-120"/>
              </a:rPr>
              <a:t>whole cluster in Docker, 16 GB RAM</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The data we used</a:t>
            </a:r>
            <a:endParaRPr lang="en-US" sz="3400" dirty="0"/>
          </a:p>
        </p:txBody>
      </p:sp>
      <p:sp>
        <p:nvSpPr>
          <p:cNvPr id="3" name="card"/>
          <p:cNvSpPr/>
          <p:nvPr/>
        </p:nvSpPr>
        <p:spPr>
          <a:xfrm>
            <a:off x="548640" y="1371600"/>
            <a:ext cx="5394960" cy="2423160"/>
          </a:xfrm>
          <a:prstGeom prst="roundRect">
            <a:avLst>
              <a:gd name="adj" fmla="val 4528"/>
            </a:avLst>
          </a:prstGeom>
          <a:solidFill>
            <a:srgbClr val="FBEBDD"/>
          </a:solidFill>
          <a:ln w="12700">
            <a:solidFill>
              <a:srgbClr val="FBEBDD"/>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822960" y="1508760"/>
            <a:ext cx="4846320" cy="457200"/>
          </a:xfrm>
          <a:prstGeom prst="rect">
            <a:avLst/>
          </a:prstGeom>
          <a:noFill/>
          <a:ln/>
        </p:spPr>
        <p:txBody>
          <a:bodyPr wrap="square" lIns="0" tIns="0" rIns="0" bIns="0" rtlCol="0" anchor="t"/>
          <a:lstStyle/>
          <a:p>
            <a:pPr indent="0" marL="0">
              <a:buNone/>
            </a:pPr>
            <a:r>
              <a:rPr lang="en-US" sz="2400" b="1" dirty="0">
                <a:solidFill>
                  <a:srgbClr val="D9822B"/>
                </a:solidFill>
                <a:latin typeface="Times New Roman" pitchFamily="34" charset="0"/>
                <a:ea typeface="Times New Roman" pitchFamily="34" charset="-122"/>
                <a:cs typeface="Times New Roman" pitchFamily="34" charset="-120"/>
              </a:rPr>
              <a:t>GH Archive</a:t>
            </a:r>
            <a:endParaRPr lang="en-US" sz="2400" dirty="0"/>
          </a:p>
        </p:txBody>
      </p:sp>
      <p:sp>
        <p:nvSpPr>
          <p:cNvPr id="5" name="Text 3"/>
          <p:cNvSpPr txBox="1"/>
          <p:nvPr/>
        </p:nvSpPr>
        <p:spPr>
          <a:xfrm>
            <a:off x="822960" y="2011680"/>
            <a:ext cx="4846320" cy="1645920"/>
          </a:xfrm>
          <a:prstGeom prst="rect">
            <a:avLst/>
          </a:prstGeom>
          <a:noFill/>
          <a:ln/>
        </p:spPr>
        <p:txBody>
          <a:bodyPr wrap="square" lIns="0" tIns="0" rIns="0" bIns="0" rtlCol="0" anchor="t"/>
          <a:lstStyle/>
          <a:p>
            <a:pPr algn="just" indent="0" marL="0">
              <a:buNone/>
            </a:pPr>
            <a:r>
              <a:rPr lang="en-US" sz="1600" dirty="0">
                <a:solidFill>
                  <a:srgbClr val="1F2937"/>
                </a:solidFill>
                <a:latin typeface="Times New Roman" pitchFamily="34" charset="0"/>
                <a:ea typeface="Times New Roman" pitchFamily="34" charset="-122"/>
                <a:cs typeface="Times New Roman" pitchFamily="34" charset="-120"/>
              </a:rPr>
              <a:t>A public record of every GitHub event, published as one compressed JSON file per hour. About 167,000 events per hour. We used September 2025, before GitHub trimmed event details.</a:t>
            </a:r>
            <a:endParaRPr lang="en-US" sz="1600" dirty="0"/>
          </a:p>
        </p:txBody>
      </p:sp>
      <p:sp>
        <p:nvSpPr>
          <p:cNvPr id="6" name="card"/>
          <p:cNvSpPr/>
          <p:nvPr/>
        </p:nvSpPr>
        <p:spPr>
          <a:xfrm>
            <a:off x="548640" y="3977640"/>
            <a:ext cx="5394960" cy="2103120"/>
          </a:xfrm>
          <a:prstGeom prst="roundRect">
            <a:avLst>
              <a:gd name="adj" fmla="val 5217"/>
            </a:avLst>
          </a:prstGeom>
          <a:solidFill>
            <a:srgbClr val="E3F4E8"/>
          </a:solidFill>
          <a:ln w="12700">
            <a:solidFill>
              <a:srgbClr val="E3F4E8"/>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822960" y="4114800"/>
            <a:ext cx="4846320" cy="457200"/>
          </a:xfrm>
          <a:prstGeom prst="rect">
            <a:avLst/>
          </a:prstGeom>
          <a:noFill/>
          <a:ln/>
        </p:spPr>
        <p:txBody>
          <a:bodyPr wrap="square" lIns="0" tIns="0" rIns="0" bIns="0" rtlCol="0" anchor="t"/>
          <a:lstStyle/>
          <a:p>
            <a:pPr indent="0" marL="0">
              <a:buNone/>
            </a:pPr>
            <a:r>
              <a:rPr lang="en-US" sz="2400" b="1" dirty="0">
                <a:solidFill>
                  <a:srgbClr val="2DA44E"/>
                </a:solidFill>
                <a:latin typeface="Times New Roman" pitchFamily="34" charset="0"/>
                <a:ea typeface="Times New Roman" pitchFamily="34" charset="-122"/>
                <a:cs typeface="Times New Roman" pitchFamily="34" charset="-120"/>
              </a:rPr>
              <a:t>GitHub REST API</a:t>
            </a:r>
            <a:endParaRPr lang="en-US" sz="2400" dirty="0"/>
          </a:p>
        </p:txBody>
      </p:sp>
      <p:sp>
        <p:nvSpPr>
          <p:cNvPr id="8" name="Text 6"/>
          <p:cNvSpPr txBox="1"/>
          <p:nvPr/>
        </p:nvSpPr>
        <p:spPr>
          <a:xfrm>
            <a:off x="822960" y="4617720"/>
            <a:ext cx="4846320" cy="1371600"/>
          </a:xfrm>
          <a:prstGeom prst="rect">
            <a:avLst/>
          </a:prstGeom>
          <a:noFill/>
          <a:ln/>
        </p:spPr>
        <p:txBody>
          <a:bodyPr wrap="square" lIns="0" tIns="0" rIns="0" bIns="0" rtlCol="0" anchor="t"/>
          <a:lstStyle/>
          <a:p>
            <a:pPr algn="just" indent="0" marL="0">
              <a:buNone/>
            </a:pPr>
            <a:r>
              <a:rPr lang="en-US" sz="1600" dirty="0">
                <a:solidFill>
                  <a:srgbClr val="1F2937"/>
                </a:solidFill>
                <a:latin typeface="Times New Roman" pitchFamily="34" charset="0"/>
                <a:ea typeface="Times New Roman" pitchFamily="34" charset="-122"/>
                <a:cs typeface="Times New Roman" pitchFamily="34" charset="-120"/>
              </a:rPr>
              <a:t>Details for each repository: language, stars, forks, topics and creation date. Responses are cached so we stay inside the API rate limit.</a:t>
            </a:r>
            <a:endParaRPr lang="en-US" sz="1600" dirty="0"/>
          </a:p>
        </p:txBody>
      </p:sp>
      <p:sp>
        <p:nvSpPr>
          <p:cNvPr id="9" name="Text 7"/>
          <p:cNvSpPr txBox="1"/>
          <p:nvPr/>
        </p:nvSpPr>
        <p:spPr>
          <a:xfrm>
            <a:off x="6400800" y="1371600"/>
            <a:ext cx="5212080" cy="411480"/>
          </a:xfrm>
          <a:prstGeom prst="rect">
            <a:avLst/>
          </a:prstGeom>
          <a:noFill/>
          <a:ln/>
        </p:spPr>
        <p:txBody>
          <a:bodyPr wrap="square" lIns="0" tIns="0" rIns="0" bIns="0" rtlCol="0" anchor="t"/>
          <a:lstStyle/>
          <a:p>
            <a:pPr indent="0" marL="0">
              <a:buNone/>
            </a:pPr>
            <a:r>
              <a:rPr lang="en-US" sz="1800" b="1" dirty="0">
                <a:solidFill>
                  <a:srgbClr val="14213D"/>
                </a:solidFill>
                <a:latin typeface="Times New Roman" pitchFamily="34" charset="0"/>
                <a:ea typeface="Times New Roman" pitchFamily="34" charset="-122"/>
                <a:cs typeface="Times New Roman" pitchFamily="34" charset="-120"/>
              </a:rPr>
              <a:t>What one event looks like</a:t>
            </a:r>
            <a:endParaRPr lang="en-US" sz="1800" dirty="0"/>
          </a:p>
        </p:txBody>
      </p:sp>
      <p:sp>
        <p:nvSpPr>
          <p:cNvPr id="10" name="card"/>
          <p:cNvSpPr/>
          <p:nvPr/>
        </p:nvSpPr>
        <p:spPr>
          <a:xfrm>
            <a:off x="6400800" y="1874520"/>
            <a:ext cx="5212080" cy="658368"/>
          </a:xfrm>
          <a:prstGeom prst="roundRect">
            <a:avLst>
              <a:gd name="adj" fmla="val 16667"/>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1" name="Text 9"/>
          <p:cNvSpPr txBox="1"/>
          <p:nvPr/>
        </p:nvSpPr>
        <p:spPr>
          <a:xfrm>
            <a:off x="6583680" y="1874520"/>
            <a:ext cx="1463040" cy="658368"/>
          </a:xfrm>
          <a:prstGeom prst="rect">
            <a:avLst/>
          </a:prstGeom>
          <a:noFill/>
          <a:ln/>
        </p:spPr>
        <p:txBody>
          <a:bodyPr wrap="square" lIns="0" tIns="0" rIns="0" bIns="0" rtlCol="0" anchor="ctr"/>
          <a:lstStyle/>
          <a:p>
            <a:pPr indent="0" marL="0">
              <a:buNone/>
            </a:pPr>
            <a:r>
              <a:rPr lang="en-US" sz="1600" b="1" dirty="0">
                <a:solidFill>
                  <a:srgbClr val="14213D"/>
                </a:solidFill>
                <a:latin typeface="Times New Roman" pitchFamily="34" charset="0"/>
                <a:ea typeface="Times New Roman" pitchFamily="34" charset="-122"/>
                <a:cs typeface="Times New Roman" pitchFamily="34" charset="-120"/>
              </a:rPr>
              <a:t>type</a:t>
            </a:r>
            <a:endParaRPr lang="en-US" sz="1600" dirty="0"/>
          </a:p>
        </p:txBody>
      </p:sp>
      <p:sp>
        <p:nvSpPr>
          <p:cNvPr id="12" name="Text 10"/>
          <p:cNvSpPr txBox="1"/>
          <p:nvPr/>
        </p:nvSpPr>
        <p:spPr>
          <a:xfrm>
            <a:off x="8046720" y="1874520"/>
            <a:ext cx="3474720" cy="658368"/>
          </a:xfrm>
          <a:prstGeom prst="rect">
            <a:avLst/>
          </a:prstGeom>
          <a:noFill/>
          <a:ln/>
        </p:spPr>
        <p:txBody>
          <a:bodyPr wrap="square" lIns="0" tIns="0" rIns="0" bIns="0" rtlCol="0" anchor="ct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WatchEvent (someone starred a repo)</a:t>
            </a:r>
            <a:endParaRPr lang="en-US" sz="1500" dirty="0"/>
          </a:p>
        </p:txBody>
      </p:sp>
      <p:sp>
        <p:nvSpPr>
          <p:cNvPr id="13" name="card"/>
          <p:cNvSpPr/>
          <p:nvPr/>
        </p:nvSpPr>
        <p:spPr>
          <a:xfrm>
            <a:off x="6400800" y="2679192"/>
            <a:ext cx="5212080" cy="658368"/>
          </a:xfrm>
          <a:prstGeom prst="roundRect">
            <a:avLst>
              <a:gd name="adj" fmla="val 16667"/>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4" name="Text 12"/>
          <p:cNvSpPr txBox="1"/>
          <p:nvPr/>
        </p:nvSpPr>
        <p:spPr>
          <a:xfrm>
            <a:off x="6583680" y="2679192"/>
            <a:ext cx="1463040" cy="658368"/>
          </a:xfrm>
          <a:prstGeom prst="rect">
            <a:avLst/>
          </a:prstGeom>
          <a:noFill/>
          <a:ln/>
        </p:spPr>
        <p:txBody>
          <a:bodyPr wrap="square" lIns="0" tIns="0" rIns="0" bIns="0" rtlCol="0" anchor="ctr"/>
          <a:lstStyle/>
          <a:p>
            <a:pPr indent="0" marL="0">
              <a:buNone/>
            </a:pPr>
            <a:r>
              <a:rPr lang="en-US" sz="1600" b="1" dirty="0">
                <a:solidFill>
                  <a:srgbClr val="14213D"/>
                </a:solidFill>
                <a:latin typeface="Times New Roman" pitchFamily="34" charset="0"/>
                <a:ea typeface="Times New Roman" pitchFamily="34" charset="-122"/>
                <a:cs typeface="Times New Roman" pitchFamily="34" charset="-120"/>
              </a:rPr>
              <a:t>actor</a:t>
            </a:r>
            <a:endParaRPr lang="en-US" sz="1600" dirty="0"/>
          </a:p>
        </p:txBody>
      </p:sp>
      <p:sp>
        <p:nvSpPr>
          <p:cNvPr id="15" name="Text 13"/>
          <p:cNvSpPr txBox="1"/>
          <p:nvPr/>
        </p:nvSpPr>
        <p:spPr>
          <a:xfrm>
            <a:off x="8046720" y="2679192"/>
            <a:ext cx="3474720" cy="658368"/>
          </a:xfrm>
          <a:prstGeom prst="rect">
            <a:avLst/>
          </a:prstGeom>
          <a:noFill/>
          <a:ln/>
        </p:spPr>
        <p:txBody>
          <a:bodyPr wrap="square" lIns="0" tIns="0" rIns="0" bIns="0" rtlCol="0" anchor="ct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the user, for example octocat</a:t>
            </a:r>
            <a:endParaRPr lang="en-US" sz="1500" dirty="0"/>
          </a:p>
        </p:txBody>
      </p:sp>
      <p:sp>
        <p:nvSpPr>
          <p:cNvPr id="16" name="card"/>
          <p:cNvSpPr/>
          <p:nvPr/>
        </p:nvSpPr>
        <p:spPr>
          <a:xfrm>
            <a:off x="6400800" y="3483864"/>
            <a:ext cx="5212080" cy="658368"/>
          </a:xfrm>
          <a:prstGeom prst="roundRect">
            <a:avLst>
              <a:gd name="adj" fmla="val 16667"/>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7" name="Text 15"/>
          <p:cNvSpPr txBox="1"/>
          <p:nvPr/>
        </p:nvSpPr>
        <p:spPr>
          <a:xfrm>
            <a:off x="6583680" y="3483864"/>
            <a:ext cx="1463040" cy="658368"/>
          </a:xfrm>
          <a:prstGeom prst="rect">
            <a:avLst/>
          </a:prstGeom>
          <a:noFill/>
          <a:ln/>
        </p:spPr>
        <p:txBody>
          <a:bodyPr wrap="square" lIns="0" tIns="0" rIns="0" bIns="0" rtlCol="0" anchor="ctr"/>
          <a:lstStyle/>
          <a:p>
            <a:pPr indent="0" marL="0">
              <a:buNone/>
            </a:pPr>
            <a:r>
              <a:rPr lang="en-US" sz="1600" b="1" dirty="0">
                <a:solidFill>
                  <a:srgbClr val="14213D"/>
                </a:solidFill>
                <a:latin typeface="Times New Roman" pitchFamily="34" charset="0"/>
                <a:ea typeface="Times New Roman" pitchFamily="34" charset="-122"/>
                <a:cs typeface="Times New Roman" pitchFamily="34" charset="-120"/>
              </a:rPr>
              <a:t>repo</a:t>
            </a:r>
            <a:endParaRPr lang="en-US" sz="1600" dirty="0"/>
          </a:p>
        </p:txBody>
      </p:sp>
      <p:sp>
        <p:nvSpPr>
          <p:cNvPr id="18" name="Text 16"/>
          <p:cNvSpPr txBox="1"/>
          <p:nvPr/>
        </p:nvSpPr>
        <p:spPr>
          <a:xfrm>
            <a:off x="8046720" y="3483864"/>
            <a:ext cx="3474720" cy="658368"/>
          </a:xfrm>
          <a:prstGeom prst="rect">
            <a:avLst/>
          </a:prstGeom>
          <a:noFill/>
          <a:ln/>
        </p:spPr>
        <p:txBody>
          <a:bodyPr wrap="square" lIns="0" tIns="0" rIns="0" bIns="0" rtlCol="0" anchor="ct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owner/name of the repository</a:t>
            </a:r>
            <a:endParaRPr lang="en-US" sz="1500" dirty="0"/>
          </a:p>
        </p:txBody>
      </p:sp>
      <p:sp>
        <p:nvSpPr>
          <p:cNvPr id="19" name="card"/>
          <p:cNvSpPr/>
          <p:nvPr/>
        </p:nvSpPr>
        <p:spPr>
          <a:xfrm>
            <a:off x="6400800" y="4288536"/>
            <a:ext cx="5212080" cy="658368"/>
          </a:xfrm>
          <a:prstGeom prst="roundRect">
            <a:avLst>
              <a:gd name="adj" fmla="val 16667"/>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20" name="Text 18"/>
          <p:cNvSpPr txBox="1"/>
          <p:nvPr/>
        </p:nvSpPr>
        <p:spPr>
          <a:xfrm>
            <a:off x="6583680" y="4288536"/>
            <a:ext cx="1463040" cy="658368"/>
          </a:xfrm>
          <a:prstGeom prst="rect">
            <a:avLst/>
          </a:prstGeom>
          <a:noFill/>
          <a:ln/>
        </p:spPr>
        <p:txBody>
          <a:bodyPr wrap="square" lIns="0" tIns="0" rIns="0" bIns="0" rtlCol="0" anchor="ctr"/>
          <a:lstStyle/>
          <a:p>
            <a:pPr indent="0" marL="0">
              <a:buNone/>
            </a:pPr>
            <a:r>
              <a:rPr lang="en-US" sz="1600" b="1" dirty="0">
                <a:solidFill>
                  <a:srgbClr val="14213D"/>
                </a:solidFill>
                <a:latin typeface="Times New Roman" pitchFamily="34" charset="0"/>
                <a:ea typeface="Times New Roman" pitchFamily="34" charset="-122"/>
                <a:cs typeface="Times New Roman" pitchFamily="34" charset="-120"/>
              </a:rPr>
              <a:t>created_at</a:t>
            </a:r>
            <a:endParaRPr lang="en-US" sz="1600" dirty="0"/>
          </a:p>
        </p:txBody>
      </p:sp>
      <p:sp>
        <p:nvSpPr>
          <p:cNvPr id="21" name="Text 19"/>
          <p:cNvSpPr txBox="1"/>
          <p:nvPr/>
        </p:nvSpPr>
        <p:spPr>
          <a:xfrm>
            <a:off x="8046720" y="4288536"/>
            <a:ext cx="3474720" cy="658368"/>
          </a:xfrm>
          <a:prstGeom prst="rect">
            <a:avLst/>
          </a:prstGeom>
          <a:noFill/>
          <a:ln/>
        </p:spPr>
        <p:txBody>
          <a:bodyPr wrap="square" lIns="0" tIns="0" rIns="0" bIns="0" rtlCol="0" anchor="ct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2025-09-01 12:04:31 UTC</a:t>
            </a:r>
            <a:endParaRPr lang="en-US" sz="1500" dirty="0"/>
          </a:p>
        </p:txBody>
      </p:sp>
      <p:sp>
        <p:nvSpPr>
          <p:cNvPr id="22" name="card"/>
          <p:cNvSpPr/>
          <p:nvPr/>
        </p:nvSpPr>
        <p:spPr>
          <a:xfrm>
            <a:off x="6400800" y="5093208"/>
            <a:ext cx="5212080" cy="658368"/>
          </a:xfrm>
          <a:prstGeom prst="roundRect">
            <a:avLst>
              <a:gd name="adj" fmla="val 16667"/>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23" name="Text 21"/>
          <p:cNvSpPr txBox="1"/>
          <p:nvPr/>
        </p:nvSpPr>
        <p:spPr>
          <a:xfrm>
            <a:off x="6583680" y="5093208"/>
            <a:ext cx="1463040" cy="658368"/>
          </a:xfrm>
          <a:prstGeom prst="rect">
            <a:avLst/>
          </a:prstGeom>
          <a:noFill/>
          <a:ln/>
        </p:spPr>
        <p:txBody>
          <a:bodyPr wrap="square" lIns="0" tIns="0" rIns="0" bIns="0" rtlCol="0" anchor="ctr"/>
          <a:lstStyle/>
          <a:p>
            <a:pPr indent="0" marL="0">
              <a:buNone/>
            </a:pPr>
            <a:r>
              <a:rPr lang="en-US" sz="1600" b="1" dirty="0">
                <a:solidFill>
                  <a:srgbClr val="14213D"/>
                </a:solidFill>
                <a:latin typeface="Times New Roman" pitchFamily="34" charset="0"/>
                <a:ea typeface="Times New Roman" pitchFamily="34" charset="-122"/>
                <a:cs typeface="Times New Roman" pitchFamily="34" charset="-120"/>
              </a:rPr>
              <a:t>payload</a:t>
            </a:r>
            <a:endParaRPr lang="en-US" sz="1600" dirty="0"/>
          </a:p>
        </p:txBody>
      </p:sp>
      <p:sp>
        <p:nvSpPr>
          <p:cNvPr id="24" name="Text 22"/>
          <p:cNvSpPr txBox="1"/>
          <p:nvPr/>
        </p:nvSpPr>
        <p:spPr>
          <a:xfrm>
            <a:off x="8046720" y="5093208"/>
            <a:ext cx="3474720" cy="658368"/>
          </a:xfrm>
          <a:prstGeom prst="rect">
            <a:avLst/>
          </a:prstGeom>
          <a:noFill/>
          <a:ln/>
        </p:spPr>
        <p:txBody>
          <a:bodyPr wrap="square" lIns="0" tIns="0" rIns="0" bIns="0" rtlCol="0" anchor="ct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details: commits, PR number, comment</a:t>
            </a:r>
            <a:endParaRPr lang="en-US" sz="1500" dirty="0"/>
          </a:p>
        </p:txBody>
      </p:sp>
      <p:sp>
        <p:nvSpPr>
          <p:cNvPr id="25" name="Text 23"/>
          <p:cNvSpPr txBox="1"/>
          <p:nvPr/>
        </p:nvSpPr>
        <p:spPr>
          <a:xfrm>
            <a:off x="6400800" y="5897880"/>
            <a:ext cx="5212080" cy="365760"/>
          </a:xfrm>
          <a:prstGeom prst="rect">
            <a:avLst/>
          </a:prstGeom>
          <a:noFill/>
          <a:ln/>
        </p:spPr>
        <p:txBody>
          <a:bodyPr wrap="square" lIns="0" tIns="0" rIns="0" bIns="0" rtlCol="0" anchor="t"/>
          <a:lstStyle/>
          <a:p>
            <a:pPr indent="0" marL="0">
              <a:buNone/>
            </a:pPr>
            <a:r>
              <a:rPr lang="en-US" sz="1500" i="1" dirty="0">
                <a:solidFill>
                  <a:srgbClr val="4B5563"/>
                </a:solidFill>
                <a:latin typeface="Times New Roman" pitchFamily="34" charset="0"/>
                <a:ea typeface="Times New Roman" pitchFamily="34" charset="-122"/>
                <a:cs typeface="Times New Roman" pitchFamily="34" charset="-120"/>
              </a:rPr>
              <a:t>15 hours loaded: 2,397,993 events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Ten questions the project answers</a:t>
            </a:r>
            <a:endParaRPr lang="en-US" sz="3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822960"/>
                <a:gridCol w="6309360"/>
                <a:gridCol w="3931920"/>
              </a:tblGrid>
              <a:tr h="429768">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Question</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latin typeface="Times New Roman" pitchFamily="34" charset="0"/>
                          <a:ea typeface="Times New Roman" pitchFamily="34" charset="-122"/>
                          <a:cs typeface="Times New Roman" pitchFamily="34" charset="-120"/>
                        </a:rPr>
                        <a:t>Tools used</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14213D"/>
                    </a:solidFill>
                  </a:tcPr>
                </a:tc>
              </a:tr>
              <a:tr h="429768">
                <a:tc>
                  <a:txBody>
                    <a:bodyPr/>
                    <a:lstStyle/>
                    <a:p>
                      <a:pPr indent="0" marL="0">
                        <a:buNone/>
                      </a:pPr>
                      <a:r>
                        <a:rPr lang="en-US" sz="1500" b="1" dirty="0">
                          <a:solidFill>
                            <a:srgbClr val="2DA44E"/>
                          </a:solidFill>
                          <a:latin typeface="Times New Roman" pitchFamily="34" charset="0"/>
                          <a:ea typeface="Times New Roman" pitchFamily="34" charset="-122"/>
                          <a:cs typeface="Times New Roman" pitchFamily="34" charset="-120"/>
                        </a:rPr>
                        <a:t>Q1</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Which repositories are trending each day?</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indent="0" marL="0">
                        <a:buNone/>
                      </a:pPr>
                      <a:r>
                        <a:rPr lang="en-US" sz="1500" dirty="0">
                          <a:solidFill>
                            <a:srgbClr val="4B5563"/>
                          </a:solidFill>
                          <a:latin typeface="Times New Roman" pitchFamily="34" charset="0"/>
                          <a:ea typeface="Times New Roman" pitchFamily="34" charset="-122"/>
                          <a:cs typeface="Times New Roman" pitchFamily="34" charset="-120"/>
                        </a:rPr>
                        <a:t>MapReduce, Hive, Sqoop</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r>
              <a:tr h="429768">
                <a:tc>
                  <a:txBody>
                    <a:bodyPr/>
                    <a:lstStyle/>
                    <a:p>
                      <a:pPr indent="0" marL="0">
                        <a:buNone/>
                      </a:pPr>
                      <a:r>
                        <a:rPr lang="en-US" sz="1500" b="1" dirty="0">
                          <a:solidFill>
                            <a:srgbClr val="2DA44E"/>
                          </a:solidFill>
                          <a:latin typeface="Times New Roman" pitchFamily="34" charset="0"/>
                          <a:ea typeface="Times New Roman" pitchFamily="34" charset="-122"/>
                          <a:cs typeface="Times New Roman" pitchFamily="34" charset="-120"/>
                        </a:rPr>
                        <a:t>Q2</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Which languages and topics are growing?</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4B5563"/>
                          </a:solidFill>
                          <a:latin typeface="Times New Roman" pitchFamily="34" charset="0"/>
                          <a:ea typeface="Times New Roman" pitchFamily="34" charset="-122"/>
                          <a:cs typeface="Times New Roman" pitchFamily="34" charset="-120"/>
                        </a:rPr>
                        <a:t>Sqoop, Hive, Impala</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29768">
                <a:tc>
                  <a:txBody>
                    <a:bodyPr/>
                    <a:lstStyle/>
                    <a:p>
                      <a:pPr indent="0" marL="0">
                        <a:buNone/>
                      </a:pPr>
                      <a:r>
                        <a:rPr lang="en-US" sz="1500" b="1" dirty="0">
                          <a:solidFill>
                            <a:srgbClr val="2DA44E"/>
                          </a:solidFill>
                          <a:latin typeface="Times New Roman" pitchFamily="34" charset="0"/>
                          <a:ea typeface="Times New Roman" pitchFamily="34" charset="-122"/>
                          <a:cs typeface="Times New Roman" pitchFamily="34" charset="-120"/>
                        </a:rPr>
                        <a:t>Q3</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When is GitHub busiest (UTC vs IST)?</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indent="0" marL="0">
                        <a:buNone/>
                      </a:pPr>
                      <a:r>
                        <a:rPr lang="en-US" sz="1500" dirty="0">
                          <a:solidFill>
                            <a:srgbClr val="4B5563"/>
                          </a:solidFill>
                          <a:latin typeface="Times New Roman" pitchFamily="34" charset="0"/>
                          <a:ea typeface="Times New Roman" pitchFamily="34" charset="-122"/>
                          <a:cs typeface="Times New Roman" pitchFamily="34" charset="-120"/>
                        </a:rPr>
                        <a:t>Hive, Impala</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r>
              <a:tr h="429768">
                <a:tc>
                  <a:txBody>
                    <a:bodyPr/>
                    <a:lstStyle/>
                    <a:p>
                      <a:pPr indent="0" marL="0">
                        <a:buNone/>
                      </a:pPr>
                      <a:r>
                        <a:rPr lang="en-US" sz="1500" b="1" dirty="0">
                          <a:solidFill>
                            <a:srgbClr val="2DA44E"/>
                          </a:solidFill>
                          <a:latin typeface="Times New Roman" pitchFamily="34" charset="0"/>
                          <a:ea typeface="Times New Roman" pitchFamily="34" charset="-122"/>
                          <a:cs typeface="Times New Roman" pitchFamily="34" charset="-120"/>
                        </a:rPr>
                        <a:t>Q4</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How much activity comes from bots?</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4B5563"/>
                          </a:solidFill>
                          <a:latin typeface="Times New Roman" pitchFamily="34" charset="0"/>
                          <a:ea typeface="Times New Roman" pitchFamily="34" charset="-122"/>
                          <a:cs typeface="Times New Roman" pitchFamily="34" charset="-120"/>
                        </a:rPr>
                        <a:t>Pig, Hive</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29768">
                <a:tc>
                  <a:txBody>
                    <a:bodyPr/>
                    <a:lstStyle/>
                    <a:p>
                      <a:pPr indent="0" marL="0">
                        <a:buNone/>
                      </a:pPr>
                      <a:r>
                        <a:rPr lang="en-US" sz="1500" b="1" dirty="0">
                          <a:solidFill>
                            <a:srgbClr val="2DA44E"/>
                          </a:solidFill>
                          <a:latin typeface="Times New Roman" pitchFamily="34" charset="0"/>
                          <a:ea typeface="Times New Roman" pitchFamily="34" charset="-122"/>
                          <a:cs typeface="Times New Roman" pitchFamily="34" charset="-120"/>
                        </a:rPr>
                        <a:t>Q5</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How healthy are maintainers (PR merge time)?</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indent="0" marL="0">
                        <a:buNone/>
                      </a:pPr>
                      <a:r>
                        <a:rPr lang="en-US" sz="1500" dirty="0">
                          <a:solidFill>
                            <a:srgbClr val="4B5563"/>
                          </a:solidFill>
                          <a:latin typeface="Times New Roman" pitchFamily="34" charset="0"/>
                          <a:ea typeface="Times New Roman" pitchFamily="34" charset="-122"/>
                          <a:cs typeface="Times New Roman" pitchFamily="34" charset="-120"/>
                        </a:rPr>
                        <a:t>Hive</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r>
              <a:tr h="429768">
                <a:tc>
                  <a:txBody>
                    <a:bodyPr/>
                    <a:lstStyle/>
                    <a:p>
                      <a:pPr indent="0" marL="0">
                        <a:buNone/>
                      </a:pPr>
                      <a:r>
                        <a:rPr lang="en-US" sz="1500" b="1" dirty="0">
                          <a:solidFill>
                            <a:srgbClr val="2DA44E"/>
                          </a:solidFill>
                          <a:latin typeface="Times New Roman" pitchFamily="34" charset="0"/>
                          <a:ea typeface="Times New Roman" pitchFamily="34" charset="-122"/>
                          <a:cs typeface="Times New Roman" pitchFamily="34" charset="-120"/>
                        </a:rPr>
                        <a:t>Q6</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Solo projects or community projects?</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4B5563"/>
                          </a:solidFill>
                          <a:latin typeface="Times New Roman" pitchFamily="34" charset="0"/>
                          <a:ea typeface="Times New Roman" pitchFamily="34" charset="-122"/>
                          <a:cs typeface="Times New Roman" pitchFamily="34" charset="-120"/>
                        </a:rPr>
                        <a:t>Spark</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29768">
                <a:tc>
                  <a:txBody>
                    <a:bodyPr/>
                    <a:lstStyle/>
                    <a:p>
                      <a:pPr indent="0" marL="0">
                        <a:buNone/>
                      </a:pPr>
                      <a:r>
                        <a:rPr lang="en-US" sz="1500" b="1" dirty="0">
                          <a:solidFill>
                            <a:srgbClr val="2DA44E"/>
                          </a:solidFill>
                          <a:latin typeface="Times New Roman" pitchFamily="34" charset="0"/>
                          <a:ea typeface="Times New Roman" pitchFamily="34" charset="-122"/>
                          <a:cs typeface="Times New Roman" pitchFamily="34" charset="-120"/>
                        </a:rPr>
                        <a:t>Q7</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Starred X? You may like Y</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indent="0" marL="0">
                        <a:buNone/>
                      </a:pPr>
                      <a:r>
                        <a:rPr lang="en-US" sz="1500" dirty="0">
                          <a:solidFill>
                            <a:srgbClr val="4B5563"/>
                          </a:solidFill>
                          <a:latin typeface="Times New Roman" pitchFamily="34" charset="0"/>
                          <a:ea typeface="Times New Roman" pitchFamily="34" charset="-122"/>
                          <a:cs typeface="Times New Roman" pitchFamily="34" charset="-120"/>
                        </a:rPr>
                        <a:t>Mahout, Spark ALS, HBase</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r>
              <a:tr h="429768">
                <a:tc>
                  <a:txBody>
                    <a:bodyPr/>
                    <a:lstStyle/>
                    <a:p>
                      <a:pPr indent="0" marL="0">
                        <a:buNone/>
                      </a:pPr>
                      <a:r>
                        <a:rPr lang="en-US" sz="1500" b="1" dirty="0">
                          <a:solidFill>
                            <a:srgbClr val="2DA44E"/>
                          </a:solidFill>
                          <a:latin typeface="Times New Roman" pitchFamily="34" charset="0"/>
                          <a:ea typeface="Times New Roman" pitchFamily="34" charset="-122"/>
                          <a:cs typeface="Times New Roman" pitchFamily="34" charset="-120"/>
                        </a:rPr>
                        <a:t>Q8</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Will a new repository go viral?</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4B5563"/>
                          </a:solidFill>
                          <a:latin typeface="Times New Roman" pitchFamily="34" charset="0"/>
                          <a:ea typeface="Times New Roman" pitchFamily="34" charset="-122"/>
                          <a:cs typeface="Times New Roman" pitchFamily="34" charset="-120"/>
                        </a:rPr>
                        <a:t>Spark MLlib</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r h="429768">
                <a:tc>
                  <a:txBody>
                    <a:bodyPr/>
                    <a:lstStyle/>
                    <a:p>
                      <a:pPr indent="0" marL="0">
                        <a:buNone/>
                      </a:pPr>
                      <a:r>
                        <a:rPr lang="en-US" sz="1500" b="1" dirty="0">
                          <a:solidFill>
                            <a:srgbClr val="2DA44E"/>
                          </a:solidFill>
                          <a:latin typeface="Times New Roman" pitchFamily="34" charset="0"/>
                          <a:ea typeface="Times New Roman" pitchFamily="34" charset="-122"/>
                          <a:cs typeface="Times New Roman" pitchFamily="34" charset="-120"/>
                        </a:rPr>
                        <a:t>Q9</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Live events per minute and spike alerts</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c>
                  <a:txBody>
                    <a:bodyPr/>
                    <a:lstStyle/>
                    <a:p>
                      <a:pPr indent="0" marL="0">
                        <a:buNone/>
                      </a:pPr>
                      <a:r>
                        <a:rPr lang="en-US" sz="1500" dirty="0">
                          <a:solidFill>
                            <a:srgbClr val="4B5563"/>
                          </a:solidFill>
                          <a:latin typeface="Times New Roman" pitchFamily="34" charset="0"/>
                          <a:ea typeface="Times New Roman" pitchFamily="34" charset="-122"/>
                          <a:cs typeface="Times New Roman" pitchFamily="34" charset="-120"/>
                        </a:rPr>
                        <a:t>Kafka, Storm, HBase</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EEF2F7"/>
                    </a:solidFill>
                  </a:tcPr>
                </a:tc>
              </a:tr>
              <a:tr h="429768">
                <a:tc>
                  <a:txBody>
                    <a:bodyPr/>
                    <a:lstStyle/>
                    <a:p>
                      <a:pPr indent="0" marL="0">
                        <a:buNone/>
                      </a:pPr>
                      <a:r>
                        <a:rPr lang="en-US" sz="1500" b="1" dirty="0">
                          <a:solidFill>
                            <a:srgbClr val="2DA44E"/>
                          </a:solidFill>
                          <a:latin typeface="Times New Roman" pitchFamily="34" charset="0"/>
                          <a:ea typeface="Times New Roman" pitchFamily="34" charset="-122"/>
                          <a:cs typeface="Times New Roman" pitchFamily="34" charset="-120"/>
                        </a:rPr>
                        <a:t>Q10</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Which groups of similar repositories exist?</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c>
                  <a:txBody>
                    <a:bodyPr/>
                    <a:lstStyle/>
                    <a:p>
                      <a:pPr indent="0" marL="0">
                        <a:buNone/>
                      </a:pPr>
                      <a:r>
                        <a:rPr lang="en-US" sz="1500" dirty="0">
                          <a:solidFill>
                            <a:srgbClr val="4B5563"/>
                          </a:solidFill>
                          <a:latin typeface="Times New Roman" pitchFamily="34" charset="0"/>
                          <a:ea typeface="Times New Roman" pitchFamily="34" charset="-122"/>
                          <a:cs typeface="Times New Roman" pitchFamily="34" charset="-120"/>
                        </a:rPr>
                        <a:t>Mahout k-means</a:t>
                      </a:r>
                      <a:endParaRPr lang="en-US" sz="1500" dirty="0">
                        <a:latin typeface="Times New Roman" charset="0"/>
                        <a:ea typeface="Times New Roman" charset="0"/>
                        <a:cs typeface="Times New Roman" charset="0"/>
                      </a:endParaRPr>
                    </a:p>
                  </a:txBody>
                  <a:tcPr marL="109728" marR="109728" marT="27432" marB="27432" anchor="ctr">
                    <a:lnL w="6350" cap="flat" cmpd="sng" algn="ctr">
                      <a:solidFill>
                        <a:srgbClr val="D1D5DB"/>
                      </a:solidFill>
                      <a:prstDash val="solid"/>
                      <a:round/>
                      <a:headEnd type="none" w="med" len="med"/>
                      <a:tailEnd type="none" w="med" len="med"/>
                    </a:lnL>
                    <a:lnR w="6350" cap="flat" cmpd="sng" algn="ctr">
                      <a:solidFill>
                        <a:srgbClr val="D1D5DB"/>
                      </a:solidFill>
                      <a:prstDash val="solid"/>
                      <a:round/>
                      <a:headEnd type="none" w="med" len="med"/>
                      <a:tailEnd type="none" w="med" len="med"/>
                    </a:lnR>
                    <a:lnT w="6350" cap="flat" cmpd="sng" algn="ctr">
                      <a:solidFill>
                        <a:srgbClr val="D1D5DB"/>
                      </a:solidFill>
                      <a:prstDash val="solid"/>
                      <a:round/>
                      <a:headEnd type="none" w="med" len="med"/>
                      <a:tailEnd type="none" w="med" len="med"/>
                    </a:lnT>
                    <a:lnB w="6350" cap="flat" cmpd="sng" algn="ctr">
                      <a:solidFill>
                        <a:srgbClr val="D1D5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Architecture at a glance</a:t>
            </a:r>
            <a:endParaRPr lang="en-US" sz="3400" dirty="0"/>
          </a:p>
        </p:txBody>
      </p:sp>
      <p:pic>
        <p:nvPicPr>
          <p:cNvPr id="3" name="Image 0" descr="architecture diagram">    </p:cNvPr>
          <p:cNvPicPr>
            <a:picLocks noChangeAspect="1"/>
          </p:cNvPicPr>
          <p:nvPr/>
        </p:nvPicPr>
        <p:blipFill>
          <a:blip r:embed="rId1"/>
          <a:stretch>
            <a:fillRect/>
          </a:stretch>
        </p:blipFill>
        <p:spPr>
          <a:xfrm>
            <a:off x="1527048" y="1188720"/>
            <a:ext cx="9144000" cy="4923692"/>
          </a:xfrm>
          <a:prstGeom prst="rect">
            <a:avLst/>
          </a:prstGeom>
        </p:spPr>
      </p:pic>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The cluster: many machines on one laptop</a:t>
            </a:r>
            <a:endParaRPr lang="en-US" sz="3400" dirty="0"/>
          </a:p>
        </p:txBody>
      </p:sp>
      <p:pic>
        <p:nvPicPr>
          <p:cNvPr id="3" name="Image 0" descr="cluster diagram">    </p:cNvPr>
          <p:cNvPicPr>
            <a:picLocks noChangeAspect="1"/>
          </p:cNvPicPr>
          <p:nvPr/>
        </p:nvPicPr>
        <p:blipFill>
          <a:blip r:embed="rId1"/>
          <a:stretch>
            <a:fillRect/>
          </a:stretch>
        </p:blipFill>
        <p:spPr>
          <a:xfrm>
            <a:off x="548640" y="1325880"/>
            <a:ext cx="7498080" cy="3544547"/>
          </a:xfrm>
          <a:prstGeom prst="rect">
            <a:avLst/>
          </a:prstGeom>
        </p:spPr>
      </p:pic>
      <p:sp>
        <p:nvSpPr>
          <p:cNvPr id="4" name="num 1"/>
          <p:cNvSpPr/>
          <p:nvPr/>
        </p:nvSpPr>
        <p:spPr>
          <a:xfrm>
            <a:off x="8321040" y="1463040"/>
            <a:ext cx="384048" cy="384048"/>
          </a:xfrm>
          <a:prstGeom prst="ellipse">
            <a:avLst/>
          </a:prstGeom>
          <a:solidFill>
            <a:srgbClr val="2DA44E"/>
          </a:solidFill>
          <a:ln w="12700">
            <a:solidFill>
              <a:srgbClr val="2DA44E"/>
            </a:solidFill>
            <a:prstDash val="solid"/>
          </a:ln>
        </p:spPr>
      </p:sp>
      <p:sp>
        <p:nvSpPr>
          <p:cNvPr id="5" name="Text 2"/>
          <p:cNvSpPr txBox="1"/>
          <p:nvPr/>
        </p:nvSpPr>
        <p:spPr>
          <a:xfrm>
            <a:off x="8321040" y="14630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6" name="Text 3"/>
          <p:cNvSpPr txBox="1"/>
          <p:nvPr/>
        </p:nvSpPr>
        <p:spPr>
          <a:xfrm>
            <a:off x="8869680" y="1417320"/>
            <a:ext cx="2743200" cy="457200"/>
          </a:xfrm>
          <a:prstGeom prst="rect">
            <a:avLst/>
          </a:prstGeom>
          <a:noFill/>
          <a:ln/>
        </p:spPr>
        <p:txBody>
          <a:bodyPr wrap="square" lIns="0" tIns="0" rIns="0" bIns="0" rtlCol="0" anchor="t"/>
          <a:lstStyle/>
          <a:p>
            <a:pPr indent="0" marL="0">
              <a:buNone/>
            </a:pPr>
            <a:r>
              <a:rPr lang="en-US" sz="1900" b="1" dirty="0">
                <a:solidFill>
                  <a:srgbClr val="14213D"/>
                </a:solidFill>
                <a:latin typeface="Times New Roman" pitchFamily="34" charset="0"/>
                <a:ea typeface="Times New Roman" pitchFamily="34" charset="-122"/>
                <a:cs typeface="Times New Roman" pitchFamily="34" charset="-120"/>
              </a:rPr>
              <a:t>HDFS</a:t>
            </a:r>
            <a:endParaRPr lang="en-US" sz="1900" dirty="0"/>
          </a:p>
        </p:txBody>
      </p:sp>
      <p:sp>
        <p:nvSpPr>
          <p:cNvPr id="7" name="Text 4"/>
          <p:cNvSpPr txBox="1"/>
          <p:nvPr/>
        </p:nvSpPr>
        <p:spPr>
          <a:xfrm>
            <a:off x="8869680" y="1874520"/>
            <a:ext cx="2743200" cy="1051560"/>
          </a:xfrm>
          <a:prstGeom prst="rect">
            <a:avLst/>
          </a:prstGeom>
          <a:noFill/>
          <a:ln/>
        </p:spPr>
        <p:txBody>
          <a:bodyPr wrap="square" lIns="0" tIns="0" rIns="0" bIns="0" rtlCol="0" anchor="t"/>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splits files into blocks and keeps 2 copies on different DataNodes, so losing one copy loses no data.</a:t>
            </a:r>
            <a:endParaRPr lang="en-US" sz="1400" dirty="0"/>
          </a:p>
        </p:txBody>
      </p:sp>
      <p:sp>
        <p:nvSpPr>
          <p:cNvPr id="8" name="num 2"/>
          <p:cNvSpPr/>
          <p:nvPr/>
        </p:nvSpPr>
        <p:spPr>
          <a:xfrm>
            <a:off x="8321040" y="3063240"/>
            <a:ext cx="384048" cy="384048"/>
          </a:xfrm>
          <a:prstGeom prst="ellipse">
            <a:avLst/>
          </a:prstGeom>
          <a:solidFill>
            <a:srgbClr val="2DA44E"/>
          </a:solidFill>
          <a:ln w="12700">
            <a:solidFill>
              <a:srgbClr val="2DA44E"/>
            </a:solidFill>
            <a:prstDash val="solid"/>
          </a:ln>
        </p:spPr>
      </p:sp>
      <p:sp>
        <p:nvSpPr>
          <p:cNvPr id="9" name="Text 6"/>
          <p:cNvSpPr txBox="1"/>
          <p:nvPr/>
        </p:nvSpPr>
        <p:spPr>
          <a:xfrm>
            <a:off x="8321040" y="30632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10" name="Text 7"/>
          <p:cNvSpPr txBox="1"/>
          <p:nvPr/>
        </p:nvSpPr>
        <p:spPr>
          <a:xfrm>
            <a:off x="8869680" y="3017520"/>
            <a:ext cx="2743200" cy="457200"/>
          </a:xfrm>
          <a:prstGeom prst="rect">
            <a:avLst/>
          </a:prstGeom>
          <a:noFill/>
          <a:ln/>
        </p:spPr>
        <p:txBody>
          <a:bodyPr wrap="square" lIns="0" tIns="0" rIns="0" bIns="0" rtlCol="0" anchor="t"/>
          <a:lstStyle/>
          <a:p>
            <a:pPr indent="0" marL="0">
              <a:buNone/>
            </a:pPr>
            <a:r>
              <a:rPr lang="en-US" sz="1900" b="1" dirty="0">
                <a:solidFill>
                  <a:srgbClr val="14213D"/>
                </a:solidFill>
                <a:latin typeface="Times New Roman" pitchFamily="34" charset="0"/>
                <a:ea typeface="Times New Roman" pitchFamily="34" charset="-122"/>
                <a:cs typeface="Times New Roman" pitchFamily="34" charset="-120"/>
              </a:rPr>
              <a:t>YARN</a:t>
            </a:r>
            <a:endParaRPr lang="en-US" sz="1900" dirty="0"/>
          </a:p>
        </p:txBody>
      </p:sp>
      <p:sp>
        <p:nvSpPr>
          <p:cNvPr id="11" name="Text 8"/>
          <p:cNvSpPr txBox="1"/>
          <p:nvPr/>
        </p:nvSpPr>
        <p:spPr>
          <a:xfrm>
            <a:off x="8869680" y="3474720"/>
            <a:ext cx="2743200" cy="1051560"/>
          </a:xfrm>
          <a:prstGeom prst="rect">
            <a:avLst/>
          </a:prstGeom>
          <a:noFill/>
          <a:ln/>
        </p:spPr>
        <p:txBody>
          <a:bodyPr wrap="square" lIns="0" tIns="0" rIns="0" bIns="0" rtlCol="0" anchor="t"/>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hands out CPU and memory to jobs. MapReduce, Pig, Hive and Spark all run on it.</a:t>
            </a:r>
            <a:endParaRPr lang="en-US" sz="1400" dirty="0"/>
          </a:p>
        </p:txBody>
      </p:sp>
      <p:sp>
        <p:nvSpPr>
          <p:cNvPr id="12" name="num 3"/>
          <p:cNvSpPr/>
          <p:nvPr/>
        </p:nvSpPr>
        <p:spPr>
          <a:xfrm>
            <a:off x="8321040" y="4663440"/>
            <a:ext cx="384048" cy="384048"/>
          </a:xfrm>
          <a:prstGeom prst="ellipse">
            <a:avLst/>
          </a:prstGeom>
          <a:solidFill>
            <a:srgbClr val="2DA44E"/>
          </a:solidFill>
          <a:ln w="12700">
            <a:solidFill>
              <a:srgbClr val="2DA44E"/>
            </a:solidFill>
            <a:prstDash val="solid"/>
          </a:ln>
        </p:spPr>
      </p:sp>
      <p:sp>
        <p:nvSpPr>
          <p:cNvPr id="13" name="Text 10"/>
          <p:cNvSpPr txBox="1"/>
          <p:nvPr/>
        </p:nvSpPr>
        <p:spPr>
          <a:xfrm>
            <a:off x="8321040" y="4663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14" name="Text 11"/>
          <p:cNvSpPr txBox="1"/>
          <p:nvPr/>
        </p:nvSpPr>
        <p:spPr>
          <a:xfrm>
            <a:off x="8869680" y="4617720"/>
            <a:ext cx="2743200" cy="457200"/>
          </a:xfrm>
          <a:prstGeom prst="rect">
            <a:avLst/>
          </a:prstGeom>
          <a:noFill/>
          <a:ln/>
        </p:spPr>
        <p:txBody>
          <a:bodyPr wrap="square" lIns="0" tIns="0" rIns="0" bIns="0" rtlCol="0" anchor="t"/>
          <a:lstStyle/>
          <a:p>
            <a:pPr indent="0" marL="0">
              <a:buNone/>
            </a:pPr>
            <a:r>
              <a:rPr lang="en-US" sz="1900" b="1" dirty="0">
                <a:solidFill>
                  <a:srgbClr val="14213D"/>
                </a:solidFill>
                <a:latin typeface="Times New Roman" pitchFamily="34" charset="0"/>
                <a:ea typeface="Times New Roman" pitchFamily="34" charset="-122"/>
                <a:cs typeface="Times New Roman" pitchFamily="34" charset="-120"/>
              </a:rPr>
              <a:t>Docker</a:t>
            </a:r>
            <a:endParaRPr lang="en-US" sz="1900" dirty="0"/>
          </a:p>
        </p:txBody>
      </p:sp>
      <p:sp>
        <p:nvSpPr>
          <p:cNvPr id="15" name="Text 12"/>
          <p:cNvSpPr txBox="1"/>
          <p:nvPr/>
        </p:nvSpPr>
        <p:spPr>
          <a:xfrm>
            <a:off x="8869680" y="5074920"/>
            <a:ext cx="2743200" cy="1051560"/>
          </a:xfrm>
          <a:prstGeom prst="rect">
            <a:avLst/>
          </a:prstGeom>
          <a:noFill/>
          <a:ln/>
        </p:spPr>
        <p:txBody>
          <a:bodyPr wrap="square" lIns="0" tIns="0" rIns="0" bIns="0" rtlCol="0" anchor="t"/>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runs each node as a container, so the whole cluster starts with one command.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Every tool and the job it does</a:t>
            </a:r>
            <a:endParaRPr lang="en-US" sz="3400" dirty="0"/>
          </a:p>
        </p:txBody>
      </p:sp>
      <p:sp>
        <p:nvSpPr>
          <p:cNvPr id="3" name="tool HDFS"/>
          <p:cNvSpPr/>
          <p:nvPr/>
        </p:nvSpPr>
        <p:spPr>
          <a:xfrm>
            <a:off x="548640" y="1325880"/>
            <a:ext cx="2606040" cy="1371600"/>
          </a:xfrm>
          <a:prstGeom prst="roundRect">
            <a:avLst>
              <a:gd name="adj" fmla="val 8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4" name="tool dot"/>
          <p:cNvSpPr/>
          <p:nvPr/>
        </p:nvSpPr>
        <p:spPr>
          <a:xfrm>
            <a:off x="731520" y="1527048"/>
            <a:ext cx="292608" cy="292608"/>
          </a:xfrm>
          <a:prstGeom prst="ellipse">
            <a:avLst/>
          </a:prstGeom>
          <a:solidFill>
            <a:srgbClr val="14213D"/>
          </a:solidFill>
          <a:ln w="12700">
            <a:solidFill>
              <a:srgbClr val="14213D"/>
            </a:solidFill>
            <a:prstDash val="solid"/>
          </a:ln>
        </p:spPr>
      </p:sp>
      <p:sp>
        <p:nvSpPr>
          <p:cNvPr id="5" name="Text 3"/>
          <p:cNvSpPr txBox="1"/>
          <p:nvPr/>
        </p:nvSpPr>
        <p:spPr>
          <a:xfrm>
            <a:off x="1143000" y="1463040"/>
            <a:ext cx="1874520" cy="411480"/>
          </a:xfrm>
          <a:prstGeom prst="rect">
            <a:avLst/>
          </a:prstGeom>
          <a:noFill/>
          <a:ln/>
        </p:spPr>
        <p:txBody>
          <a:bodyPr wrap="square" lIns="0" tIns="0" rIns="0" bIns="0" rtlCol="0" anchor="ctr"/>
          <a:lstStyle/>
          <a:p>
            <a:pPr indent="0" marL="0">
              <a:buNone/>
            </a:pPr>
            <a:r>
              <a:rPr lang="en-US" sz="2000" b="1" dirty="0">
                <a:solidFill>
                  <a:srgbClr val="14213D"/>
                </a:solidFill>
                <a:latin typeface="Times New Roman" pitchFamily="34" charset="0"/>
                <a:ea typeface="Times New Roman" pitchFamily="34" charset="-122"/>
                <a:cs typeface="Times New Roman" pitchFamily="34" charset="-120"/>
              </a:rPr>
              <a:t>HDFS</a:t>
            </a:r>
            <a:endParaRPr lang="en-US" sz="2000" dirty="0"/>
          </a:p>
        </p:txBody>
      </p:sp>
      <p:sp>
        <p:nvSpPr>
          <p:cNvPr id="6" name="Text 4"/>
          <p:cNvSpPr txBox="1"/>
          <p:nvPr/>
        </p:nvSpPr>
        <p:spPr>
          <a:xfrm>
            <a:off x="731520" y="1965960"/>
            <a:ext cx="2240280" cy="731520"/>
          </a:xfrm>
          <a:prstGeom prst="rect">
            <a:avLst/>
          </a:prstGeom>
          <a:noFill/>
          <a:ln/>
        </p:spPr>
        <p:txBody>
          <a:bodyPr wrap="square" lIns="0" tIns="0" rIns="0" bIns="0" rtlCol="0" anchor="t"/>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Stores all data across the DataNodes</a:t>
            </a:r>
            <a:endParaRPr lang="en-US" sz="1400" dirty="0"/>
          </a:p>
        </p:txBody>
      </p:sp>
      <p:sp>
        <p:nvSpPr>
          <p:cNvPr id="7" name="tool MapReduce"/>
          <p:cNvSpPr/>
          <p:nvPr/>
        </p:nvSpPr>
        <p:spPr>
          <a:xfrm>
            <a:off x="3367735" y="1325880"/>
            <a:ext cx="2606040" cy="1371600"/>
          </a:xfrm>
          <a:prstGeom prst="roundRect">
            <a:avLst>
              <a:gd name="adj" fmla="val 8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8" name="tool dot"/>
          <p:cNvSpPr/>
          <p:nvPr/>
        </p:nvSpPr>
        <p:spPr>
          <a:xfrm>
            <a:off x="3550615" y="1527048"/>
            <a:ext cx="292608" cy="292608"/>
          </a:xfrm>
          <a:prstGeom prst="ellipse">
            <a:avLst/>
          </a:prstGeom>
          <a:solidFill>
            <a:srgbClr val="14213D"/>
          </a:solidFill>
          <a:ln w="12700">
            <a:solidFill>
              <a:srgbClr val="14213D"/>
            </a:solidFill>
            <a:prstDash val="solid"/>
          </a:ln>
        </p:spPr>
      </p:sp>
      <p:sp>
        <p:nvSpPr>
          <p:cNvPr id="9" name="Text 7"/>
          <p:cNvSpPr txBox="1"/>
          <p:nvPr/>
        </p:nvSpPr>
        <p:spPr>
          <a:xfrm>
            <a:off x="3962095" y="1463040"/>
            <a:ext cx="1874520" cy="411480"/>
          </a:xfrm>
          <a:prstGeom prst="rect">
            <a:avLst/>
          </a:prstGeom>
          <a:noFill/>
          <a:ln/>
        </p:spPr>
        <p:txBody>
          <a:bodyPr wrap="square" lIns="0" tIns="0" rIns="0" bIns="0" rtlCol="0" anchor="ctr"/>
          <a:lstStyle/>
          <a:p>
            <a:pPr indent="0" marL="0">
              <a:buNone/>
            </a:pPr>
            <a:r>
              <a:rPr lang="en-US" sz="2000" b="1" dirty="0">
                <a:solidFill>
                  <a:srgbClr val="14213D"/>
                </a:solidFill>
                <a:latin typeface="Times New Roman" pitchFamily="34" charset="0"/>
                <a:ea typeface="Times New Roman" pitchFamily="34" charset="-122"/>
                <a:cs typeface="Times New Roman" pitchFamily="34" charset="-120"/>
              </a:rPr>
              <a:t>MapReduce</a:t>
            </a:r>
            <a:endParaRPr lang="en-US" sz="2000" dirty="0"/>
          </a:p>
        </p:txBody>
      </p:sp>
      <p:sp>
        <p:nvSpPr>
          <p:cNvPr id="10" name="Text 8"/>
          <p:cNvSpPr txBox="1"/>
          <p:nvPr/>
        </p:nvSpPr>
        <p:spPr>
          <a:xfrm>
            <a:off x="3550615" y="1965960"/>
            <a:ext cx="2240280" cy="731520"/>
          </a:xfrm>
          <a:prstGeom prst="rect">
            <a:avLst/>
          </a:prstGeom>
          <a:noFill/>
          <a:ln/>
        </p:spPr>
        <p:txBody>
          <a:bodyPr wrap="square" lIns="0" tIns="0" rIns="0" bIns="0" rtlCol="0" anchor="t"/>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Our Java job: daily top-N repositories</a:t>
            </a:r>
            <a:endParaRPr lang="en-US" sz="1400" dirty="0"/>
          </a:p>
        </p:txBody>
      </p:sp>
      <p:sp>
        <p:nvSpPr>
          <p:cNvPr id="11" name="tool Pig"/>
          <p:cNvSpPr/>
          <p:nvPr/>
        </p:nvSpPr>
        <p:spPr>
          <a:xfrm>
            <a:off x="6186830" y="1325880"/>
            <a:ext cx="2606040" cy="1371600"/>
          </a:xfrm>
          <a:prstGeom prst="roundRect">
            <a:avLst>
              <a:gd name="adj" fmla="val 8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2" name="tool dot"/>
          <p:cNvSpPr/>
          <p:nvPr/>
        </p:nvSpPr>
        <p:spPr>
          <a:xfrm>
            <a:off x="6369710" y="1527048"/>
            <a:ext cx="292608" cy="292608"/>
          </a:xfrm>
          <a:prstGeom prst="ellipse">
            <a:avLst/>
          </a:prstGeom>
          <a:solidFill>
            <a:srgbClr val="14213D"/>
          </a:solidFill>
          <a:ln w="12700">
            <a:solidFill>
              <a:srgbClr val="14213D"/>
            </a:solidFill>
            <a:prstDash val="solid"/>
          </a:ln>
        </p:spPr>
      </p:sp>
      <p:sp>
        <p:nvSpPr>
          <p:cNvPr id="13" name="Text 11"/>
          <p:cNvSpPr txBox="1"/>
          <p:nvPr/>
        </p:nvSpPr>
        <p:spPr>
          <a:xfrm>
            <a:off x="6781190" y="1463040"/>
            <a:ext cx="1874520" cy="411480"/>
          </a:xfrm>
          <a:prstGeom prst="rect">
            <a:avLst/>
          </a:prstGeom>
          <a:noFill/>
          <a:ln/>
        </p:spPr>
        <p:txBody>
          <a:bodyPr wrap="square" lIns="0" tIns="0" rIns="0" bIns="0" rtlCol="0" anchor="ctr"/>
          <a:lstStyle/>
          <a:p>
            <a:pPr indent="0" marL="0">
              <a:buNone/>
            </a:pPr>
            <a:r>
              <a:rPr lang="en-US" sz="2000" b="1" dirty="0">
                <a:solidFill>
                  <a:srgbClr val="14213D"/>
                </a:solidFill>
                <a:latin typeface="Times New Roman" pitchFamily="34" charset="0"/>
                <a:ea typeface="Times New Roman" pitchFamily="34" charset="-122"/>
                <a:cs typeface="Times New Roman" pitchFamily="34" charset="-120"/>
              </a:rPr>
              <a:t>Pig</a:t>
            </a:r>
            <a:endParaRPr lang="en-US" sz="2000" dirty="0"/>
          </a:p>
        </p:txBody>
      </p:sp>
      <p:sp>
        <p:nvSpPr>
          <p:cNvPr id="14" name="Text 12"/>
          <p:cNvSpPr txBox="1"/>
          <p:nvPr/>
        </p:nvSpPr>
        <p:spPr>
          <a:xfrm>
            <a:off x="6369710" y="1965960"/>
            <a:ext cx="2240280" cy="731520"/>
          </a:xfrm>
          <a:prstGeom prst="rect">
            <a:avLst/>
          </a:prstGeom>
          <a:noFill/>
          <a:ln/>
        </p:spPr>
        <p:txBody>
          <a:bodyPr wrap="square" lIns="0" tIns="0" rIns="0" bIns="0" rtlCol="0" anchor="t"/>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Cleans raw JSON, removes duplicates, tags bots</a:t>
            </a:r>
            <a:endParaRPr lang="en-US" sz="1400" dirty="0"/>
          </a:p>
        </p:txBody>
      </p:sp>
      <p:sp>
        <p:nvSpPr>
          <p:cNvPr id="15" name="tool Hive"/>
          <p:cNvSpPr/>
          <p:nvPr/>
        </p:nvSpPr>
        <p:spPr>
          <a:xfrm>
            <a:off x="9005926" y="1325880"/>
            <a:ext cx="2606040" cy="1371600"/>
          </a:xfrm>
          <a:prstGeom prst="roundRect">
            <a:avLst>
              <a:gd name="adj" fmla="val 8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6" name="tool dot"/>
          <p:cNvSpPr/>
          <p:nvPr/>
        </p:nvSpPr>
        <p:spPr>
          <a:xfrm>
            <a:off x="9188806" y="1527048"/>
            <a:ext cx="292608" cy="292608"/>
          </a:xfrm>
          <a:prstGeom prst="ellipse">
            <a:avLst/>
          </a:prstGeom>
          <a:solidFill>
            <a:srgbClr val="14213D"/>
          </a:solidFill>
          <a:ln w="12700">
            <a:solidFill>
              <a:srgbClr val="14213D"/>
            </a:solidFill>
            <a:prstDash val="solid"/>
          </a:ln>
        </p:spPr>
      </p:sp>
      <p:sp>
        <p:nvSpPr>
          <p:cNvPr id="17" name="Text 15"/>
          <p:cNvSpPr txBox="1"/>
          <p:nvPr/>
        </p:nvSpPr>
        <p:spPr>
          <a:xfrm>
            <a:off x="9600286" y="1463040"/>
            <a:ext cx="1874520" cy="411480"/>
          </a:xfrm>
          <a:prstGeom prst="rect">
            <a:avLst/>
          </a:prstGeom>
          <a:noFill/>
          <a:ln/>
        </p:spPr>
        <p:txBody>
          <a:bodyPr wrap="square" lIns="0" tIns="0" rIns="0" bIns="0" rtlCol="0" anchor="ctr"/>
          <a:lstStyle/>
          <a:p>
            <a:pPr indent="0" marL="0">
              <a:buNone/>
            </a:pPr>
            <a:r>
              <a:rPr lang="en-US" sz="2000" b="1" dirty="0">
                <a:solidFill>
                  <a:srgbClr val="14213D"/>
                </a:solidFill>
                <a:latin typeface="Times New Roman" pitchFamily="34" charset="0"/>
                <a:ea typeface="Times New Roman" pitchFamily="34" charset="-122"/>
                <a:cs typeface="Times New Roman" pitchFamily="34" charset="-120"/>
              </a:rPr>
              <a:t>Hive</a:t>
            </a:r>
            <a:endParaRPr lang="en-US" sz="2000" dirty="0"/>
          </a:p>
        </p:txBody>
      </p:sp>
      <p:sp>
        <p:nvSpPr>
          <p:cNvPr id="18" name="Text 16"/>
          <p:cNvSpPr txBox="1"/>
          <p:nvPr/>
        </p:nvSpPr>
        <p:spPr>
          <a:xfrm>
            <a:off x="9188806" y="1965960"/>
            <a:ext cx="2240280" cy="731520"/>
          </a:xfrm>
          <a:prstGeom prst="rect">
            <a:avLst/>
          </a:prstGeom>
          <a:noFill/>
          <a:ln/>
        </p:spPr>
        <p:txBody>
          <a:bodyPr wrap="square" lIns="0" tIns="0" rIns="0" bIns="0" rtlCol="0" anchor="t"/>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SQL warehouse for curated tables</a:t>
            </a:r>
            <a:endParaRPr lang="en-US" sz="1400" dirty="0"/>
          </a:p>
        </p:txBody>
      </p:sp>
      <p:sp>
        <p:nvSpPr>
          <p:cNvPr id="19" name="tool Sqoop"/>
          <p:cNvSpPr/>
          <p:nvPr/>
        </p:nvSpPr>
        <p:spPr>
          <a:xfrm>
            <a:off x="548640" y="2862072"/>
            <a:ext cx="2606040" cy="1371600"/>
          </a:xfrm>
          <a:prstGeom prst="roundRect">
            <a:avLst>
              <a:gd name="adj" fmla="val 8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20" name="tool dot"/>
          <p:cNvSpPr/>
          <p:nvPr/>
        </p:nvSpPr>
        <p:spPr>
          <a:xfrm>
            <a:off x="731520" y="3063240"/>
            <a:ext cx="292608" cy="292608"/>
          </a:xfrm>
          <a:prstGeom prst="ellipse">
            <a:avLst/>
          </a:prstGeom>
          <a:solidFill>
            <a:srgbClr val="5B6B7F"/>
          </a:solidFill>
          <a:ln w="12700">
            <a:solidFill>
              <a:srgbClr val="5B6B7F"/>
            </a:solidFill>
            <a:prstDash val="solid"/>
          </a:ln>
        </p:spPr>
      </p:sp>
      <p:sp>
        <p:nvSpPr>
          <p:cNvPr id="21" name="Text 19"/>
          <p:cNvSpPr txBox="1"/>
          <p:nvPr/>
        </p:nvSpPr>
        <p:spPr>
          <a:xfrm>
            <a:off x="1143000" y="2999232"/>
            <a:ext cx="1874520" cy="411480"/>
          </a:xfrm>
          <a:prstGeom prst="rect">
            <a:avLst/>
          </a:prstGeom>
          <a:noFill/>
          <a:ln/>
        </p:spPr>
        <p:txBody>
          <a:bodyPr wrap="square" lIns="0" tIns="0" rIns="0" bIns="0" rtlCol="0" anchor="ctr"/>
          <a:lstStyle/>
          <a:p>
            <a:pPr indent="0" marL="0">
              <a:buNone/>
            </a:pPr>
            <a:r>
              <a:rPr lang="en-US" sz="2000" b="1" dirty="0">
                <a:solidFill>
                  <a:srgbClr val="14213D"/>
                </a:solidFill>
                <a:latin typeface="Times New Roman" pitchFamily="34" charset="0"/>
                <a:ea typeface="Times New Roman" pitchFamily="34" charset="-122"/>
                <a:cs typeface="Times New Roman" pitchFamily="34" charset="-120"/>
              </a:rPr>
              <a:t>Sqoop</a:t>
            </a:r>
            <a:endParaRPr lang="en-US" sz="2000" dirty="0"/>
          </a:p>
        </p:txBody>
      </p:sp>
      <p:sp>
        <p:nvSpPr>
          <p:cNvPr id="22" name="Text 20"/>
          <p:cNvSpPr txBox="1"/>
          <p:nvPr/>
        </p:nvSpPr>
        <p:spPr>
          <a:xfrm>
            <a:off x="731520" y="3502152"/>
            <a:ext cx="2240280" cy="731520"/>
          </a:xfrm>
          <a:prstGeom prst="rect">
            <a:avLst/>
          </a:prstGeom>
          <a:noFill/>
          <a:ln/>
        </p:spPr>
        <p:txBody>
          <a:bodyPr wrap="square" lIns="0" tIns="0" rIns="0" bIns="0" rtlCol="0" anchor="t"/>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Moves tables between Postgres and Hadoop</a:t>
            </a:r>
            <a:endParaRPr lang="en-US" sz="1400" dirty="0"/>
          </a:p>
        </p:txBody>
      </p:sp>
      <p:sp>
        <p:nvSpPr>
          <p:cNvPr id="23" name="tool Spark"/>
          <p:cNvSpPr/>
          <p:nvPr/>
        </p:nvSpPr>
        <p:spPr>
          <a:xfrm>
            <a:off x="3367735" y="2862072"/>
            <a:ext cx="2606040" cy="1371600"/>
          </a:xfrm>
          <a:prstGeom prst="roundRect">
            <a:avLst>
              <a:gd name="adj" fmla="val 8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24" name="tool dot"/>
          <p:cNvSpPr/>
          <p:nvPr/>
        </p:nvSpPr>
        <p:spPr>
          <a:xfrm>
            <a:off x="3550615" y="3063240"/>
            <a:ext cx="292608" cy="292608"/>
          </a:xfrm>
          <a:prstGeom prst="ellipse">
            <a:avLst/>
          </a:prstGeom>
          <a:solidFill>
            <a:srgbClr val="2DA44E"/>
          </a:solidFill>
          <a:ln w="12700">
            <a:solidFill>
              <a:srgbClr val="2DA44E"/>
            </a:solidFill>
            <a:prstDash val="solid"/>
          </a:ln>
        </p:spPr>
      </p:sp>
      <p:sp>
        <p:nvSpPr>
          <p:cNvPr id="25" name="Text 23"/>
          <p:cNvSpPr txBox="1"/>
          <p:nvPr/>
        </p:nvSpPr>
        <p:spPr>
          <a:xfrm>
            <a:off x="3962095" y="2999232"/>
            <a:ext cx="1874520" cy="411480"/>
          </a:xfrm>
          <a:prstGeom prst="rect">
            <a:avLst/>
          </a:prstGeom>
          <a:noFill/>
          <a:ln/>
        </p:spPr>
        <p:txBody>
          <a:bodyPr wrap="square" lIns="0" tIns="0" rIns="0" bIns="0" rtlCol="0" anchor="ctr"/>
          <a:lstStyle/>
          <a:p>
            <a:pPr indent="0" marL="0">
              <a:buNone/>
            </a:pPr>
            <a:r>
              <a:rPr lang="en-US" sz="2000" b="1" dirty="0">
                <a:solidFill>
                  <a:srgbClr val="14213D"/>
                </a:solidFill>
                <a:latin typeface="Times New Roman" pitchFamily="34" charset="0"/>
                <a:ea typeface="Times New Roman" pitchFamily="34" charset="-122"/>
                <a:cs typeface="Times New Roman" pitchFamily="34" charset="-120"/>
              </a:rPr>
              <a:t>Spark</a:t>
            </a:r>
            <a:endParaRPr lang="en-US" sz="2000" dirty="0"/>
          </a:p>
        </p:txBody>
      </p:sp>
      <p:sp>
        <p:nvSpPr>
          <p:cNvPr id="26" name="Text 24"/>
          <p:cNvSpPr txBox="1"/>
          <p:nvPr/>
        </p:nvSpPr>
        <p:spPr>
          <a:xfrm>
            <a:off x="3550615" y="3502152"/>
            <a:ext cx="2240280" cy="731520"/>
          </a:xfrm>
          <a:prstGeom prst="rect">
            <a:avLst/>
          </a:prstGeom>
          <a:noFill/>
          <a:ln/>
        </p:spPr>
        <p:txBody>
          <a:bodyPr wrap="square" lIns="0" tIns="0" rIns="0" bIns="0" rtlCol="0" anchor="t"/>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Features, viral model, ALS recommendations</a:t>
            </a:r>
            <a:endParaRPr lang="en-US" sz="1400" dirty="0"/>
          </a:p>
        </p:txBody>
      </p:sp>
      <p:sp>
        <p:nvSpPr>
          <p:cNvPr id="27" name="tool Mahout"/>
          <p:cNvSpPr/>
          <p:nvPr/>
        </p:nvSpPr>
        <p:spPr>
          <a:xfrm>
            <a:off x="6186830" y="2862072"/>
            <a:ext cx="2606040" cy="1371600"/>
          </a:xfrm>
          <a:prstGeom prst="roundRect">
            <a:avLst>
              <a:gd name="adj" fmla="val 8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28" name="tool dot"/>
          <p:cNvSpPr/>
          <p:nvPr/>
        </p:nvSpPr>
        <p:spPr>
          <a:xfrm>
            <a:off x="6369710" y="3063240"/>
            <a:ext cx="292608" cy="292608"/>
          </a:xfrm>
          <a:prstGeom prst="ellipse">
            <a:avLst/>
          </a:prstGeom>
          <a:solidFill>
            <a:srgbClr val="2DA44E"/>
          </a:solidFill>
          <a:ln w="12700">
            <a:solidFill>
              <a:srgbClr val="2DA44E"/>
            </a:solidFill>
            <a:prstDash val="solid"/>
          </a:ln>
        </p:spPr>
      </p:sp>
      <p:sp>
        <p:nvSpPr>
          <p:cNvPr id="29" name="Text 27"/>
          <p:cNvSpPr txBox="1"/>
          <p:nvPr/>
        </p:nvSpPr>
        <p:spPr>
          <a:xfrm>
            <a:off x="6781190" y="2999232"/>
            <a:ext cx="1874520" cy="411480"/>
          </a:xfrm>
          <a:prstGeom prst="rect">
            <a:avLst/>
          </a:prstGeom>
          <a:noFill/>
          <a:ln/>
        </p:spPr>
        <p:txBody>
          <a:bodyPr wrap="square" lIns="0" tIns="0" rIns="0" bIns="0" rtlCol="0" anchor="ctr"/>
          <a:lstStyle/>
          <a:p>
            <a:pPr indent="0" marL="0">
              <a:buNone/>
            </a:pPr>
            <a:r>
              <a:rPr lang="en-US" sz="2000" b="1" dirty="0">
                <a:solidFill>
                  <a:srgbClr val="14213D"/>
                </a:solidFill>
                <a:latin typeface="Times New Roman" pitchFamily="34" charset="0"/>
                <a:ea typeface="Times New Roman" pitchFamily="34" charset="-122"/>
                <a:cs typeface="Times New Roman" pitchFamily="34" charset="-120"/>
              </a:rPr>
              <a:t>Mahout</a:t>
            </a:r>
            <a:endParaRPr lang="en-US" sz="2000" dirty="0"/>
          </a:p>
        </p:txBody>
      </p:sp>
      <p:sp>
        <p:nvSpPr>
          <p:cNvPr id="30" name="Text 28"/>
          <p:cNvSpPr txBox="1"/>
          <p:nvPr/>
        </p:nvSpPr>
        <p:spPr>
          <a:xfrm>
            <a:off x="6369710" y="3502152"/>
            <a:ext cx="2240280" cy="731520"/>
          </a:xfrm>
          <a:prstGeom prst="rect">
            <a:avLst/>
          </a:prstGeom>
          <a:noFill/>
          <a:ln/>
        </p:spPr>
        <p:txBody>
          <a:bodyPr wrap="square" lIns="0" tIns="0" rIns="0" bIns="0" rtlCol="0" anchor="t"/>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Item-based recommendations and k-means</a:t>
            </a:r>
            <a:endParaRPr lang="en-US" sz="1400" dirty="0"/>
          </a:p>
        </p:txBody>
      </p:sp>
      <p:sp>
        <p:nvSpPr>
          <p:cNvPr id="31" name="tool Impala"/>
          <p:cNvSpPr/>
          <p:nvPr/>
        </p:nvSpPr>
        <p:spPr>
          <a:xfrm>
            <a:off x="9005926" y="2862072"/>
            <a:ext cx="2606040" cy="1371600"/>
          </a:xfrm>
          <a:prstGeom prst="roundRect">
            <a:avLst>
              <a:gd name="adj" fmla="val 8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32" name="tool dot"/>
          <p:cNvSpPr/>
          <p:nvPr/>
        </p:nvSpPr>
        <p:spPr>
          <a:xfrm>
            <a:off x="9188806" y="3063240"/>
            <a:ext cx="292608" cy="292608"/>
          </a:xfrm>
          <a:prstGeom prst="ellipse">
            <a:avLst/>
          </a:prstGeom>
          <a:solidFill>
            <a:srgbClr val="2DA44E"/>
          </a:solidFill>
          <a:ln w="12700">
            <a:solidFill>
              <a:srgbClr val="2DA44E"/>
            </a:solidFill>
            <a:prstDash val="solid"/>
          </a:ln>
        </p:spPr>
      </p:sp>
      <p:sp>
        <p:nvSpPr>
          <p:cNvPr id="33" name="Text 31"/>
          <p:cNvSpPr txBox="1"/>
          <p:nvPr/>
        </p:nvSpPr>
        <p:spPr>
          <a:xfrm>
            <a:off x="9600286" y="2999232"/>
            <a:ext cx="1874520" cy="411480"/>
          </a:xfrm>
          <a:prstGeom prst="rect">
            <a:avLst/>
          </a:prstGeom>
          <a:noFill/>
          <a:ln/>
        </p:spPr>
        <p:txBody>
          <a:bodyPr wrap="square" lIns="0" tIns="0" rIns="0" bIns="0" rtlCol="0" anchor="ctr"/>
          <a:lstStyle/>
          <a:p>
            <a:pPr indent="0" marL="0">
              <a:buNone/>
            </a:pPr>
            <a:r>
              <a:rPr lang="en-US" sz="2000" b="1" dirty="0">
                <a:solidFill>
                  <a:srgbClr val="14213D"/>
                </a:solidFill>
                <a:latin typeface="Times New Roman" pitchFamily="34" charset="0"/>
                <a:ea typeface="Times New Roman" pitchFamily="34" charset="-122"/>
                <a:cs typeface="Times New Roman" pitchFamily="34" charset="-120"/>
              </a:rPr>
              <a:t>Impala</a:t>
            </a:r>
            <a:endParaRPr lang="en-US" sz="2000" dirty="0"/>
          </a:p>
        </p:txBody>
      </p:sp>
      <p:sp>
        <p:nvSpPr>
          <p:cNvPr id="34" name="Text 32"/>
          <p:cNvSpPr txBox="1"/>
          <p:nvPr/>
        </p:nvSpPr>
        <p:spPr>
          <a:xfrm>
            <a:off x="9188806" y="3502152"/>
            <a:ext cx="2240280" cy="731520"/>
          </a:xfrm>
          <a:prstGeom prst="rect">
            <a:avLst/>
          </a:prstGeom>
          <a:noFill/>
          <a:ln/>
        </p:spPr>
        <p:txBody>
          <a:bodyPr wrap="square" lIns="0" tIns="0" rIns="0" bIns="0" rtlCol="0" anchor="t"/>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Answers dashboard SQL in about 1 second</a:t>
            </a:r>
            <a:endParaRPr lang="en-US" sz="1400" dirty="0"/>
          </a:p>
        </p:txBody>
      </p:sp>
      <p:sp>
        <p:nvSpPr>
          <p:cNvPr id="35" name="tool HBase"/>
          <p:cNvSpPr/>
          <p:nvPr/>
        </p:nvSpPr>
        <p:spPr>
          <a:xfrm>
            <a:off x="548640" y="4398264"/>
            <a:ext cx="2606040" cy="1371600"/>
          </a:xfrm>
          <a:prstGeom prst="roundRect">
            <a:avLst>
              <a:gd name="adj" fmla="val 8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36" name="tool dot"/>
          <p:cNvSpPr/>
          <p:nvPr/>
        </p:nvSpPr>
        <p:spPr>
          <a:xfrm>
            <a:off x="731520" y="4599432"/>
            <a:ext cx="292608" cy="292608"/>
          </a:xfrm>
          <a:prstGeom prst="ellipse">
            <a:avLst/>
          </a:prstGeom>
          <a:solidFill>
            <a:srgbClr val="D9822B"/>
          </a:solidFill>
          <a:ln w="12700">
            <a:solidFill>
              <a:srgbClr val="D9822B"/>
            </a:solidFill>
            <a:prstDash val="solid"/>
          </a:ln>
        </p:spPr>
      </p:sp>
      <p:sp>
        <p:nvSpPr>
          <p:cNvPr id="37" name="Text 35"/>
          <p:cNvSpPr txBox="1"/>
          <p:nvPr/>
        </p:nvSpPr>
        <p:spPr>
          <a:xfrm>
            <a:off x="1143000" y="4535424"/>
            <a:ext cx="1874520" cy="411480"/>
          </a:xfrm>
          <a:prstGeom prst="rect">
            <a:avLst/>
          </a:prstGeom>
          <a:noFill/>
          <a:ln/>
        </p:spPr>
        <p:txBody>
          <a:bodyPr wrap="square" lIns="0" tIns="0" rIns="0" bIns="0" rtlCol="0" anchor="ctr"/>
          <a:lstStyle/>
          <a:p>
            <a:pPr indent="0" marL="0">
              <a:buNone/>
            </a:pPr>
            <a:r>
              <a:rPr lang="en-US" sz="2000" b="1" dirty="0">
                <a:solidFill>
                  <a:srgbClr val="14213D"/>
                </a:solidFill>
                <a:latin typeface="Times New Roman" pitchFamily="34" charset="0"/>
                <a:ea typeface="Times New Roman" pitchFamily="34" charset="-122"/>
                <a:cs typeface="Times New Roman" pitchFamily="34" charset="-120"/>
              </a:rPr>
              <a:t>HBase</a:t>
            </a:r>
            <a:endParaRPr lang="en-US" sz="2000" dirty="0"/>
          </a:p>
        </p:txBody>
      </p:sp>
      <p:sp>
        <p:nvSpPr>
          <p:cNvPr id="38" name="Text 36"/>
          <p:cNvSpPr txBox="1"/>
          <p:nvPr/>
        </p:nvSpPr>
        <p:spPr>
          <a:xfrm>
            <a:off x="731520" y="5038344"/>
            <a:ext cx="2240280" cy="731520"/>
          </a:xfrm>
          <a:prstGeom prst="rect">
            <a:avLst/>
          </a:prstGeom>
          <a:noFill/>
          <a:ln/>
        </p:spPr>
        <p:txBody>
          <a:bodyPr wrap="square" lIns="0" tIns="0" rIns="0" bIns="0" rtlCol="0" anchor="t"/>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Millisecond lookups by repository key</a:t>
            </a:r>
            <a:endParaRPr lang="en-US" sz="1400" dirty="0"/>
          </a:p>
        </p:txBody>
      </p:sp>
      <p:sp>
        <p:nvSpPr>
          <p:cNvPr id="39" name="tool Kafka"/>
          <p:cNvSpPr/>
          <p:nvPr/>
        </p:nvSpPr>
        <p:spPr>
          <a:xfrm>
            <a:off x="3367735" y="4398264"/>
            <a:ext cx="2606040" cy="1371600"/>
          </a:xfrm>
          <a:prstGeom prst="roundRect">
            <a:avLst>
              <a:gd name="adj" fmla="val 8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40" name="tool dot"/>
          <p:cNvSpPr/>
          <p:nvPr/>
        </p:nvSpPr>
        <p:spPr>
          <a:xfrm>
            <a:off x="3550615" y="4599432"/>
            <a:ext cx="292608" cy="292608"/>
          </a:xfrm>
          <a:prstGeom prst="ellipse">
            <a:avLst/>
          </a:prstGeom>
          <a:solidFill>
            <a:srgbClr val="7A4FA3"/>
          </a:solidFill>
          <a:ln w="12700">
            <a:solidFill>
              <a:srgbClr val="7A4FA3"/>
            </a:solidFill>
            <a:prstDash val="solid"/>
          </a:ln>
        </p:spPr>
      </p:sp>
      <p:sp>
        <p:nvSpPr>
          <p:cNvPr id="41" name="Text 39"/>
          <p:cNvSpPr txBox="1"/>
          <p:nvPr/>
        </p:nvSpPr>
        <p:spPr>
          <a:xfrm>
            <a:off x="3962095" y="4535424"/>
            <a:ext cx="1874520" cy="411480"/>
          </a:xfrm>
          <a:prstGeom prst="rect">
            <a:avLst/>
          </a:prstGeom>
          <a:noFill/>
          <a:ln/>
        </p:spPr>
        <p:txBody>
          <a:bodyPr wrap="square" lIns="0" tIns="0" rIns="0" bIns="0" rtlCol="0" anchor="ctr"/>
          <a:lstStyle/>
          <a:p>
            <a:pPr indent="0" marL="0">
              <a:buNone/>
            </a:pPr>
            <a:r>
              <a:rPr lang="en-US" sz="2000" b="1" dirty="0">
                <a:solidFill>
                  <a:srgbClr val="14213D"/>
                </a:solidFill>
                <a:latin typeface="Times New Roman" pitchFamily="34" charset="0"/>
                <a:ea typeface="Times New Roman" pitchFamily="34" charset="-122"/>
                <a:cs typeface="Times New Roman" pitchFamily="34" charset="-120"/>
              </a:rPr>
              <a:t>Kafka</a:t>
            </a:r>
            <a:endParaRPr lang="en-US" sz="2000" dirty="0"/>
          </a:p>
        </p:txBody>
      </p:sp>
      <p:sp>
        <p:nvSpPr>
          <p:cNvPr id="42" name="Text 40"/>
          <p:cNvSpPr txBox="1"/>
          <p:nvPr/>
        </p:nvSpPr>
        <p:spPr>
          <a:xfrm>
            <a:off x="3550615" y="5038344"/>
            <a:ext cx="2240280" cy="731520"/>
          </a:xfrm>
          <a:prstGeom prst="rect">
            <a:avLst/>
          </a:prstGeom>
          <a:noFill/>
          <a:ln/>
        </p:spPr>
        <p:txBody>
          <a:bodyPr wrap="square" lIns="0" tIns="0" rIns="0" bIns="0" rtlCol="0" anchor="t"/>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Queue that carries the live event stream</a:t>
            </a:r>
            <a:endParaRPr lang="en-US" sz="1400" dirty="0"/>
          </a:p>
        </p:txBody>
      </p:sp>
      <p:sp>
        <p:nvSpPr>
          <p:cNvPr id="43" name="tool Storm"/>
          <p:cNvSpPr/>
          <p:nvPr/>
        </p:nvSpPr>
        <p:spPr>
          <a:xfrm>
            <a:off x="6186830" y="4398264"/>
            <a:ext cx="2606040" cy="1371600"/>
          </a:xfrm>
          <a:prstGeom prst="roundRect">
            <a:avLst>
              <a:gd name="adj" fmla="val 8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44" name="tool dot"/>
          <p:cNvSpPr/>
          <p:nvPr/>
        </p:nvSpPr>
        <p:spPr>
          <a:xfrm>
            <a:off x="6369710" y="4599432"/>
            <a:ext cx="292608" cy="292608"/>
          </a:xfrm>
          <a:prstGeom prst="ellipse">
            <a:avLst/>
          </a:prstGeom>
          <a:solidFill>
            <a:srgbClr val="7A4FA3"/>
          </a:solidFill>
          <a:ln w="12700">
            <a:solidFill>
              <a:srgbClr val="7A4FA3"/>
            </a:solidFill>
            <a:prstDash val="solid"/>
          </a:ln>
        </p:spPr>
      </p:sp>
      <p:sp>
        <p:nvSpPr>
          <p:cNvPr id="45" name="Text 43"/>
          <p:cNvSpPr txBox="1"/>
          <p:nvPr/>
        </p:nvSpPr>
        <p:spPr>
          <a:xfrm>
            <a:off x="6781190" y="4535424"/>
            <a:ext cx="1874520" cy="411480"/>
          </a:xfrm>
          <a:prstGeom prst="rect">
            <a:avLst/>
          </a:prstGeom>
          <a:noFill/>
          <a:ln/>
        </p:spPr>
        <p:txBody>
          <a:bodyPr wrap="square" lIns="0" tIns="0" rIns="0" bIns="0" rtlCol="0" anchor="ctr"/>
          <a:lstStyle/>
          <a:p>
            <a:pPr indent="0" marL="0">
              <a:buNone/>
            </a:pPr>
            <a:r>
              <a:rPr lang="en-US" sz="2000" b="1" dirty="0">
                <a:solidFill>
                  <a:srgbClr val="14213D"/>
                </a:solidFill>
                <a:latin typeface="Times New Roman" pitchFamily="34" charset="0"/>
                <a:ea typeface="Times New Roman" pitchFamily="34" charset="-122"/>
                <a:cs typeface="Times New Roman" pitchFamily="34" charset="-120"/>
              </a:rPr>
              <a:t>Storm</a:t>
            </a:r>
            <a:endParaRPr lang="en-US" sz="2000" dirty="0"/>
          </a:p>
        </p:txBody>
      </p:sp>
      <p:sp>
        <p:nvSpPr>
          <p:cNvPr id="46" name="Text 44"/>
          <p:cNvSpPr txBox="1"/>
          <p:nvPr/>
        </p:nvSpPr>
        <p:spPr>
          <a:xfrm>
            <a:off x="6369710" y="5038344"/>
            <a:ext cx="2240280" cy="731520"/>
          </a:xfrm>
          <a:prstGeom prst="rect">
            <a:avLst/>
          </a:prstGeom>
          <a:noFill/>
          <a:ln/>
        </p:spPr>
        <p:txBody>
          <a:bodyPr wrap="square" lIns="0" tIns="0" rIns="0" bIns="0" rtlCol="0" anchor="t"/>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Counts events per minute, detects spikes</a:t>
            </a:r>
            <a:endParaRPr lang="en-US" sz="1400" dirty="0"/>
          </a:p>
        </p:txBody>
      </p:sp>
      <p:sp>
        <p:nvSpPr>
          <p:cNvPr id="47" name="tool Airflow"/>
          <p:cNvSpPr/>
          <p:nvPr/>
        </p:nvSpPr>
        <p:spPr>
          <a:xfrm>
            <a:off x="9005926" y="4398264"/>
            <a:ext cx="2606040" cy="1371600"/>
          </a:xfrm>
          <a:prstGeom prst="roundRect">
            <a:avLst>
              <a:gd name="adj" fmla="val 8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48" name="tool dot"/>
          <p:cNvSpPr/>
          <p:nvPr/>
        </p:nvSpPr>
        <p:spPr>
          <a:xfrm>
            <a:off x="9188806" y="4599432"/>
            <a:ext cx="292608" cy="292608"/>
          </a:xfrm>
          <a:prstGeom prst="ellipse">
            <a:avLst/>
          </a:prstGeom>
          <a:solidFill>
            <a:srgbClr val="D9822B"/>
          </a:solidFill>
          <a:ln w="12700">
            <a:solidFill>
              <a:srgbClr val="D9822B"/>
            </a:solidFill>
            <a:prstDash val="solid"/>
          </a:ln>
        </p:spPr>
      </p:sp>
      <p:sp>
        <p:nvSpPr>
          <p:cNvPr id="49" name="Text 47"/>
          <p:cNvSpPr txBox="1"/>
          <p:nvPr/>
        </p:nvSpPr>
        <p:spPr>
          <a:xfrm>
            <a:off x="9600286" y="4535424"/>
            <a:ext cx="1874520" cy="411480"/>
          </a:xfrm>
          <a:prstGeom prst="rect">
            <a:avLst/>
          </a:prstGeom>
          <a:noFill/>
          <a:ln/>
        </p:spPr>
        <p:txBody>
          <a:bodyPr wrap="square" lIns="0" tIns="0" rIns="0" bIns="0" rtlCol="0" anchor="ctr"/>
          <a:lstStyle/>
          <a:p>
            <a:pPr indent="0" marL="0">
              <a:buNone/>
            </a:pPr>
            <a:r>
              <a:rPr lang="en-US" sz="2000" b="1" dirty="0">
                <a:solidFill>
                  <a:srgbClr val="14213D"/>
                </a:solidFill>
                <a:latin typeface="Times New Roman" pitchFamily="34" charset="0"/>
                <a:ea typeface="Times New Roman" pitchFamily="34" charset="-122"/>
                <a:cs typeface="Times New Roman" pitchFamily="34" charset="-120"/>
              </a:rPr>
              <a:t>Airflow</a:t>
            </a:r>
            <a:endParaRPr lang="en-US" sz="2000" dirty="0"/>
          </a:p>
        </p:txBody>
      </p:sp>
      <p:sp>
        <p:nvSpPr>
          <p:cNvPr id="50" name="Text 48"/>
          <p:cNvSpPr txBox="1"/>
          <p:nvPr/>
        </p:nvSpPr>
        <p:spPr>
          <a:xfrm>
            <a:off x="9188806" y="5038344"/>
            <a:ext cx="2240280" cy="731520"/>
          </a:xfrm>
          <a:prstGeom prst="rect">
            <a:avLst/>
          </a:prstGeom>
          <a:noFill/>
          <a:ln/>
        </p:spPr>
        <p:txBody>
          <a:bodyPr wrap="square" lIns="0" tIns="0" rIns="0" bIns="0" rtlCol="0" anchor="t"/>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Runs every batch step in the right order</a:t>
            </a:r>
            <a:endParaRPr lang="en-US" sz="1400" dirty="0"/>
          </a:p>
        </p:txBody>
      </p:sp>
      <p:sp>
        <p:nvSpPr>
          <p:cNvPr id="51" name="Text 49"/>
          <p:cNvSpPr txBox="1"/>
          <p:nvPr/>
        </p:nvSpPr>
        <p:spPr>
          <a:xfrm>
            <a:off x="548640" y="5943600"/>
            <a:ext cx="11064240" cy="320040"/>
          </a:xfrm>
          <a:prstGeom prst="rect">
            <a:avLst/>
          </a:prstGeom>
          <a:noFill/>
          <a:ln/>
        </p:spPr>
        <p:txBody>
          <a:bodyPr wrap="square" lIns="0" tIns="0" rIns="0" bIns="0" rtlCol="0" anchor="t"/>
          <a:lstStyle/>
          <a:p>
            <a:pPr indent="0" marL="0">
              <a:buNone/>
            </a:pPr>
            <a:r>
              <a:rPr lang="en-US" sz="1300" i="1" dirty="0">
                <a:solidFill>
                  <a:srgbClr val="4B5563"/>
                </a:solidFill>
                <a:latin typeface="Times New Roman" pitchFamily="34" charset="0"/>
                <a:ea typeface="Times New Roman" pitchFamily="34" charset="-122"/>
                <a:cs typeface="Times New Roman" pitchFamily="34" charset="-120"/>
              </a:rPr>
              <a:t>Also used: PostgreSQL (catalogue), ZooKeeper (coordination), Docker Compose (cluster), Tableau (dashboard)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The batch pipeline, step by step</a:t>
            </a:r>
            <a:endParaRPr lang="en-US" sz="3400" dirty="0"/>
          </a:p>
        </p:txBody>
      </p:sp>
      <p:pic>
        <p:nvPicPr>
          <p:cNvPr id="3" name="Image 0" descr="batch_pipeline diagram">    </p:cNvPr>
          <p:cNvPicPr>
            <a:picLocks noChangeAspect="1"/>
          </p:cNvPicPr>
          <p:nvPr/>
        </p:nvPicPr>
        <p:blipFill>
          <a:blip r:embed="rId1"/>
          <a:stretch>
            <a:fillRect/>
          </a:stretch>
        </p:blipFill>
        <p:spPr>
          <a:xfrm>
            <a:off x="822960" y="1280160"/>
            <a:ext cx="10515600" cy="3963572"/>
          </a:xfrm>
          <a:prstGeom prst="rect">
            <a:avLst/>
          </a:prstGeom>
        </p:spPr>
      </p:pic>
      <p:sp>
        <p:nvSpPr>
          <p:cNvPr id="4" name="Text 1"/>
          <p:cNvSpPr txBox="1"/>
          <p:nvPr/>
        </p:nvSpPr>
        <p:spPr>
          <a:xfrm>
            <a:off x="822960" y="5426612"/>
            <a:ext cx="10515600" cy="457200"/>
          </a:xfrm>
          <a:prstGeom prst="rect">
            <a:avLst/>
          </a:prstGeom>
          <a:noFill/>
          <a:ln/>
        </p:spPr>
        <p:txBody>
          <a:bodyPr wrap="square" lIns="0" tIns="0" rIns="0" bIns="0" rtlCol="0" anchor="t"/>
          <a:lstStyle/>
          <a:p>
            <a:pPr algn="ctr" indent="0" marL="0">
              <a:buNone/>
            </a:pPr>
            <a:r>
              <a:rPr lang="en-US" sz="1600" i="1" dirty="0">
                <a:solidFill>
                  <a:srgbClr val="4B5563"/>
                </a:solidFill>
                <a:latin typeface="Times New Roman" pitchFamily="34" charset="0"/>
                <a:ea typeface="Times New Roman" pitchFamily="34" charset="-122"/>
                <a:cs typeface="Times New Roman" pitchFamily="34" charset="-120"/>
              </a:rPr>
              <a:t>Each step overwrites only its own day, so any step can be re-run safely. A failed data-quality gate stops the pipeline.</a:t>
            </a:r>
            <a:endParaRPr lang="en-US" sz="16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Data quality: nothing slips through</a:t>
            </a:r>
            <a:endParaRPr lang="en-US" sz="3400" dirty="0"/>
          </a:p>
        </p:txBody>
      </p:sp>
      <p:graphicFrame>
        <p:nvGraphicFramePr>
          <p:cNvPr id="3" name="Chart 0" descr=""/>
          <p:cNvGraphicFramePr/>
          <p:nvPr/>
        </p:nvGraphicFramePr>
        <p:xfrm>
          <a:off x="548640" y="128016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4" name="stat malformed lines out of 2.4 million"/>
          <p:cNvSpPr/>
          <p:nvPr/>
        </p:nvSpPr>
        <p:spPr>
          <a:xfrm>
            <a:off x="7863840" y="1325880"/>
            <a:ext cx="3749040" cy="1463040"/>
          </a:xfrm>
          <a:prstGeom prst="roundRect">
            <a:avLst>
              <a:gd name="adj" fmla="val 75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046720" y="1463040"/>
            <a:ext cx="3383280" cy="804672"/>
          </a:xfrm>
          <a:prstGeom prst="rect">
            <a:avLst/>
          </a:prstGeom>
          <a:noFill/>
          <a:ln/>
        </p:spPr>
        <p:txBody>
          <a:bodyPr wrap="square" lIns="0" tIns="0" rIns="0" bIns="0" rtlCol="0" anchor="ctr"/>
          <a:lstStyle/>
          <a:p>
            <a:pPr indent="0" marL="0">
              <a:buNone/>
            </a:pPr>
            <a:r>
              <a:rPr lang="en-US" sz="3600" b="1" dirty="0">
                <a:solidFill>
                  <a:srgbClr val="14213D"/>
                </a:solidFill>
                <a:latin typeface="Times New Roman" pitchFamily="34" charset="0"/>
                <a:ea typeface="Times New Roman" pitchFamily="34" charset="-122"/>
                <a:cs typeface="Times New Roman" pitchFamily="34" charset="-120"/>
              </a:rPr>
              <a:t>0</a:t>
            </a:r>
            <a:endParaRPr lang="en-US" sz="3600" dirty="0"/>
          </a:p>
        </p:txBody>
      </p:sp>
      <p:sp>
        <p:nvSpPr>
          <p:cNvPr id="6" name="Text 3"/>
          <p:cNvSpPr txBox="1"/>
          <p:nvPr/>
        </p:nvSpPr>
        <p:spPr>
          <a:xfrm>
            <a:off x="8046720" y="2203704"/>
            <a:ext cx="3383280" cy="512064"/>
          </a:xfrm>
          <a:prstGeom prst="rect">
            <a:avLst/>
          </a:prstGeom>
          <a:noFill/>
          <a:ln/>
        </p:spPr>
        <p:txBody>
          <a:bodyPr wrap="square" lIns="0" tIns="0" rIns="0" bIns="0" rtlCol="0" anchor="t"/>
          <a:lstStyle/>
          <a:p>
            <a:pPr indent="0" marL="0">
              <a:buNone/>
            </a:pPr>
            <a:r>
              <a:rPr lang="en-US" sz="1400" dirty="0">
                <a:solidFill>
                  <a:srgbClr val="4B5563"/>
                </a:solidFill>
                <a:latin typeface="Times New Roman" pitchFamily="34" charset="0"/>
                <a:ea typeface="Times New Roman" pitchFamily="34" charset="-122"/>
                <a:cs typeface="Times New Roman" pitchFamily="34" charset="-120"/>
              </a:rPr>
              <a:t>malformed lines out of 2.4 million</a:t>
            </a:r>
            <a:endParaRPr lang="en-US" sz="1400" dirty="0"/>
          </a:p>
        </p:txBody>
      </p:sp>
      <p:sp>
        <p:nvSpPr>
          <p:cNvPr id="7" name="stat duplicate event found and removed"/>
          <p:cNvSpPr/>
          <p:nvPr/>
        </p:nvSpPr>
        <p:spPr>
          <a:xfrm>
            <a:off x="7863840" y="2971800"/>
            <a:ext cx="3749040" cy="1463040"/>
          </a:xfrm>
          <a:prstGeom prst="roundRect">
            <a:avLst>
              <a:gd name="adj" fmla="val 75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8046720" y="3108960"/>
            <a:ext cx="3383280" cy="804672"/>
          </a:xfrm>
          <a:prstGeom prst="rect">
            <a:avLst/>
          </a:prstGeom>
          <a:noFill/>
          <a:ln/>
        </p:spPr>
        <p:txBody>
          <a:bodyPr wrap="square" lIns="0" tIns="0" rIns="0" bIns="0" rtlCol="0" anchor="ctr"/>
          <a:lstStyle/>
          <a:p>
            <a:pPr indent="0" marL="0">
              <a:buNone/>
            </a:pPr>
            <a:r>
              <a:rPr lang="en-US" sz="3600" b="1" dirty="0">
                <a:solidFill>
                  <a:srgbClr val="14213D"/>
                </a:solidFill>
                <a:latin typeface="Times New Roman" pitchFamily="34" charset="0"/>
                <a:ea typeface="Times New Roman" pitchFamily="34" charset="-122"/>
                <a:cs typeface="Times New Roman" pitchFamily="34" charset="-120"/>
              </a:rPr>
              <a:t>1</a:t>
            </a:r>
            <a:endParaRPr lang="en-US" sz="3600" dirty="0"/>
          </a:p>
        </p:txBody>
      </p:sp>
      <p:sp>
        <p:nvSpPr>
          <p:cNvPr id="9" name="Text 6"/>
          <p:cNvSpPr txBox="1"/>
          <p:nvPr/>
        </p:nvSpPr>
        <p:spPr>
          <a:xfrm>
            <a:off x="8046720" y="3849624"/>
            <a:ext cx="3383280" cy="512064"/>
          </a:xfrm>
          <a:prstGeom prst="rect">
            <a:avLst/>
          </a:prstGeom>
          <a:noFill/>
          <a:ln/>
        </p:spPr>
        <p:txBody>
          <a:bodyPr wrap="square" lIns="0" tIns="0" rIns="0" bIns="0" rtlCol="0" anchor="t"/>
          <a:lstStyle/>
          <a:p>
            <a:pPr indent="0" marL="0">
              <a:buNone/>
            </a:pPr>
            <a:r>
              <a:rPr lang="en-US" sz="1400" dirty="0">
                <a:solidFill>
                  <a:srgbClr val="4B5563"/>
                </a:solidFill>
                <a:latin typeface="Times New Roman" pitchFamily="34" charset="0"/>
                <a:ea typeface="Times New Roman" pitchFamily="34" charset="-122"/>
                <a:cs typeface="Times New Roman" pitchFamily="34" charset="-120"/>
              </a:rPr>
              <a:t>duplicate event found and removed</a:t>
            </a:r>
            <a:endParaRPr lang="en-US" sz="1400" dirty="0"/>
          </a:p>
        </p:txBody>
      </p:sp>
      <p:sp>
        <p:nvSpPr>
          <p:cNvPr id="10" name="stat real data bugs caught by the gates"/>
          <p:cNvSpPr/>
          <p:nvPr/>
        </p:nvSpPr>
        <p:spPr>
          <a:xfrm>
            <a:off x="7863840" y="4617720"/>
            <a:ext cx="3749040" cy="1463040"/>
          </a:xfrm>
          <a:prstGeom prst="roundRect">
            <a:avLst>
              <a:gd name="adj" fmla="val 7500"/>
            </a:avLst>
          </a:prstGeom>
          <a:solidFill>
            <a:srgbClr val="E3F4E8"/>
          </a:solidFill>
          <a:ln w="12700">
            <a:solidFill>
              <a:srgbClr val="E3F4E8"/>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8046720" y="4754880"/>
            <a:ext cx="3383280" cy="804672"/>
          </a:xfrm>
          <a:prstGeom prst="rect">
            <a:avLst/>
          </a:prstGeom>
          <a:noFill/>
          <a:ln/>
        </p:spPr>
        <p:txBody>
          <a:bodyPr wrap="square" lIns="0" tIns="0" rIns="0" bIns="0" rtlCol="0" anchor="ctr"/>
          <a:lstStyle/>
          <a:p>
            <a:pPr indent="0" marL="0">
              <a:buNone/>
            </a:pPr>
            <a:r>
              <a:rPr lang="en-US" sz="3600" b="1" dirty="0">
                <a:solidFill>
                  <a:srgbClr val="2DA44E"/>
                </a:solidFill>
                <a:latin typeface="Times New Roman" pitchFamily="34" charset="0"/>
                <a:ea typeface="Times New Roman" pitchFamily="34" charset="-122"/>
                <a:cs typeface="Times New Roman" pitchFamily="34" charset="-120"/>
              </a:rPr>
              <a:t>2</a:t>
            </a:r>
            <a:endParaRPr lang="en-US" sz="3600" dirty="0"/>
          </a:p>
        </p:txBody>
      </p:sp>
      <p:sp>
        <p:nvSpPr>
          <p:cNvPr id="12" name="Text 9"/>
          <p:cNvSpPr txBox="1"/>
          <p:nvPr/>
        </p:nvSpPr>
        <p:spPr>
          <a:xfrm>
            <a:off x="8046720" y="5495544"/>
            <a:ext cx="3383280" cy="512064"/>
          </a:xfrm>
          <a:prstGeom prst="rect">
            <a:avLst/>
          </a:prstGeom>
          <a:noFill/>
          <a:ln/>
        </p:spPr>
        <p:txBody>
          <a:bodyPr wrap="square" lIns="0" tIns="0" rIns="0" bIns="0" rtlCol="0" anchor="t"/>
          <a:lstStyle/>
          <a:p>
            <a:pPr indent="0" marL="0">
              <a:buNone/>
            </a:pPr>
            <a:r>
              <a:rPr lang="en-US" sz="1400" dirty="0">
                <a:solidFill>
                  <a:srgbClr val="4B5563"/>
                </a:solidFill>
                <a:latin typeface="Times New Roman" pitchFamily="34" charset="0"/>
                <a:ea typeface="Times New Roman" pitchFamily="34" charset="-122"/>
                <a:cs typeface="Times New Roman" pitchFamily="34" charset="-120"/>
              </a:rPr>
              <a:t>real data bugs caught by the gates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Real time: Kafka to Storm to HBase</a:t>
            </a:r>
            <a:endParaRPr lang="en-US" sz="3400" dirty="0"/>
          </a:p>
        </p:txBody>
      </p:sp>
      <p:pic>
        <p:nvPicPr>
          <p:cNvPr id="3" name="Image 0" descr="streaming diagram">    </p:cNvPr>
          <p:cNvPicPr>
            <a:picLocks noChangeAspect="1"/>
          </p:cNvPicPr>
          <p:nvPr/>
        </p:nvPicPr>
        <p:blipFill>
          <a:blip r:embed="rId1"/>
          <a:stretch>
            <a:fillRect/>
          </a:stretch>
        </p:blipFill>
        <p:spPr>
          <a:xfrm>
            <a:off x="2075688" y="1097280"/>
            <a:ext cx="8046720" cy="3218688"/>
          </a:xfrm>
          <a:prstGeom prst="rect">
            <a:avLst/>
          </a:prstGeom>
        </p:spPr>
      </p:pic>
      <p:sp>
        <p:nvSpPr>
          <p:cNvPr id="4" name="stat replay speed: 1 hour in about 65 s"/>
          <p:cNvSpPr/>
          <p:nvPr/>
        </p:nvSpPr>
        <p:spPr>
          <a:xfrm>
            <a:off x="548640" y="4572000"/>
            <a:ext cx="3520440" cy="1600200"/>
          </a:xfrm>
          <a:prstGeom prst="roundRect">
            <a:avLst>
              <a:gd name="adj" fmla="val 6857"/>
            </a:avLst>
          </a:prstGeom>
          <a:solidFill>
            <a:srgbClr val="F0E8F7"/>
          </a:solidFill>
          <a:ln w="12700">
            <a:solidFill>
              <a:srgbClr val="F0E8F7"/>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731520" y="4709160"/>
            <a:ext cx="3154680" cy="880110"/>
          </a:xfrm>
          <a:prstGeom prst="rect">
            <a:avLst/>
          </a:prstGeom>
          <a:noFill/>
          <a:ln/>
        </p:spPr>
        <p:txBody>
          <a:bodyPr wrap="square" lIns="0" tIns="0" rIns="0" bIns="0" rtlCol="0" anchor="ctr"/>
          <a:lstStyle/>
          <a:p>
            <a:pPr indent="0" marL="0">
              <a:buNone/>
            </a:pPr>
            <a:r>
              <a:rPr lang="en-US" sz="3600" b="1" dirty="0">
                <a:solidFill>
                  <a:srgbClr val="7A4FA3"/>
                </a:solidFill>
                <a:latin typeface="Times New Roman" pitchFamily="34" charset="0"/>
                <a:ea typeface="Times New Roman" pitchFamily="34" charset="-122"/>
                <a:cs typeface="Times New Roman" pitchFamily="34" charset="-120"/>
              </a:rPr>
              <a:t>60x</a:t>
            </a:r>
            <a:endParaRPr lang="en-US" sz="3600" dirty="0"/>
          </a:p>
        </p:txBody>
      </p:sp>
      <p:sp>
        <p:nvSpPr>
          <p:cNvPr id="6" name="Text 3"/>
          <p:cNvSpPr txBox="1"/>
          <p:nvPr/>
        </p:nvSpPr>
        <p:spPr>
          <a:xfrm>
            <a:off x="731520" y="5532120"/>
            <a:ext cx="3154680" cy="560070"/>
          </a:xfrm>
          <a:prstGeom prst="rect">
            <a:avLst/>
          </a:prstGeom>
          <a:noFill/>
          <a:ln/>
        </p:spPr>
        <p:txBody>
          <a:bodyPr wrap="square" lIns="0" tIns="0" rIns="0" bIns="0" rtlCol="0" anchor="t"/>
          <a:lstStyle/>
          <a:p>
            <a:pPr indent="0" marL="0">
              <a:buNone/>
            </a:pPr>
            <a:r>
              <a:rPr lang="en-US" sz="1400" dirty="0">
                <a:solidFill>
                  <a:srgbClr val="4B5563"/>
                </a:solidFill>
                <a:latin typeface="Times New Roman" pitchFamily="34" charset="0"/>
                <a:ea typeface="Times New Roman" pitchFamily="34" charset="-122"/>
                <a:cs typeface="Times New Roman" pitchFamily="34" charset="-120"/>
              </a:rPr>
              <a:t>replay speed: 1 hour in about 65 s</a:t>
            </a:r>
            <a:endParaRPr lang="en-US" sz="1400" dirty="0"/>
          </a:p>
        </p:txBody>
      </p:sp>
      <p:sp>
        <p:nvSpPr>
          <p:cNvPr id="7" name="stat failed tuples across 167k events"/>
          <p:cNvSpPr/>
          <p:nvPr/>
        </p:nvSpPr>
        <p:spPr>
          <a:xfrm>
            <a:off x="4334256" y="4572000"/>
            <a:ext cx="3520440" cy="1600200"/>
          </a:xfrm>
          <a:prstGeom prst="roundRect">
            <a:avLst>
              <a:gd name="adj" fmla="val 6857"/>
            </a:avLst>
          </a:prstGeom>
          <a:solidFill>
            <a:srgbClr val="E3F4E8"/>
          </a:solidFill>
          <a:ln w="12700">
            <a:solidFill>
              <a:srgbClr val="E3F4E8"/>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4517136" y="4709160"/>
            <a:ext cx="3154680" cy="880110"/>
          </a:xfrm>
          <a:prstGeom prst="rect">
            <a:avLst/>
          </a:prstGeom>
          <a:noFill/>
          <a:ln/>
        </p:spPr>
        <p:txBody>
          <a:bodyPr wrap="square" lIns="0" tIns="0" rIns="0" bIns="0" rtlCol="0" anchor="ctr"/>
          <a:lstStyle/>
          <a:p>
            <a:pPr indent="0" marL="0">
              <a:buNone/>
            </a:pPr>
            <a:r>
              <a:rPr lang="en-US" sz="3600" b="1" dirty="0">
                <a:solidFill>
                  <a:srgbClr val="2DA44E"/>
                </a:solidFill>
                <a:latin typeface="Times New Roman" pitchFamily="34" charset="0"/>
                <a:ea typeface="Times New Roman" pitchFamily="34" charset="-122"/>
                <a:cs typeface="Times New Roman" pitchFamily="34" charset="-120"/>
              </a:rPr>
              <a:t>0</a:t>
            </a:r>
            <a:endParaRPr lang="en-US" sz="3600" dirty="0"/>
          </a:p>
        </p:txBody>
      </p:sp>
      <p:sp>
        <p:nvSpPr>
          <p:cNvPr id="9" name="Text 6"/>
          <p:cNvSpPr txBox="1"/>
          <p:nvPr/>
        </p:nvSpPr>
        <p:spPr>
          <a:xfrm>
            <a:off x="4517136" y="5532120"/>
            <a:ext cx="3154680" cy="560070"/>
          </a:xfrm>
          <a:prstGeom prst="rect">
            <a:avLst/>
          </a:prstGeom>
          <a:noFill/>
          <a:ln/>
        </p:spPr>
        <p:txBody>
          <a:bodyPr wrap="square" lIns="0" tIns="0" rIns="0" bIns="0" rtlCol="0" anchor="t"/>
          <a:lstStyle/>
          <a:p>
            <a:pPr indent="0" marL="0">
              <a:buNone/>
            </a:pPr>
            <a:r>
              <a:rPr lang="en-US" sz="1400" dirty="0">
                <a:solidFill>
                  <a:srgbClr val="4B5563"/>
                </a:solidFill>
                <a:latin typeface="Times New Roman" pitchFamily="34" charset="0"/>
                <a:ea typeface="Times New Roman" pitchFamily="34" charset="-122"/>
                <a:cs typeface="Times New Roman" pitchFamily="34" charset="-120"/>
              </a:rPr>
              <a:t>failed tuples across 167k events</a:t>
            </a:r>
            <a:endParaRPr lang="en-US" sz="1400" dirty="0"/>
          </a:p>
        </p:txBody>
      </p:sp>
      <p:sp>
        <p:nvSpPr>
          <p:cNvPr id="10" name="stat spike: 18 events vs a mean of 0.41"/>
          <p:cNvSpPr/>
          <p:nvPr/>
        </p:nvSpPr>
        <p:spPr>
          <a:xfrm>
            <a:off x="8119872" y="4572000"/>
            <a:ext cx="3520440" cy="1600200"/>
          </a:xfrm>
          <a:prstGeom prst="roundRect">
            <a:avLst>
              <a:gd name="adj" fmla="val 6857"/>
            </a:avLst>
          </a:prstGeom>
          <a:solidFill>
            <a:srgbClr val="FBEBDD"/>
          </a:solidFill>
          <a:ln w="12700">
            <a:solidFill>
              <a:srgbClr val="FBEBDD"/>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8302752" y="4709160"/>
            <a:ext cx="3154680" cy="880110"/>
          </a:xfrm>
          <a:prstGeom prst="rect">
            <a:avLst/>
          </a:prstGeom>
          <a:noFill/>
          <a:ln/>
        </p:spPr>
        <p:txBody>
          <a:bodyPr wrap="square" lIns="0" tIns="0" rIns="0" bIns="0" rtlCol="0" anchor="ctr"/>
          <a:lstStyle/>
          <a:p>
            <a:pPr indent="0" marL="0">
              <a:buNone/>
            </a:pPr>
            <a:r>
              <a:rPr lang="en-US" sz="3600" b="1" dirty="0">
                <a:solidFill>
                  <a:srgbClr val="D9822B"/>
                </a:solidFill>
                <a:latin typeface="Times New Roman" pitchFamily="34" charset="0"/>
                <a:ea typeface="Times New Roman" pitchFamily="34" charset="-122"/>
                <a:cs typeface="Times New Roman" pitchFamily="34" charset="-120"/>
              </a:rPr>
              <a:t>z = 12.8</a:t>
            </a:r>
            <a:endParaRPr lang="en-US" sz="3600" dirty="0"/>
          </a:p>
        </p:txBody>
      </p:sp>
      <p:sp>
        <p:nvSpPr>
          <p:cNvPr id="12" name="Text 9"/>
          <p:cNvSpPr txBox="1"/>
          <p:nvPr/>
        </p:nvSpPr>
        <p:spPr>
          <a:xfrm>
            <a:off x="8302752" y="5532120"/>
            <a:ext cx="3154680" cy="560070"/>
          </a:xfrm>
          <a:prstGeom prst="rect">
            <a:avLst/>
          </a:prstGeom>
          <a:noFill/>
          <a:ln/>
        </p:spPr>
        <p:txBody>
          <a:bodyPr wrap="square" lIns="0" tIns="0" rIns="0" bIns="0" rtlCol="0" anchor="t"/>
          <a:lstStyle/>
          <a:p>
            <a:pPr indent="0" marL="0">
              <a:buNone/>
            </a:pPr>
            <a:r>
              <a:rPr lang="en-US" sz="1400" dirty="0">
                <a:solidFill>
                  <a:srgbClr val="4B5563"/>
                </a:solidFill>
                <a:latin typeface="Times New Roman" pitchFamily="34" charset="0"/>
                <a:ea typeface="Times New Roman" pitchFamily="34" charset="-122"/>
                <a:cs typeface="Times New Roman" pitchFamily="34" charset="-120"/>
              </a:rPr>
              <a:t>spike: 18 events vs a mean of 0.41</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Machine learning: "You may also like"</a:t>
            </a:r>
            <a:endParaRPr lang="en-US" sz="3400" dirty="0"/>
          </a:p>
        </p:txBody>
      </p:sp>
      <p:graphicFrame>
        <p:nvGraphicFramePr>
          <p:cNvPr id="3" name="Chart 0" descr=""/>
          <p:cNvGraphicFramePr/>
          <p:nvPr/>
        </p:nvGraphicFramePr>
        <p:xfrm>
          <a:off x="548640" y="1280160"/>
          <a:ext cx="7406640" cy="493776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8321040" y="1325880"/>
            <a:ext cx="3291840" cy="4846320"/>
          </a:xfrm>
          <a:prstGeom prst="roundRect">
            <a:avLst>
              <a:gd name="adj" fmla="val 3333"/>
            </a:avLst>
          </a:prstGeom>
          <a:solidFill>
            <a:srgbClr val="E3F4E8"/>
          </a:solidFill>
          <a:ln w="12700">
            <a:solidFill>
              <a:srgbClr val="E3F4E8"/>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549640" y="1508760"/>
            <a:ext cx="2834640" cy="914400"/>
          </a:xfrm>
          <a:prstGeom prst="rect">
            <a:avLst/>
          </a:prstGeom>
          <a:noFill/>
          <a:ln/>
        </p:spPr>
        <p:txBody>
          <a:bodyPr wrap="square" lIns="0" tIns="0" rIns="0" bIns="0" rtlCol="0" anchor="t"/>
          <a:lstStyle/>
          <a:p>
            <a:pPr indent="0" marL="0">
              <a:buNone/>
            </a:pPr>
            <a:r>
              <a:rPr lang="en-US" sz="5400" b="1" dirty="0">
                <a:solidFill>
                  <a:srgbClr val="2DA44E"/>
                </a:solidFill>
                <a:latin typeface="Times New Roman" pitchFamily="34" charset="0"/>
                <a:ea typeface="Times New Roman" pitchFamily="34" charset="-122"/>
                <a:cs typeface="Times New Roman" pitchFamily="34" charset="-120"/>
              </a:rPr>
              <a:t>6x</a:t>
            </a:r>
            <a:endParaRPr lang="en-US" sz="5400" dirty="0"/>
          </a:p>
        </p:txBody>
      </p:sp>
      <p:sp>
        <p:nvSpPr>
          <p:cNvPr id="6" name="Text 3"/>
          <p:cNvSpPr txBox="1"/>
          <p:nvPr/>
        </p:nvSpPr>
        <p:spPr>
          <a:xfrm>
            <a:off x="8549640" y="2468880"/>
            <a:ext cx="2834640" cy="1005840"/>
          </a:xfrm>
          <a:prstGeom prst="rect">
            <a:avLst/>
          </a:prstGeom>
          <a:noFill/>
          <a:ln/>
        </p:spPr>
        <p:txBody>
          <a:bodyPr wrap="square" lIns="0" tIns="0" rIns="0" bIns="0" rtlCol="0" anchor="t"/>
          <a:lstStyle/>
          <a:p>
            <a:pPr indent="0" marL="0">
              <a:buNone/>
            </a:pPr>
            <a:r>
              <a:rPr lang="en-US" sz="1600" dirty="0">
                <a:solidFill>
                  <a:srgbClr val="1F2937"/>
                </a:solidFill>
                <a:latin typeface="Times New Roman" pitchFamily="34" charset="0"/>
                <a:ea typeface="Times New Roman" pitchFamily="34" charset="-122"/>
                <a:cs typeface="Times New Roman" pitchFamily="34" charset="-120"/>
              </a:rPr>
              <a:t>better recall than just recommending the most popular repositories</a:t>
            </a:r>
            <a:endParaRPr lang="en-US" sz="1600" dirty="0"/>
          </a:p>
        </p:txBody>
      </p:sp>
      <p:sp>
        <p:nvSpPr>
          <p:cNvPr id="7" name="Text 4"/>
          <p:cNvSpPr txBox="1"/>
          <p:nvPr/>
        </p:nvSpPr>
        <p:spPr>
          <a:xfrm>
            <a:off x="8549640" y="3657600"/>
            <a:ext cx="2880360" cy="22860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7"/>
                </a:solidFill>
                <a:latin typeface="Times New Roman" pitchFamily="34" charset="0"/>
                <a:ea typeface="Times New Roman" pitchFamily="34" charset="-122"/>
                <a:cs typeface="Times New Roman" pitchFamily="34" charset="-120"/>
              </a:rPr>
              <a:t>Item CF: "people who starred X also starred Y"</a:t>
            </a:r>
            <a:endParaRPr lang="en-US" sz="1400" dirty="0"/>
          </a:p>
          <a:p>
            <a:pPr marL="342900" indent="-342900">
              <a:spcAft>
                <a:spcPts val="800"/>
              </a:spcAft>
              <a:buSzPct val="100000"/>
              <a:buChar char="•"/>
            </a:pPr>
            <a:r>
              <a:rPr lang="en-US" sz="1400" dirty="0">
                <a:solidFill>
                  <a:srgbClr val="1F2937"/>
                </a:solidFill>
                <a:latin typeface="Times New Roman" pitchFamily="34" charset="0"/>
                <a:ea typeface="Times New Roman" pitchFamily="34" charset="-122"/>
                <a:cs typeface="Times New Roman" pitchFamily="34" charset="-120"/>
              </a:rPr>
              <a:t>Mahout also covers 53% of the catalogue, ALS only 24%</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Machine learning: viral repos and clusters</a:t>
            </a:r>
            <a:endParaRPr lang="en-US" sz="3400" dirty="0"/>
          </a:p>
        </p:txBody>
      </p:sp>
      <p:sp>
        <p:nvSpPr>
          <p:cNvPr id="3" name="Text 1"/>
          <p:cNvSpPr txBox="1"/>
          <p:nvPr/>
        </p:nvSpPr>
        <p:spPr>
          <a:xfrm>
            <a:off x="548640" y="1325880"/>
            <a:ext cx="5486400" cy="457200"/>
          </a:xfrm>
          <a:prstGeom prst="rect">
            <a:avLst/>
          </a:prstGeom>
          <a:noFill/>
          <a:ln/>
        </p:spPr>
        <p:txBody>
          <a:bodyPr wrap="square" lIns="0" tIns="0" rIns="0" bIns="0" rtlCol="0" anchor="t"/>
          <a:lstStyle/>
          <a:p>
            <a:pPr indent="0" marL="0">
              <a:buNone/>
            </a:pPr>
            <a:r>
              <a:rPr lang="en-US" sz="2000" b="1" dirty="0">
                <a:solidFill>
                  <a:srgbClr val="14213D"/>
                </a:solidFill>
                <a:latin typeface="Times New Roman" pitchFamily="34" charset="0"/>
                <a:ea typeface="Times New Roman" pitchFamily="34" charset="-122"/>
                <a:cs typeface="Times New Roman" pitchFamily="34" charset="-120"/>
              </a:rPr>
              <a:t>Q8. Will a brand-new repository go viral?</a:t>
            </a:r>
            <a:endParaRPr lang="en-US" sz="2000" dirty="0"/>
          </a:p>
        </p:txBody>
      </p:sp>
      <p:sp>
        <p:nvSpPr>
          <p:cNvPr id="4" name="stat AUC-ROC, logistic regression"/>
          <p:cNvSpPr/>
          <p:nvPr/>
        </p:nvSpPr>
        <p:spPr>
          <a:xfrm>
            <a:off x="548640" y="1920240"/>
            <a:ext cx="2606040" cy="1828800"/>
          </a:xfrm>
          <a:prstGeom prst="roundRect">
            <a:avLst>
              <a:gd name="adj" fmla="val 6000"/>
            </a:avLst>
          </a:prstGeom>
          <a:solidFill>
            <a:srgbClr val="E3F4E8"/>
          </a:solidFill>
          <a:ln w="12700">
            <a:solidFill>
              <a:srgbClr val="E3F4E8"/>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731520" y="2057400"/>
            <a:ext cx="2240280" cy="1005840"/>
          </a:xfrm>
          <a:prstGeom prst="rect">
            <a:avLst/>
          </a:prstGeom>
          <a:noFill/>
          <a:ln/>
        </p:spPr>
        <p:txBody>
          <a:bodyPr wrap="square" lIns="0" tIns="0" rIns="0" bIns="0" rtlCol="0" anchor="ctr"/>
          <a:lstStyle/>
          <a:p>
            <a:pPr indent="0" marL="0">
              <a:buNone/>
            </a:pPr>
            <a:r>
              <a:rPr lang="en-US" sz="3600" b="1" dirty="0">
                <a:solidFill>
                  <a:srgbClr val="2DA44E"/>
                </a:solidFill>
                <a:latin typeface="Times New Roman" pitchFamily="34" charset="0"/>
                <a:ea typeface="Times New Roman" pitchFamily="34" charset="-122"/>
                <a:cs typeface="Times New Roman" pitchFamily="34" charset="-120"/>
              </a:rPr>
              <a:t>0.73</a:t>
            </a:r>
            <a:endParaRPr lang="en-US" sz="3600" dirty="0"/>
          </a:p>
        </p:txBody>
      </p:sp>
      <p:sp>
        <p:nvSpPr>
          <p:cNvPr id="6" name="Text 4"/>
          <p:cNvSpPr txBox="1"/>
          <p:nvPr/>
        </p:nvSpPr>
        <p:spPr>
          <a:xfrm>
            <a:off x="731520" y="3017520"/>
            <a:ext cx="2240280" cy="640080"/>
          </a:xfrm>
          <a:prstGeom prst="rect">
            <a:avLst/>
          </a:prstGeom>
          <a:noFill/>
          <a:ln/>
        </p:spPr>
        <p:txBody>
          <a:bodyPr wrap="square" lIns="0" tIns="0" rIns="0" bIns="0" rtlCol="0" anchor="t"/>
          <a:lstStyle/>
          <a:p>
            <a:pPr indent="0" marL="0">
              <a:buNone/>
            </a:pPr>
            <a:r>
              <a:rPr lang="en-US" sz="1400" dirty="0">
                <a:solidFill>
                  <a:srgbClr val="4B5563"/>
                </a:solidFill>
                <a:latin typeface="Times New Roman" pitchFamily="34" charset="0"/>
                <a:ea typeface="Times New Roman" pitchFamily="34" charset="-122"/>
                <a:cs typeface="Times New Roman" pitchFamily="34" charset="-120"/>
              </a:rPr>
              <a:t>AUC-ROC, logistic regression</a:t>
            </a:r>
            <a:endParaRPr lang="en-US" sz="1400" dirty="0"/>
          </a:p>
        </p:txBody>
      </p:sp>
      <p:sp>
        <p:nvSpPr>
          <p:cNvPr id="7" name="stat better than random guessing (lift)"/>
          <p:cNvSpPr/>
          <p:nvPr/>
        </p:nvSpPr>
        <p:spPr>
          <a:xfrm>
            <a:off x="3337560" y="1920240"/>
            <a:ext cx="2606040" cy="1828800"/>
          </a:xfrm>
          <a:prstGeom prst="roundRect">
            <a:avLst>
              <a:gd name="adj" fmla="val 6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8" name="Text 6"/>
          <p:cNvSpPr txBox="1"/>
          <p:nvPr/>
        </p:nvSpPr>
        <p:spPr>
          <a:xfrm>
            <a:off x="3520440" y="2057400"/>
            <a:ext cx="2240280" cy="1005840"/>
          </a:xfrm>
          <a:prstGeom prst="rect">
            <a:avLst/>
          </a:prstGeom>
          <a:noFill/>
          <a:ln/>
        </p:spPr>
        <p:txBody>
          <a:bodyPr wrap="square" lIns="0" tIns="0" rIns="0" bIns="0" rtlCol="0" anchor="ctr"/>
          <a:lstStyle/>
          <a:p>
            <a:pPr indent="0" marL="0">
              <a:buNone/>
            </a:pPr>
            <a:r>
              <a:rPr lang="en-US" sz="3600" b="1" dirty="0">
                <a:solidFill>
                  <a:srgbClr val="14213D"/>
                </a:solidFill>
                <a:latin typeface="Times New Roman" pitchFamily="34" charset="0"/>
                <a:ea typeface="Times New Roman" pitchFamily="34" charset="-122"/>
                <a:cs typeface="Times New Roman" pitchFamily="34" charset="-120"/>
              </a:rPr>
              <a:t>2.7x</a:t>
            </a:r>
            <a:endParaRPr lang="en-US" sz="3600" dirty="0"/>
          </a:p>
        </p:txBody>
      </p:sp>
      <p:sp>
        <p:nvSpPr>
          <p:cNvPr id="9" name="Text 7"/>
          <p:cNvSpPr txBox="1"/>
          <p:nvPr/>
        </p:nvSpPr>
        <p:spPr>
          <a:xfrm>
            <a:off x="3520440" y="3017520"/>
            <a:ext cx="2240280" cy="640080"/>
          </a:xfrm>
          <a:prstGeom prst="rect">
            <a:avLst/>
          </a:prstGeom>
          <a:noFill/>
          <a:ln/>
        </p:spPr>
        <p:txBody>
          <a:bodyPr wrap="square" lIns="0" tIns="0" rIns="0" bIns="0" rtlCol="0" anchor="t"/>
          <a:lstStyle/>
          <a:p>
            <a:pPr indent="0" marL="0">
              <a:buNone/>
            </a:pPr>
            <a:r>
              <a:rPr lang="en-US" sz="1400" dirty="0">
                <a:solidFill>
                  <a:srgbClr val="4B5563"/>
                </a:solidFill>
                <a:latin typeface="Times New Roman" pitchFamily="34" charset="0"/>
                <a:ea typeface="Times New Roman" pitchFamily="34" charset="-122"/>
                <a:cs typeface="Times New Roman" pitchFamily="34" charset="-120"/>
              </a:rPr>
              <a:t>better than random guessing (lift)</a:t>
            </a:r>
            <a:endParaRPr lang="en-US" sz="1400" dirty="0"/>
          </a:p>
        </p:txBody>
      </p:sp>
      <p:sp>
        <p:nvSpPr>
          <p:cNvPr id="10" name="Text 8"/>
          <p:cNvSpPr txBox="1"/>
          <p:nvPr/>
        </p:nvSpPr>
        <p:spPr>
          <a:xfrm>
            <a:off x="548640" y="3977640"/>
            <a:ext cx="5394960" cy="1280160"/>
          </a:xfrm>
          <a:prstGeom prst="rect">
            <a:avLst/>
          </a:prstGeom>
          <a:noFill/>
          <a:ln/>
        </p:spPr>
        <p:txBody>
          <a:bodyPr wrap="square" lIns="0" tIns="0" rIns="0" bIns="0" rtlCol="0" anchor="t"/>
          <a:lstStyle/>
          <a:p>
            <a:pPr algn="just" indent="0" marL="0">
              <a:buNone/>
            </a:pPr>
            <a:r>
              <a:rPr lang="en-US" sz="1500" dirty="0">
                <a:solidFill>
                  <a:srgbClr val="1F2937"/>
                </a:solidFill>
                <a:latin typeface="Times New Roman" pitchFamily="34" charset="0"/>
                <a:ea typeface="Times New Roman" pitchFamily="34" charset="-122"/>
                <a:cs typeface="Times New Roman" pitchFamily="34" charset="-120"/>
              </a:rPr>
              <a:t>Trained on 67,585 new repositories using their first hour of activity. Gradient-boosted trees reached only 0.55, so the simpler model won.</a:t>
            </a:r>
            <a:endParaRPr lang="en-US" sz="1500" dirty="0"/>
          </a:p>
        </p:txBody>
      </p:sp>
      <p:sp>
        <p:nvSpPr>
          <p:cNvPr id="11" name="Text 9"/>
          <p:cNvSpPr txBox="1"/>
          <p:nvPr/>
        </p:nvSpPr>
        <p:spPr>
          <a:xfrm>
            <a:off x="6400800" y="1325880"/>
            <a:ext cx="5303520" cy="457200"/>
          </a:xfrm>
          <a:prstGeom prst="rect">
            <a:avLst/>
          </a:prstGeom>
          <a:noFill/>
          <a:ln/>
        </p:spPr>
        <p:txBody>
          <a:bodyPr wrap="square" lIns="0" tIns="0" rIns="0" bIns="0" rtlCol="0" anchor="t"/>
          <a:lstStyle/>
          <a:p>
            <a:pPr indent="0" marL="0">
              <a:buNone/>
            </a:pPr>
            <a:r>
              <a:rPr lang="en-US" sz="2000" b="1" dirty="0">
                <a:solidFill>
                  <a:srgbClr val="14213D"/>
                </a:solidFill>
                <a:latin typeface="Times New Roman" pitchFamily="34" charset="0"/>
                <a:ea typeface="Times New Roman" pitchFamily="34" charset="-122"/>
                <a:cs typeface="Times New Roman" pitchFamily="34" charset="-120"/>
              </a:rPr>
              <a:t>Q10. Six kinds of repositories (Mahout k-means)</a:t>
            </a:r>
            <a:endParaRPr lang="en-US" sz="2000" dirty="0"/>
          </a:p>
        </p:txBody>
      </p:sp>
      <p:sp>
        <p:nvSpPr>
          <p:cNvPr id="12" name="cluster Push-only, solo"/>
          <p:cNvSpPr/>
          <p:nvPr/>
        </p:nvSpPr>
        <p:spPr>
          <a:xfrm>
            <a:off x="6400800" y="1920240"/>
            <a:ext cx="2468880" cy="914400"/>
          </a:xfrm>
          <a:prstGeom prst="roundRect">
            <a:avLst>
              <a:gd name="adj" fmla="val 12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3" name="cluster dot"/>
          <p:cNvSpPr/>
          <p:nvPr/>
        </p:nvSpPr>
        <p:spPr>
          <a:xfrm>
            <a:off x="6583680" y="2249424"/>
            <a:ext cx="256032" cy="256032"/>
          </a:xfrm>
          <a:prstGeom prst="ellipse">
            <a:avLst/>
          </a:prstGeom>
          <a:solidFill>
            <a:srgbClr val="14213D"/>
          </a:solidFill>
          <a:ln w="12700">
            <a:solidFill>
              <a:srgbClr val="14213D"/>
            </a:solidFill>
            <a:prstDash val="solid"/>
          </a:ln>
        </p:spPr>
      </p:sp>
      <p:sp>
        <p:nvSpPr>
          <p:cNvPr id="14" name="Text 12"/>
          <p:cNvSpPr txBox="1"/>
          <p:nvPr/>
        </p:nvSpPr>
        <p:spPr>
          <a:xfrm>
            <a:off x="6949440" y="1920240"/>
            <a:ext cx="1828800" cy="914400"/>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Push-only, solo</a:t>
            </a:r>
            <a:endParaRPr lang="en-US" sz="1500" dirty="0"/>
          </a:p>
        </p:txBody>
      </p:sp>
      <p:sp>
        <p:nvSpPr>
          <p:cNvPr id="15" name="cluster Bot-driven pushes"/>
          <p:cNvSpPr/>
          <p:nvPr/>
        </p:nvSpPr>
        <p:spPr>
          <a:xfrm>
            <a:off x="9052560" y="1920240"/>
            <a:ext cx="2468880" cy="914400"/>
          </a:xfrm>
          <a:prstGeom prst="roundRect">
            <a:avLst>
              <a:gd name="adj" fmla="val 12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6" name="cluster dot"/>
          <p:cNvSpPr/>
          <p:nvPr/>
        </p:nvSpPr>
        <p:spPr>
          <a:xfrm>
            <a:off x="9235440" y="2249424"/>
            <a:ext cx="256032" cy="256032"/>
          </a:xfrm>
          <a:prstGeom prst="ellipse">
            <a:avLst/>
          </a:prstGeom>
          <a:solidFill>
            <a:srgbClr val="5B6B7F"/>
          </a:solidFill>
          <a:ln w="12700">
            <a:solidFill>
              <a:srgbClr val="5B6B7F"/>
            </a:solidFill>
            <a:prstDash val="solid"/>
          </a:ln>
        </p:spPr>
      </p:sp>
      <p:sp>
        <p:nvSpPr>
          <p:cNvPr id="17" name="Text 15"/>
          <p:cNvSpPr txBox="1"/>
          <p:nvPr/>
        </p:nvSpPr>
        <p:spPr>
          <a:xfrm>
            <a:off x="9601200" y="1920240"/>
            <a:ext cx="1828800" cy="914400"/>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Bot-driven pushes</a:t>
            </a:r>
            <a:endParaRPr lang="en-US" sz="1500" dirty="0"/>
          </a:p>
        </p:txBody>
      </p:sp>
      <p:sp>
        <p:nvSpPr>
          <p:cNvPr id="18" name="cluster PR + push teamwork"/>
          <p:cNvSpPr/>
          <p:nvPr/>
        </p:nvSpPr>
        <p:spPr>
          <a:xfrm>
            <a:off x="6400800" y="3017520"/>
            <a:ext cx="2468880" cy="914400"/>
          </a:xfrm>
          <a:prstGeom prst="roundRect">
            <a:avLst>
              <a:gd name="adj" fmla="val 12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9" name="cluster dot"/>
          <p:cNvSpPr/>
          <p:nvPr/>
        </p:nvSpPr>
        <p:spPr>
          <a:xfrm>
            <a:off x="6583680" y="3346704"/>
            <a:ext cx="256032" cy="256032"/>
          </a:xfrm>
          <a:prstGeom prst="ellipse">
            <a:avLst/>
          </a:prstGeom>
          <a:solidFill>
            <a:srgbClr val="2DA44E"/>
          </a:solidFill>
          <a:ln w="12700">
            <a:solidFill>
              <a:srgbClr val="2DA44E"/>
            </a:solidFill>
            <a:prstDash val="solid"/>
          </a:ln>
        </p:spPr>
      </p:sp>
      <p:sp>
        <p:nvSpPr>
          <p:cNvPr id="20" name="Text 18"/>
          <p:cNvSpPr txBox="1"/>
          <p:nvPr/>
        </p:nvSpPr>
        <p:spPr>
          <a:xfrm>
            <a:off x="6949440" y="3017520"/>
            <a:ext cx="1828800" cy="914400"/>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PR + push teamwork</a:t>
            </a:r>
            <a:endParaRPr lang="en-US" sz="1500" dirty="0"/>
          </a:p>
        </p:txBody>
      </p:sp>
      <p:sp>
        <p:nvSpPr>
          <p:cNvPr id="21" name="cluster Discussion-heavy"/>
          <p:cNvSpPr/>
          <p:nvPr/>
        </p:nvSpPr>
        <p:spPr>
          <a:xfrm>
            <a:off x="9052560" y="3017520"/>
            <a:ext cx="2468880" cy="914400"/>
          </a:xfrm>
          <a:prstGeom prst="roundRect">
            <a:avLst>
              <a:gd name="adj" fmla="val 12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22" name="cluster dot"/>
          <p:cNvSpPr/>
          <p:nvPr/>
        </p:nvSpPr>
        <p:spPr>
          <a:xfrm>
            <a:off x="9235440" y="3346704"/>
            <a:ext cx="256032" cy="256032"/>
          </a:xfrm>
          <a:prstGeom prst="ellipse">
            <a:avLst/>
          </a:prstGeom>
          <a:solidFill>
            <a:srgbClr val="7A4FA3"/>
          </a:solidFill>
          <a:ln w="12700">
            <a:solidFill>
              <a:srgbClr val="7A4FA3"/>
            </a:solidFill>
            <a:prstDash val="solid"/>
          </a:ln>
        </p:spPr>
      </p:sp>
      <p:sp>
        <p:nvSpPr>
          <p:cNvPr id="23" name="Text 21"/>
          <p:cNvSpPr txBox="1"/>
          <p:nvPr/>
        </p:nvSpPr>
        <p:spPr>
          <a:xfrm>
            <a:off x="9601200" y="3017520"/>
            <a:ext cx="1828800" cy="914400"/>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Discussion-heavy</a:t>
            </a:r>
            <a:endParaRPr lang="en-US" sz="1500" dirty="0"/>
          </a:p>
        </p:txBody>
      </p:sp>
      <p:sp>
        <p:nvSpPr>
          <p:cNvPr id="24" name="cluster Star magnets"/>
          <p:cNvSpPr/>
          <p:nvPr/>
        </p:nvSpPr>
        <p:spPr>
          <a:xfrm>
            <a:off x="6400800" y="4114800"/>
            <a:ext cx="2468880" cy="914400"/>
          </a:xfrm>
          <a:prstGeom prst="roundRect">
            <a:avLst>
              <a:gd name="adj" fmla="val 12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25" name="cluster dot"/>
          <p:cNvSpPr/>
          <p:nvPr/>
        </p:nvSpPr>
        <p:spPr>
          <a:xfrm>
            <a:off x="6583680" y="4443984"/>
            <a:ext cx="256032" cy="256032"/>
          </a:xfrm>
          <a:prstGeom prst="ellipse">
            <a:avLst/>
          </a:prstGeom>
          <a:solidFill>
            <a:srgbClr val="D9822B"/>
          </a:solidFill>
          <a:ln w="12700">
            <a:solidFill>
              <a:srgbClr val="D9822B"/>
            </a:solidFill>
            <a:prstDash val="solid"/>
          </a:ln>
        </p:spPr>
      </p:sp>
      <p:sp>
        <p:nvSpPr>
          <p:cNvPr id="26" name="Text 24"/>
          <p:cNvSpPr txBox="1"/>
          <p:nvPr/>
        </p:nvSpPr>
        <p:spPr>
          <a:xfrm>
            <a:off x="6949440" y="4114800"/>
            <a:ext cx="1828800" cy="914400"/>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Star magnets</a:t>
            </a:r>
            <a:endParaRPr lang="en-US" sz="1500" dirty="0"/>
          </a:p>
        </p:txBody>
      </p:sp>
      <p:sp>
        <p:nvSpPr>
          <p:cNvPr id="27" name="cluster Issue magnets"/>
          <p:cNvSpPr/>
          <p:nvPr/>
        </p:nvSpPr>
        <p:spPr>
          <a:xfrm>
            <a:off x="9052560" y="4114800"/>
            <a:ext cx="2468880" cy="914400"/>
          </a:xfrm>
          <a:prstGeom prst="roundRect">
            <a:avLst>
              <a:gd name="adj" fmla="val 12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28" name="cluster dot"/>
          <p:cNvSpPr/>
          <p:nvPr/>
        </p:nvSpPr>
        <p:spPr>
          <a:xfrm>
            <a:off x="9235440" y="4443984"/>
            <a:ext cx="256032" cy="256032"/>
          </a:xfrm>
          <a:prstGeom prst="ellipse">
            <a:avLst/>
          </a:prstGeom>
          <a:solidFill>
            <a:srgbClr val="D9822B"/>
          </a:solidFill>
          <a:ln w="12700">
            <a:solidFill>
              <a:srgbClr val="D9822B"/>
            </a:solidFill>
            <a:prstDash val="solid"/>
          </a:ln>
        </p:spPr>
      </p:sp>
      <p:sp>
        <p:nvSpPr>
          <p:cNvPr id="29" name="Text 27"/>
          <p:cNvSpPr txBox="1"/>
          <p:nvPr/>
        </p:nvSpPr>
        <p:spPr>
          <a:xfrm>
            <a:off x="9601200" y="4114800"/>
            <a:ext cx="1828800" cy="914400"/>
          </a:xfrm>
          <a:prstGeom prst="rect">
            <a:avLst/>
          </a:prstGeom>
          <a:noFill/>
          <a:ln/>
        </p:spPr>
        <p:txBody>
          <a:bodyPr wrap="square" lIns="0" tIns="0" rIns="0" bIns="0" rtlCol="0" anchor="ctr"/>
          <a:lstStyle/>
          <a:p>
            <a:pPr indent="0" marL="0">
              <a:buNone/>
            </a:pPr>
            <a:r>
              <a:rPr lang="en-US" sz="1500" b="1" dirty="0">
                <a:solidFill>
                  <a:srgbClr val="1F2937"/>
                </a:solidFill>
                <a:latin typeface="Times New Roman" pitchFamily="34" charset="0"/>
                <a:ea typeface="Times New Roman" pitchFamily="34" charset="-122"/>
                <a:cs typeface="Times New Roman" pitchFamily="34" charset="-120"/>
              </a:rPr>
              <a:t>Issue magnets</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Who does the work on GitHub? Often, bots</a:t>
            </a:r>
            <a:endParaRPr lang="en-US" sz="3400" dirty="0"/>
          </a:p>
        </p:txBody>
      </p:sp>
      <p:graphicFrame>
        <p:nvGraphicFramePr>
          <p:cNvPr id="3" name="Chart 0" descr=""/>
          <p:cNvGraphicFramePr/>
          <p:nvPr/>
        </p:nvGraphicFramePr>
        <p:xfrm>
          <a:off x="548640" y="1280160"/>
          <a:ext cx="7223760" cy="493776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8138160" y="1325880"/>
            <a:ext cx="3474720" cy="4846320"/>
          </a:xfrm>
          <a:prstGeom prst="roundRect">
            <a:avLst>
              <a:gd name="adj" fmla="val 3158"/>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366760" y="1554480"/>
            <a:ext cx="3017520" cy="822960"/>
          </a:xfrm>
          <a:prstGeom prst="rect">
            <a:avLst/>
          </a:prstGeom>
          <a:noFill/>
          <a:ln/>
        </p:spPr>
        <p:txBody>
          <a:bodyPr wrap="square" lIns="0" tIns="0" rIns="0" bIns="0" rtlCol="0" anchor="t"/>
          <a:lstStyle/>
          <a:p>
            <a:pPr indent="0" marL="0">
              <a:buNone/>
            </a:pPr>
            <a:r>
              <a:rPr lang="en-US" sz="4000" b="1" dirty="0">
                <a:solidFill>
                  <a:srgbClr val="14213D"/>
                </a:solidFill>
                <a:latin typeface="Times New Roman" pitchFamily="34" charset="0"/>
                <a:ea typeface="Times New Roman" pitchFamily="34" charset="-122"/>
                <a:cs typeface="Times New Roman" pitchFamily="34" charset="-120"/>
              </a:rPr>
              <a:t>28 to 32%</a:t>
            </a:r>
            <a:endParaRPr lang="en-US" sz="4000" dirty="0"/>
          </a:p>
        </p:txBody>
      </p:sp>
      <p:sp>
        <p:nvSpPr>
          <p:cNvPr id="6" name="Text 3"/>
          <p:cNvSpPr txBox="1"/>
          <p:nvPr/>
        </p:nvSpPr>
        <p:spPr>
          <a:xfrm>
            <a:off x="8366760" y="2423160"/>
            <a:ext cx="3017520" cy="1097280"/>
          </a:xfrm>
          <a:prstGeom prst="rect">
            <a:avLst/>
          </a:prstGeom>
          <a:noFill/>
          <a:ln/>
        </p:spPr>
        <p:txBody>
          <a:bodyPr wrap="square" lIns="0" tIns="0" rIns="0" bIns="0" rtlCol="0" anchor="t"/>
          <a:lstStyle/>
          <a:p>
            <a:pPr indent="0" marL="0">
              <a:buNone/>
            </a:pPr>
            <a:r>
              <a:rPr lang="en-US" sz="1600" dirty="0">
                <a:solidFill>
                  <a:srgbClr val="1F2937"/>
                </a:solidFill>
                <a:latin typeface="Times New Roman" pitchFamily="34" charset="0"/>
                <a:ea typeface="Times New Roman" pitchFamily="34" charset="-122"/>
                <a:cs typeface="Times New Roman" pitchFamily="34" charset="-120"/>
              </a:rPr>
              <a:t>of all GitHub events come from bots, such as dependabot and CI tools</a:t>
            </a:r>
            <a:endParaRPr lang="en-US" sz="1600" dirty="0"/>
          </a:p>
        </p:txBody>
      </p:sp>
      <p:sp>
        <p:nvSpPr>
          <p:cNvPr id="7" name="Text 4"/>
          <p:cNvSpPr txBox="1"/>
          <p:nvPr/>
        </p:nvSpPr>
        <p:spPr>
          <a:xfrm>
            <a:off x="8366760" y="3657600"/>
            <a:ext cx="3017520" cy="411480"/>
          </a:xfrm>
          <a:prstGeom prst="rect">
            <a:avLst/>
          </a:prstGeom>
          <a:noFill/>
          <a:ln/>
        </p:spPr>
        <p:txBody>
          <a:bodyPr wrap="square" lIns="0" tIns="0" rIns="0" bIns="0" rtlCol="0" anchor="t"/>
          <a:lstStyle/>
          <a:p>
            <a:pPr indent="0" marL="0">
              <a:buNone/>
            </a:pPr>
            <a:r>
              <a:rPr lang="en-US" sz="1600" b="1" dirty="0">
                <a:solidFill>
                  <a:srgbClr val="14213D"/>
                </a:solidFill>
                <a:latin typeface="Times New Roman" pitchFamily="34" charset="0"/>
                <a:ea typeface="Times New Roman" pitchFamily="34" charset="-122"/>
                <a:cs typeface="Times New Roman" pitchFamily="34" charset="-120"/>
              </a:rPr>
              <a:t>How Pig tags a bot</a:t>
            </a:r>
            <a:endParaRPr lang="en-US" sz="1600" dirty="0"/>
          </a:p>
        </p:txBody>
      </p:sp>
      <p:sp>
        <p:nvSpPr>
          <p:cNvPr id="8" name="Text 5"/>
          <p:cNvSpPr txBox="1"/>
          <p:nvPr/>
        </p:nvSpPr>
        <p:spPr>
          <a:xfrm>
            <a:off x="8366760" y="4069080"/>
            <a:ext cx="3017520" cy="14630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rgbClr val="1F2937"/>
                </a:solidFill>
                <a:latin typeface="Times New Roman" pitchFamily="34" charset="0"/>
                <a:ea typeface="Times New Roman" pitchFamily="34" charset="-122"/>
                <a:cs typeface="Times New Roman" pitchFamily="34" charset="-120"/>
              </a:rPr>
              <a:t>login ends in [bot]</a:t>
            </a:r>
            <a:endParaRPr lang="en-US" sz="1400" dirty="0"/>
          </a:p>
          <a:p>
            <a:pPr marL="342900" indent="-342900">
              <a:spcAft>
                <a:spcPts val="400"/>
              </a:spcAft>
              <a:buSzPct val="100000"/>
              <a:buChar char="•"/>
            </a:pPr>
            <a:r>
              <a:rPr lang="en-US" sz="1400" dirty="0">
                <a:solidFill>
                  <a:srgbClr val="1F2937"/>
                </a:solidFill>
                <a:latin typeface="Times New Roman" pitchFamily="34" charset="0"/>
                <a:ea typeface="Times New Roman" pitchFamily="34" charset="-122"/>
                <a:cs typeface="Times New Roman" pitchFamily="34" charset="-120"/>
              </a:rPr>
              <a:t>login is in the known-bots list</a:t>
            </a:r>
            <a:endParaRPr lang="en-US" sz="1400" dirty="0"/>
          </a:p>
          <a:p>
            <a:pPr marL="342900" indent="-342900">
              <a:spcAft>
                <a:spcPts val="400"/>
              </a:spcAft>
              <a:buSzPct val="100000"/>
              <a:buChar char="•"/>
            </a:pPr>
            <a:r>
              <a:rPr lang="en-US" sz="1400" dirty="0">
                <a:solidFill>
                  <a:srgbClr val="1F2937"/>
                </a:solidFill>
                <a:latin typeface="Times New Roman" pitchFamily="34" charset="0"/>
                <a:ea typeface="Times New Roman" pitchFamily="34" charset="-122"/>
                <a:cs typeface="Times New Roman" pitchFamily="34" charset="-120"/>
              </a:rPr>
              <a:t>name ends in -bot or _bot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What the data tells us</a:t>
            </a:r>
            <a:endParaRPr lang="en-US" sz="3400" dirty="0"/>
          </a:p>
        </p:txBody>
      </p:sp>
      <p:graphicFrame>
        <p:nvGraphicFramePr>
          <p:cNvPr id="3" name="Chart 0" descr=""/>
          <p:cNvGraphicFramePr/>
          <p:nvPr/>
        </p:nvGraphicFramePr>
        <p:xfrm>
          <a:off x="548640" y="1280160"/>
          <a:ext cx="5486400" cy="329184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309360" y="1280160"/>
          <a:ext cx="5303520" cy="3291840"/>
        </p:xfrm>
        <a:graphic xmlns:a="http://schemas.openxmlformats.org/drawingml/2006/main">
          <a:graphicData uri="http://schemas.openxmlformats.org/drawingml/2006/chart">
            <c:chart xmlns:c="http://schemas.openxmlformats.org/drawingml/2006/chart" r:id="rId2"/>
          </a:graphicData>
        </a:graphic>
      </p:graphicFrame>
      <p:sp>
        <p:nvSpPr>
          <p:cNvPr id="5" name="card"/>
          <p:cNvSpPr/>
          <p:nvPr/>
        </p:nvSpPr>
        <p:spPr>
          <a:xfrm>
            <a:off x="548640" y="4846320"/>
            <a:ext cx="3566160" cy="1371600"/>
          </a:xfrm>
          <a:prstGeom prst="roundRect">
            <a:avLst>
              <a:gd name="adj" fmla="val 8000"/>
            </a:avLst>
          </a:prstGeom>
          <a:solidFill>
            <a:srgbClr val="E3F4E8"/>
          </a:solidFill>
          <a:ln w="12700">
            <a:solidFill>
              <a:srgbClr val="E3F4E8"/>
            </a:solidFill>
            <a:prstDash val="solid"/>
          </a:ln>
          <a:effectLst>
            <a:outerShdw sx="100000" sy="100000" kx="0" ky="0" algn="bl" rotWithShape="0" blurRad="76200" dist="25400" dir="5400000">
              <a:srgbClr val="000000">
                <a:alpha val="12000"/>
              </a:srgbClr>
            </a:outerShdw>
          </a:effectLst>
        </p:spPr>
      </p:sp>
      <p:sp>
        <p:nvSpPr>
          <p:cNvPr id="6" name="Text 2"/>
          <p:cNvSpPr txBox="1"/>
          <p:nvPr/>
        </p:nvSpPr>
        <p:spPr>
          <a:xfrm>
            <a:off x="731520" y="4892040"/>
            <a:ext cx="1371600" cy="1280160"/>
          </a:xfrm>
          <a:prstGeom prst="rect">
            <a:avLst/>
          </a:prstGeom>
          <a:noFill/>
          <a:ln/>
        </p:spPr>
        <p:txBody>
          <a:bodyPr wrap="square" lIns="0" tIns="0" rIns="0" bIns="0" rtlCol="0" anchor="ctr"/>
          <a:lstStyle/>
          <a:p>
            <a:pPr indent="0" marL="0">
              <a:buNone/>
            </a:pPr>
            <a:r>
              <a:rPr lang="en-US" sz="3000" b="1" dirty="0">
                <a:solidFill>
                  <a:srgbClr val="2DA44E"/>
                </a:solidFill>
                <a:latin typeface="Times New Roman" pitchFamily="34" charset="0"/>
                <a:ea typeface="Times New Roman" pitchFamily="34" charset="-122"/>
                <a:cs typeface="Times New Roman" pitchFamily="34" charset="-120"/>
              </a:rPr>
              <a:t>93%</a:t>
            </a:r>
            <a:endParaRPr lang="en-US" sz="3000" dirty="0"/>
          </a:p>
        </p:txBody>
      </p:sp>
      <p:sp>
        <p:nvSpPr>
          <p:cNvPr id="7" name="Text 3"/>
          <p:cNvSpPr txBox="1"/>
          <p:nvPr/>
        </p:nvSpPr>
        <p:spPr>
          <a:xfrm>
            <a:off x="2057400" y="4892040"/>
            <a:ext cx="1965960" cy="1280160"/>
          </a:xfrm>
          <a:prstGeom prst="rect">
            <a:avLst/>
          </a:prstGeom>
          <a:noFill/>
          <a:ln/>
        </p:spPr>
        <p:txBody>
          <a:bodyPr wrap="square" lIns="0" tIns="0" rIns="0" bIns="0" rtlCol="0" anchor="ctr"/>
          <a:lstStyle/>
          <a:p>
            <a:pPr indent="0" marL="0">
              <a:buNone/>
            </a:pPr>
            <a:r>
              <a:rPr lang="en-US" sz="1300" dirty="0">
                <a:solidFill>
                  <a:srgbClr val="1F2937"/>
                </a:solidFill>
                <a:latin typeface="Times New Roman" pitchFamily="34" charset="0"/>
                <a:ea typeface="Times New Roman" pitchFamily="34" charset="-122"/>
                <a:cs typeface="Times New Roman" pitchFamily="34" charset="-120"/>
              </a:rPr>
              <a:t>of closed PRs merged by NixOS/nixpkgs, median 38 h open (Q5)</a:t>
            </a:r>
            <a:endParaRPr lang="en-US" sz="1300" dirty="0"/>
          </a:p>
        </p:txBody>
      </p:sp>
      <p:sp>
        <p:nvSpPr>
          <p:cNvPr id="8" name="card"/>
          <p:cNvSpPr/>
          <p:nvPr/>
        </p:nvSpPr>
        <p:spPr>
          <a:xfrm>
            <a:off x="4297680" y="4846320"/>
            <a:ext cx="3566160" cy="1371600"/>
          </a:xfrm>
          <a:prstGeom prst="roundRect">
            <a:avLst>
              <a:gd name="adj" fmla="val 8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9" name="Text 5"/>
          <p:cNvSpPr txBox="1"/>
          <p:nvPr/>
        </p:nvSpPr>
        <p:spPr>
          <a:xfrm>
            <a:off x="4480560" y="4892040"/>
            <a:ext cx="1371600" cy="1280160"/>
          </a:xfrm>
          <a:prstGeom prst="rect">
            <a:avLst/>
          </a:prstGeom>
          <a:noFill/>
          <a:ln/>
        </p:spPr>
        <p:txBody>
          <a:bodyPr wrap="square" lIns="0" tIns="0" rIns="0" bIns="0" rtlCol="0" anchor="ctr"/>
          <a:lstStyle/>
          <a:p>
            <a:pPr indent="0" marL="0">
              <a:buNone/>
            </a:pPr>
            <a:r>
              <a:rPr lang="en-US" sz="3000" b="1" dirty="0">
                <a:solidFill>
                  <a:srgbClr val="14213D"/>
                </a:solidFill>
                <a:latin typeface="Times New Roman" pitchFamily="34" charset="0"/>
                <a:ea typeface="Times New Roman" pitchFamily="34" charset="-122"/>
                <a:cs typeface="Times New Roman" pitchFamily="34" charset="-120"/>
              </a:rPr>
              <a:t>3%</a:t>
            </a:r>
            <a:endParaRPr lang="en-US" sz="3000" dirty="0"/>
          </a:p>
        </p:txBody>
      </p:sp>
      <p:sp>
        <p:nvSpPr>
          <p:cNvPr id="10" name="Text 6"/>
          <p:cNvSpPr txBox="1"/>
          <p:nvPr/>
        </p:nvSpPr>
        <p:spPr>
          <a:xfrm>
            <a:off x="5806440" y="4892040"/>
            <a:ext cx="1965960" cy="1280160"/>
          </a:xfrm>
          <a:prstGeom prst="rect">
            <a:avLst/>
          </a:prstGeom>
          <a:noFill/>
          <a:ln/>
        </p:spPr>
        <p:txBody>
          <a:bodyPr wrap="square" lIns="0" tIns="0" rIns="0" bIns="0" rtlCol="0" anchor="ctr"/>
          <a:lstStyle/>
          <a:p>
            <a:pPr indent="0" marL="0">
              <a:buNone/>
            </a:pPr>
            <a:r>
              <a:rPr lang="en-US" sz="1300" dirty="0">
                <a:solidFill>
                  <a:srgbClr val="1F2937"/>
                </a:solidFill>
                <a:latin typeface="Times New Roman" pitchFamily="34" charset="0"/>
                <a:ea typeface="Times New Roman" pitchFamily="34" charset="-122"/>
                <a:cs typeface="Times New Roman" pitchFamily="34" charset="-120"/>
              </a:rPr>
              <a:t>less activity on Sunday than on Monday (Q3)</a:t>
            </a:r>
            <a:endParaRPr lang="en-US" sz="1300" dirty="0"/>
          </a:p>
        </p:txBody>
      </p:sp>
      <p:sp>
        <p:nvSpPr>
          <p:cNvPr id="11" name="card"/>
          <p:cNvSpPr/>
          <p:nvPr/>
        </p:nvSpPr>
        <p:spPr>
          <a:xfrm>
            <a:off x="8046720" y="4846320"/>
            <a:ext cx="3566160" cy="1371600"/>
          </a:xfrm>
          <a:prstGeom prst="roundRect">
            <a:avLst>
              <a:gd name="adj" fmla="val 8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2" name="Text 8"/>
          <p:cNvSpPr txBox="1"/>
          <p:nvPr/>
        </p:nvSpPr>
        <p:spPr>
          <a:xfrm>
            <a:off x="8229600" y="4892040"/>
            <a:ext cx="1371600" cy="1280160"/>
          </a:xfrm>
          <a:prstGeom prst="rect">
            <a:avLst/>
          </a:prstGeom>
          <a:noFill/>
          <a:ln/>
        </p:spPr>
        <p:txBody>
          <a:bodyPr wrap="square" lIns="0" tIns="0" rIns="0" bIns="0" rtlCol="0" anchor="ctr"/>
          <a:lstStyle/>
          <a:p>
            <a:pPr indent="0" marL="0">
              <a:buNone/>
            </a:pPr>
            <a:r>
              <a:rPr lang="en-US" sz="3000" b="1" dirty="0">
                <a:solidFill>
                  <a:srgbClr val="14213D"/>
                </a:solidFill>
                <a:latin typeface="Times New Roman" pitchFamily="34" charset="0"/>
                <a:ea typeface="Times New Roman" pitchFamily="34" charset="-122"/>
                <a:cs typeface="Times New Roman" pitchFamily="34" charset="-120"/>
              </a:rPr>
              <a:t>4,138</a:t>
            </a:r>
            <a:endParaRPr lang="en-US" sz="3000" dirty="0"/>
          </a:p>
        </p:txBody>
      </p:sp>
      <p:sp>
        <p:nvSpPr>
          <p:cNvPr id="13" name="Text 9"/>
          <p:cNvSpPr txBox="1"/>
          <p:nvPr/>
        </p:nvSpPr>
        <p:spPr>
          <a:xfrm>
            <a:off x="9555480" y="4892040"/>
            <a:ext cx="1965960" cy="1280160"/>
          </a:xfrm>
          <a:prstGeom prst="rect">
            <a:avLst/>
          </a:prstGeom>
          <a:noFill/>
          <a:ln/>
        </p:spPr>
        <p:txBody>
          <a:bodyPr wrap="square" lIns="0" tIns="0" rIns="0" bIns="0" rtlCol="0" anchor="ctr"/>
          <a:lstStyle/>
          <a:p>
            <a:pPr indent="0" marL="0">
              <a:buNone/>
            </a:pPr>
            <a:r>
              <a:rPr lang="en-US" sz="1300" dirty="0">
                <a:solidFill>
                  <a:srgbClr val="1F2937"/>
                </a:solidFill>
                <a:latin typeface="Times New Roman" pitchFamily="34" charset="0"/>
                <a:ea typeface="Times New Roman" pitchFamily="34" charset="-122"/>
                <a:cs typeface="Times New Roman" pitchFamily="34" charset="-120"/>
              </a:rPr>
              <a:t>pushes in 3 h by one automated repo, so we rank by humans (Q1)</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Which engine is fastest?</a:t>
            </a:r>
            <a:endParaRPr lang="en-US" sz="3400" dirty="0"/>
          </a:p>
        </p:txBody>
      </p:sp>
      <p:graphicFrame>
        <p:nvGraphicFramePr>
          <p:cNvPr id="3" name="Chart 0" descr=""/>
          <p:cNvGraphicFramePr/>
          <p:nvPr/>
        </p:nvGraphicFramePr>
        <p:xfrm>
          <a:off x="548640" y="1280160"/>
          <a:ext cx="6949440" cy="493776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863840" y="1325880"/>
            <a:ext cx="3749040" cy="1828800"/>
          </a:xfrm>
          <a:prstGeom prst="roundRect">
            <a:avLst>
              <a:gd name="adj" fmla="val 6000"/>
            </a:avLst>
          </a:prstGeom>
          <a:solidFill>
            <a:srgbClr val="E3F4E8"/>
          </a:solidFill>
          <a:ln w="12700">
            <a:solidFill>
              <a:srgbClr val="E3F4E8"/>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8092440" y="1463040"/>
            <a:ext cx="3291840" cy="548640"/>
          </a:xfrm>
          <a:prstGeom prst="rect">
            <a:avLst/>
          </a:prstGeom>
          <a:noFill/>
          <a:ln/>
        </p:spPr>
        <p:txBody>
          <a:bodyPr wrap="square" lIns="0" tIns="0" rIns="0" bIns="0" rtlCol="0" anchor="t"/>
          <a:lstStyle/>
          <a:p>
            <a:pPr indent="0" marL="0">
              <a:buNone/>
            </a:pPr>
            <a:r>
              <a:rPr lang="en-US" sz="2400" b="1" dirty="0">
                <a:solidFill>
                  <a:srgbClr val="2DA44E"/>
                </a:solidFill>
                <a:latin typeface="Times New Roman" pitchFamily="34" charset="0"/>
                <a:ea typeface="Times New Roman" pitchFamily="34" charset="-122"/>
                <a:cs typeface="Times New Roman" pitchFamily="34" charset="-120"/>
              </a:rPr>
              <a:t>Impala: under 2 s</a:t>
            </a:r>
            <a:endParaRPr lang="en-US" sz="2400" dirty="0"/>
          </a:p>
        </p:txBody>
      </p:sp>
      <p:sp>
        <p:nvSpPr>
          <p:cNvPr id="6" name="Text 3"/>
          <p:cNvSpPr txBox="1"/>
          <p:nvPr/>
        </p:nvSpPr>
        <p:spPr>
          <a:xfrm>
            <a:off x="8092440" y="2011680"/>
            <a:ext cx="3291840" cy="1051560"/>
          </a:xfrm>
          <a:prstGeom prst="rect">
            <a:avLst/>
          </a:prstGeom>
          <a:noFill/>
          <a:ln/>
        </p:spPr>
        <p:txBody>
          <a:bodyPr wrap="square" lIns="0" tIns="0" rIns="0" bIns="0" rtlCol="0" anchor="t"/>
          <a:lstStyle/>
          <a:p>
            <a:pPr indent="0" marL="0">
              <a:buNone/>
            </a:pPr>
            <a:r>
              <a:rPr lang="en-US" sz="1400" dirty="0">
                <a:solidFill>
                  <a:srgbClr val="1F2937"/>
                </a:solidFill>
                <a:latin typeface="Times New Roman" pitchFamily="34" charset="0"/>
                <a:ea typeface="Times New Roman" pitchFamily="34" charset="-122"/>
                <a:cs typeface="Times New Roman" pitchFamily="34" charset="-120"/>
              </a:rPr>
              <a:t>Long-running C++ daemons answer instantly. JVM engines need 20 to 40 s just to start.</a:t>
            </a:r>
            <a:endParaRPr lang="en-US" sz="1400" dirty="0"/>
          </a:p>
        </p:txBody>
      </p:sp>
      <p:sp>
        <p:nvSpPr>
          <p:cNvPr id="7" name="num 1"/>
          <p:cNvSpPr/>
          <p:nvPr/>
        </p:nvSpPr>
        <p:spPr>
          <a:xfrm>
            <a:off x="7863840" y="3429000"/>
            <a:ext cx="384048" cy="384048"/>
          </a:xfrm>
          <a:prstGeom prst="ellipse">
            <a:avLst/>
          </a:prstGeom>
          <a:solidFill>
            <a:srgbClr val="14213D"/>
          </a:solidFill>
          <a:ln w="12700">
            <a:solidFill>
              <a:srgbClr val="14213D"/>
            </a:solidFill>
            <a:prstDash val="solid"/>
          </a:ln>
        </p:spPr>
      </p:sp>
      <p:sp>
        <p:nvSpPr>
          <p:cNvPr id="8" name="Text 5"/>
          <p:cNvSpPr txBox="1"/>
          <p:nvPr/>
        </p:nvSpPr>
        <p:spPr>
          <a:xfrm>
            <a:off x="7863840" y="34290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9" name="Text 6"/>
          <p:cNvSpPr txBox="1"/>
          <p:nvPr/>
        </p:nvSpPr>
        <p:spPr>
          <a:xfrm>
            <a:off x="8366760" y="3383280"/>
            <a:ext cx="3246120" cy="365760"/>
          </a:xfrm>
          <a:prstGeom prst="rect">
            <a:avLst/>
          </a:prstGeom>
          <a:noFill/>
          <a:ln/>
        </p:spPr>
        <p:txBody>
          <a:bodyPr wrap="square" lIns="0" tIns="0" rIns="0" bIns="0" rtlCol="0" anchor="t"/>
          <a:lstStyle/>
          <a:p>
            <a:pPr indent="0" marL="0">
              <a:buNone/>
            </a:pPr>
            <a:r>
              <a:rPr lang="en-US" sz="1500" b="1" dirty="0">
                <a:solidFill>
                  <a:srgbClr val="14213D"/>
                </a:solidFill>
                <a:latin typeface="Times New Roman" pitchFamily="34" charset="0"/>
                <a:ea typeface="Times New Roman" pitchFamily="34" charset="-122"/>
                <a:cs typeface="Times New Roman" pitchFamily="34" charset="-120"/>
              </a:rPr>
              <a:t>MapReduce is slowest</a:t>
            </a:r>
            <a:endParaRPr lang="en-US" sz="1500" dirty="0"/>
          </a:p>
        </p:txBody>
      </p:sp>
      <p:sp>
        <p:nvSpPr>
          <p:cNvPr id="10" name="Text 7"/>
          <p:cNvSpPr txBox="1"/>
          <p:nvPr/>
        </p:nvSpPr>
        <p:spPr>
          <a:xfrm>
            <a:off x="8366760" y="3749040"/>
            <a:ext cx="3246120" cy="548640"/>
          </a:xfrm>
          <a:prstGeom prst="rect">
            <a:avLst/>
          </a:prstGeom>
          <a:noFill/>
          <a:ln/>
        </p:spPr>
        <p:txBody>
          <a:bodyPr wrap="square" lIns="0" tIns="0" rIns="0" bIns="0" rtlCol="0" anchor="t"/>
          <a:lstStyle/>
          <a:p>
            <a:pPr indent="0" marL="0">
              <a:buNone/>
            </a:pPr>
            <a:r>
              <a:rPr lang="en-US" sz="1300" dirty="0">
                <a:solidFill>
                  <a:srgbClr val="1F2937"/>
                </a:solidFill>
                <a:latin typeface="Times New Roman" pitchFamily="34" charset="0"/>
                <a:ea typeface="Times New Roman" pitchFamily="34" charset="-122"/>
                <a:cs typeface="Times New Roman" pitchFamily="34" charset="-120"/>
              </a:rPr>
              <a:t>one map task per small Parquet file (the small-files problem)</a:t>
            </a:r>
            <a:endParaRPr lang="en-US" sz="1300" dirty="0"/>
          </a:p>
        </p:txBody>
      </p:sp>
      <p:sp>
        <p:nvSpPr>
          <p:cNvPr id="11" name="num 2"/>
          <p:cNvSpPr/>
          <p:nvPr/>
        </p:nvSpPr>
        <p:spPr>
          <a:xfrm>
            <a:off x="7863840" y="4407408"/>
            <a:ext cx="384048" cy="384048"/>
          </a:xfrm>
          <a:prstGeom prst="ellipse">
            <a:avLst/>
          </a:prstGeom>
          <a:solidFill>
            <a:srgbClr val="14213D"/>
          </a:solidFill>
          <a:ln w="12700">
            <a:solidFill>
              <a:srgbClr val="14213D"/>
            </a:solidFill>
            <a:prstDash val="solid"/>
          </a:ln>
        </p:spPr>
      </p:sp>
      <p:sp>
        <p:nvSpPr>
          <p:cNvPr id="12" name="Text 9"/>
          <p:cNvSpPr txBox="1"/>
          <p:nvPr/>
        </p:nvSpPr>
        <p:spPr>
          <a:xfrm>
            <a:off x="7863840" y="440740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13" name="Text 10"/>
          <p:cNvSpPr txBox="1"/>
          <p:nvPr/>
        </p:nvSpPr>
        <p:spPr>
          <a:xfrm>
            <a:off x="8366760" y="4361688"/>
            <a:ext cx="3246120" cy="365760"/>
          </a:xfrm>
          <a:prstGeom prst="rect">
            <a:avLst/>
          </a:prstGeom>
          <a:noFill/>
          <a:ln/>
        </p:spPr>
        <p:txBody>
          <a:bodyPr wrap="square" lIns="0" tIns="0" rIns="0" bIns="0" rtlCol="0" anchor="t"/>
          <a:lstStyle/>
          <a:p>
            <a:pPr indent="0" marL="0">
              <a:buNone/>
            </a:pPr>
            <a:r>
              <a:rPr lang="en-US" sz="1500" b="1" dirty="0">
                <a:solidFill>
                  <a:srgbClr val="14213D"/>
                </a:solidFill>
                <a:latin typeface="Times New Roman" pitchFamily="34" charset="0"/>
                <a:ea typeface="Times New Roman" pitchFamily="34" charset="-122"/>
                <a:cs typeface="Times New Roman" pitchFamily="34" charset="-120"/>
              </a:rPr>
              <a:t>Pig beats MapReduce 4x</a:t>
            </a:r>
            <a:endParaRPr lang="en-US" sz="1500" dirty="0"/>
          </a:p>
        </p:txBody>
      </p:sp>
      <p:sp>
        <p:nvSpPr>
          <p:cNvPr id="14" name="Text 11"/>
          <p:cNvSpPr txBox="1"/>
          <p:nvPr/>
        </p:nvSpPr>
        <p:spPr>
          <a:xfrm>
            <a:off x="8366760" y="4727448"/>
            <a:ext cx="3246120" cy="548640"/>
          </a:xfrm>
          <a:prstGeom prst="rect">
            <a:avLst/>
          </a:prstGeom>
          <a:noFill/>
          <a:ln/>
        </p:spPr>
        <p:txBody>
          <a:bodyPr wrap="square" lIns="0" tIns="0" rIns="0" bIns="0" rtlCol="0" anchor="t"/>
          <a:lstStyle/>
          <a:p>
            <a:pPr indent="0" marL="0">
              <a:buNone/>
            </a:pPr>
            <a:r>
              <a:rPr lang="en-US" sz="1300" dirty="0">
                <a:solidFill>
                  <a:srgbClr val="1F2937"/>
                </a:solidFill>
                <a:latin typeface="Times New Roman" pitchFamily="34" charset="0"/>
                <a:ea typeface="Times New Roman" pitchFamily="34" charset="-122"/>
                <a:cs typeface="Times New Roman" pitchFamily="34" charset="-120"/>
              </a:rPr>
              <a:t>it combines small files into larger splits</a:t>
            </a:r>
            <a:endParaRPr lang="en-US" sz="1300" dirty="0"/>
          </a:p>
        </p:txBody>
      </p:sp>
      <p:sp>
        <p:nvSpPr>
          <p:cNvPr id="15" name="num 3"/>
          <p:cNvSpPr/>
          <p:nvPr/>
        </p:nvSpPr>
        <p:spPr>
          <a:xfrm>
            <a:off x="7863840" y="5385816"/>
            <a:ext cx="384048" cy="384048"/>
          </a:xfrm>
          <a:prstGeom prst="ellipse">
            <a:avLst/>
          </a:prstGeom>
          <a:solidFill>
            <a:srgbClr val="14213D"/>
          </a:solidFill>
          <a:ln w="12700">
            <a:solidFill>
              <a:srgbClr val="14213D"/>
            </a:solidFill>
            <a:prstDash val="solid"/>
          </a:ln>
        </p:spPr>
      </p:sp>
      <p:sp>
        <p:nvSpPr>
          <p:cNvPr id="16" name="Text 13"/>
          <p:cNvSpPr txBox="1"/>
          <p:nvPr/>
        </p:nvSpPr>
        <p:spPr>
          <a:xfrm>
            <a:off x="7863840" y="5385816"/>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17" name="Text 14"/>
          <p:cNvSpPr txBox="1"/>
          <p:nvPr/>
        </p:nvSpPr>
        <p:spPr>
          <a:xfrm>
            <a:off x="8366760" y="5340096"/>
            <a:ext cx="3246120" cy="365760"/>
          </a:xfrm>
          <a:prstGeom prst="rect">
            <a:avLst/>
          </a:prstGeom>
          <a:noFill/>
          <a:ln/>
        </p:spPr>
        <p:txBody>
          <a:bodyPr wrap="square" lIns="0" tIns="0" rIns="0" bIns="0" rtlCol="0" anchor="t"/>
          <a:lstStyle/>
          <a:p>
            <a:pPr indent="0" marL="0">
              <a:buNone/>
            </a:pPr>
            <a:r>
              <a:rPr lang="en-US" sz="1500" b="1" dirty="0">
                <a:solidFill>
                  <a:srgbClr val="14213D"/>
                </a:solidFill>
                <a:latin typeface="Times New Roman" pitchFamily="34" charset="0"/>
                <a:ea typeface="Times New Roman" pitchFamily="34" charset="-122"/>
                <a:cs typeface="Times New Roman" pitchFamily="34" charset="-120"/>
              </a:rPr>
              <a:t>2 workers help 1.0 to 1.9x</a:t>
            </a:r>
            <a:endParaRPr lang="en-US" sz="1500" dirty="0"/>
          </a:p>
        </p:txBody>
      </p:sp>
      <p:sp>
        <p:nvSpPr>
          <p:cNvPr id="18" name="Text 15"/>
          <p:cNvSpPr txBox="1"/>
          <p:nvPr/>
        </p:nvSpPr>
        <p:spPr>
          <a:xfrm>
            <a:off x="8366760" y="5705856"/>
            <a:ext cx="3246120" cy="548640"/>
          </a:xfrm>
          <a:prstGeom prst="rect">
            <a:avLst/>
          </a:prstGeom>
          <a:noFill/>
          <a:ln/>
        </p:spPr>
        <p:txBody>
          <a:bodyPr wrap="square" lIns="0" tIns="0" rIns="0" bIns="0" rtlCol="0" anchor="t"/>
          <a:lstStyle/>
          <a:p>
            <a:pPr indent="0" marL="0">
              <a:buNone/>
            </a:pPr>
            <a:r>
              <a:rPr lang="en-US" sz="1300" dirty="0">
                <a:solidFill>
                  <a:srgbClr val="1F2937"/>
                </a:solidFill>
                <a:latin typeface="Times New Roman" pitchFamily="34" charset="0"/>
                <a:ea typeface="Times New Roman" pitchFamily="34" charset="-122"/>
                <a:cs typeface="Times New Roman" pitchFamily="34" charset="-120"/>
              </a:rPr>
              <a:t>both share the same laptop CPU</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Fitting a 23-container cluster on a laptop</a:t>
            </a:r>
            <a:endParaRPr lang="en-US" sz="3400" dirty="0"/>
          </a:p>
        </p:txBody>
      </p:sp>
      <p:sp>
        <p:nvSpPr>
          <p:cNvPr id="3" name="stage core"/>
          <p:cNvSpPr/>
          <p:nvPr/>
        </p:nvSpPr>
        <p:spPr>
          <a:xfrm>
            <a:off x="548640" y="1325880"/>
            <a:ext cx="1737360" cy="457200"/>
          </a:xfrm>
          <a:prstGeom prst="roundRect">
            <a:avLst>
              <a:gd name="adj" fmla="val 20000"/>
            </a:avLst>
          </a:prstGeom>
          <a:solidFill>
            <a:srgbClr val="14213D"/>
          </a:solidFill>
          <a:ln w="12700">
            <a:solidFill>
              <a:srgbClr val="14213D"/>
            </a:solidFill>
            <a:prstDash val="solid"/>
          </a:ln>
        </p:spPr>
      </p:sp>
      <p:sp>
        <p:nvSpPr>
          <p:cNvPr id="4" name="Text 2"/>
          <p:cNvSpPr txBox="1"/>
          <p:nvPr/>
        </p:nvSpPr>
        <p:spPr>
          <a:xfrm>
            <a:off x="548640" y="1325880"/>
            <a:ext cx="1737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core</a:t>
            </a:r>
            <a:endParaRPr lang="en-US" sz="1600" dirty="0"/>
          </a:p>
        </p:txBody>
      </p:sp>
      <p:sp>
        <p:nvSpPr>
          <p:cNvPr id="5" name="Text 3"/>
          <p:cNvSpPr txBox="1"/>
          <p:nvPr/>
        </p:nvSpPr>
        <p:spPr>
          <a:xfrm>
            <a:off x="2514600" y="1325880"/>
            <a:ext cx="5852160" cy="457200"/>
          </a:xfrm>
          <a:prstGeom prst="rect">
            <a:avLst/>
          </a:prstGeom>
          <a:noFill/>
          <a:ln/>
        </p:spPr>
        <p:txBody>
          <a:bodyPr wrap="square" lIns="0" tIns="0" rIns="0" bIns="0" rtlCol="0" anchor="ctr"/>
          <a:lstStyle/>
          <a:p>
            <a:pPr indent="0" marL="0">
              <a:buNone/>
            </a:pPr>
            <a:r>
              <a:rPr lang="en-US" sz="1600" dirty="0">
                <a:solidFill>
                  <a:srgbClr val="1F2937"/>
                </a:solidFill>
                <a:latin typeface="Times New Roman" pitchFamily="34" charset="0"/>
                <a:ea typeface="Times New Roman" pitchFamily="34" charset="-122"/>
                <a:cs typeface="Times New Roman" pitchFamily="34" charset="-120"/>
              </a:rPr>
              <a:t>Postgres, NameNode, 2 DataNodes, YARN, JobHistory</a:t>
            </a:r>
            <a:endParaRPr lang="en-US" sz="1600" dirty="0"/>
          </a:p>
        </p:txBody>
      </p:sp>
      <p:sp>
        <p:nvSpPr>
          <p:cNvPr id="6" name="stage batch"/>
          <p:cNvSpPr/>
          <p:nvPr/>
        </p:nvSpPr>
        <p:spPr>
          <a:xfrm>
            <a:off x="548640" y="1929384"/>
            <a:ext cx="1737360" cy="457200"/>
          </a:xfrm>
          <a:prstGeom prst="roundRect">
            <a:avLst>
              <a:gd name="adj" fmla="val 20000"/>
            </a:avLst>
          </a:prstGeom>
          <a:solidFill>
            <a:srgbClr val="14213D"/>
          </a:solidFill>
          <a:ln w="12700">
            <a:solidFill>
              <a:srgbClr val="14213D"/>
            </a:solidFill>
            <a:prstDash val="solid"/>
          </a:ln>
        </p:spPr>
      </p:sp>
      <p:sp>
        <p:nvSpPr>
          <p:cNvPr id="7" name="Text 5"/>
          <p:cNvSpPr txBox="1"/>
          <p:nvPr/>
        </p:nvSpPr>
        <p:spPr>
          <a:xfrm>
            <a:off x="548640" y="1929384"/>
            <a:ext cx="1737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batch</a:t>
            </a:r>
            <a:endParaRPr lang="en-US" sz="1600" dirty="0"/>
          </a:p>
        </p:txBody>
      </p:sp>
      <p:sp>
        <p:nvSpPr>
          <p:cNvPr id="8" name="Text 6"/>
          <p:cNvSpPr txBox="1"/>
          <p:nvPr/>
        </p:nvSpPr>
        <p:spPr>
          <a:xfrm>
            <a:off x="2514600" y="1929384"/>
            <a:ext cx="5852160" cy="457200"/>
          </a:xfrm>
          <a:prstGeom prst="rect">
            <a:avLst/>
          </a:prstGeom>
          <a:noFill/>
          <a:ln/>
        </p:spPr>
        <p:txBody>
          <a:bodyPr wrap="square" lIns="0" tIns="0" rIns="0" bIns="0" rtlCol="0" anchor="ctr"/>
          <a:lstStyle/>
          <a:p>
            <a:pPr indent="0" marL="0">
              <a:buNone/>
            </a:pPr>
            <a:r>
              <a:rPr lang="en-US" sz="1600" dirty="0">
                <a:solidFill>
                  <a:srgbClr val="1F2937"/>
                </a:solidFill>
                <a:latin typeface="Times New Roman" pitchFamily="34" charset="0"/>
                <a:ea typeface="Times New Roman" pitchFamily="34" charset="-122"/>
                <a:cs typeface="Times New Roman" pitchFamily="34" charset="-120"/>
              </a:rPr>
              <a:t>core + edge client</a:t>
            </a:r>
            <a:endParaRPr lang="en-US" sz="1600" dirty="0"/>
          </a:p>
        </p:txBody>
      </p:sp>
      <p:sp>
        <p:nvSpPr>
          <p:cNvPr id="9" name="stage warehouse"/>
          <p:cNvSpPr/>
          <p:nvPr/>
        </p:nvSpPr>
        <p:spPr>
          <a:xfrm>
            <a:off x="548640" y="2532888"/>
            <a:ext cx="1737360" cy="457200"/>
          </a:xfrm>
          <a:prstGeom prst="roundRect">
            <a:avLst>
              <a:gd name="adj" fmla="val 20000"/>
            </a:avLst>
          </a:prstGeom>
          <a:solidFill>
            <a:srgbClr val="2DA44E"/>
          </a:solidFill>
          <a:ln w="12700">
            <a:solidFill>
              <a:srgbClr val="2DA44E"/>
            </a:solidFill>
            <a:prstDash val="solid"/>
          </a:ln>
        </p:spPr>
      </p:sp>
      <p:sp>
        <p:nvSpPr>
          <p:cNvPr id="10" name="Text 8"/>
          <p:cNvSpPr txBox="1"/>
          <p:nvPr/>
        </p:nvSpPr>
        <p:spPr>
          <a:xfrm>
            <a:off x="548640" y="2532888"/>
            <a:ext cx="1737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warehouse</a:t>
            </a:r>
            <a:endParaRPr lang="en-US" sz="1600" dirty="0"/>
          </a:p>
        </p:txBody>
      </p:sp>
      <p:sp>
        <p:nvSpPr>
          <p:cNvPr id="11" name="Text 9"/>
          <p:cNvSpPr txBox="1"/>
          <p:nvPr/>
        </p:nvSpPr>
        <p:spPr>
          <a:xfrm>
            <a:off x="2514600" y="2532888"/>
            <a:ext cx="5852160" cy="457200"/>
          </a:xfrm>
          <a:prstGeom prst="rect">
            <a:avLst/>
          </a:prstGeom>
          <a:noFill/>
          <a:ln/>
        </p:spPr>
        <p:txBody>
          <a:bodyPr wrap="square" lIns="0" tIns="0" rIns="0" bIns="0" rtlCol="0" anchor="ctr"/>
          <a:lstStyle/>
          <a:p>
            <a:pPr indent="0" marL="0">
              <a:buNone/>
            </a:pPr>
            <a:r>
              <a:rPr lang="en-US" sz="1600" dirty="0">
                <a:solidFill>
                  <a:srgbClr val="1F2937"/>
                </a:solidFill>
                <a:latin typeface="Times New Roman" pitchFamily="34" charset="0"/>
                <a:ea typeface="Times New Roman" pitchFamily="34" charset="-122"/>
                <a:cs typeface="Times New Roman" pitchFamily="34" charset="-120"/>
              </a:rPr>
              <a:t>core + Hive metastore + HiveServer2</a:t>
            </a:r>
            <a:endParaRPr lang="en-US" sz="1600" dirty="0"/>
          </a:p>
        </p:txBody>
      </p:sp>
      <p:sp>
        <p:nvSpPr>
          <p:cNvPr id="12" name="stage ml"/>
          <p:cNvSpPr/>
          <p:nvPr/>
        </p:nvSpPr>
        <p:spPr>
          <a:xfrm>
            <a:off x="548640" y="3136392"/>
            <a:ext cx="1737360" cy="457200"/>
          </a:xfrm>
          <a:prstGeom prst="roundRect">
            <a:avLst>
              <a:gd name="adj" fmla="val 20000"/>
            </a:avLst>
          </a:prstGeom>
          <a:solidFill>
            <a:srgbClr val="2DA44E"/>
          </a:solidFill>
          <a:ln w="12700">
            <a:solidFill>
              <a:srgbClr val="2DA44E"/>
            </a:solidFill>
            <a:prstDash val="solid"/>
          </a:ln>
        </p:spPr>
      </p:sp>
      <p:sp>
        <p:nvSpPr>
          <p:cNvPr id="13" name="Text 11"/>
          <p:cNvSpPr txBox="1"/>
          <p:nvPr/>
        </p:nvSpPr>
        <p:spPr>
          <a:xfrm>
            <a:off x="548640" y="3136392"/>
            <a:ext cx="1737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ml</a:t>
            </a:r>
            <a:endParaRPr lang="en-US" sz="1600" dirty="0"/>
          </a:p>
        </p:txBody>
      </p:sp>
      <p:sp>
        <p:nvSpPr>
          <p:cNvPr id="14" name="Text 12"/>
          <p:cNvSpPr txBox="1"/>
          <p:nvPr/>
        </p:nvSpPr>
        <p:spPr>
          <a:xfrm>
            <a:off x="2514600" y="3136392"/>
            <a:ext cx="5852160" cy="457200"/>
          </a:xfrm>
          <a:prstGeom prst="rect">
            <a:avLst/>
          </a:prstGeom>
          <a:noFill/>
          <a:ln/>
        </p:spPr>
        <p:txBody>
          <a:bodyPr wrap="square" lIns="0" tIns="0" rIns="0" bIns="0" rtlCol="0" anchor="ctr"/>
          <a:lstStyle/>
          <a:p>
            <a:pPr indent="0" marL="0">
              <a:buNone/>
            </a:pPr>
            <a:r>
              <a:rPr lang="en-US" sz="1600" dirty="0">
                <a:solidFill>
                  <a:srgbClr val="1F2937"/>
                </a:solidFill>
                <a:latin typeface="Times New Roman" pitchFamily="34" charset="0"/>
                <a:ea typeface="Times New Roman" pitchFamily="34" charset="-122"/>
                <a:cs typeface="Times New Roman" pitchFamily="34" charset="-120"/>
              </a:rPr>
              <a:t>core + Hive metastore (Spark, Mahout)</a:t>
            </a:r>
            <a:endParaRPr lang="en-US" sz="1600" dirty="0"/>
          </a:p>
        </p:txBody>
      </p:sp>
      <p:sp>
        <p:nvSpPr>
          <p:cNvPr id="15" name="stage serving"/>
          <p:cNvSpPr/>
          <p:nvPr/>
        </p:nvSpPr>
        <p:spPr>
          <a:xfrm>
            <a:off x="548640" y="3739896"/>
            <a:ext cx="1737360" cy="457200"/>
          </a:xfrm>
          <a:prstGeom prst="roundRect">
            <a:avLst>
              <a:gd name="adj" fmla="val 20000"/>
            </a:avLst>
          </a:prstGeom>
          <a:solidFill>
            <a:srgbClr val="D9822B"/>
          </a:solidFill>
          <a:ln w="12700">
            <a:solidFill>
              <a:srgbClr val="D9822B"/>
            </a:solidFill>
            <a:prstDash val="solid"/>
          </a:ln>
        </p:spPr>
      </p:sp>
      <p:sp>
        <p:nvSpPr>
          <p:cNvPr id="16" name="Text 14"/>
          <p:cNvSpPr txBox="1"/>
          <p:nvPr/>
        </p:nvSpPr>
        <p:spPr>
          <a:xfrm>
            <a:off x="548640" y="3739896"/>
            <a:ext cx="1737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serving</a:t>
            </a:r>
            <a:endParaRPr lang="en-US" sz="1600" dirty="0"/>
          </a:p>
        </p:txBody>
      </p:sp>
      <p:sp>
        <p:nvSpPr>
          <p:cNvPr id="17" name="Text 15"/>
          <p:cNvSpPr txBox="1"/>
          <p:nvPr/>
        </p:nvSpPr>
        <p:spPr>
          <a:xfrm>
            <a:off x="2514600" y="3739896"/>
            <a:ext cx="5852160" cy="457200"/>
          </a:xfrm>
          <a:prstGeom prst="rect">
            <a:avLst/>
          </a:prstGeom>
          <a:noFill/>
          <a:ln/>
        </p:spPr>
        <p:txBody>
          <a:bodyPr wrap="square" lIns="0" tIns="0" rIns="0" bIns="0" rtlCol="0" anchor="ctr"/>
          <a:lstStyle/>
          <a:p>
            <a:pPr indent="0" marL="0">
              <a:buNone/>
            </a:pPr>
            <a:r>
              <a:rPr lang="en-US" sz="1600" dirty="0">
                <a:solidFill>
                  <a:srgbClr val="1F2937"/>
                </a:solidFill>
                <a:latin typeface="Times New Roman" pitchFamily="34" charset="0"/>
                <a:ea typeface="Times New Roman" pitchFamily="34" charset="-122"/>
                <a:cs typeface="Times New Roman" pitchFamily="34" charset="-120"/>
              </a:rPr>
              <a:t>core + ZooKeeper + HBase</a:t>
            </a:r>
            <a:endParaRPr lang="en-US" sz="1600" dirty="0"/>
          </a:p>
        </p:txBody>
      </p:sp>
      <p:sp>
        <p:nvSpPr>
          <p:cNvPr id="18" name="stage streaming"/>
          <p:cNvSpPr/>
          <p:nvPr/>
        </p:nvSpPr>
        <p:spPr>
          <a:xfrm>
            <a:off x="548640" y="4343400"/>
            <a:ext cx="1737360" cy="457200"/>
          </a:xfrm>
          <a:prstGeom prst="roundRect">
            <a:avLst>
              <a:gd name="adj" fmla="val 20000"/>
            </a:avLst>
          </a:prstGeom>
          <a:solidFill>
            <a:srgbClr val="7A4FA3"/>
          </a:solidFill>
          <a:ln w="12700">
            <a:solidFill>
              <a:srgbClr val="7A4FA3"/>
            </a:solidFill>
            <a:prstDash val="solid"/>
          </a:ln>
        </p:spPr>
      </p:sp>
      <p:sp>
        <p:nvSpPr>
          <p:cNvPr id="19" name="Text 17"/>
          <p:cNvSpPr txBox="1"/>
          <p:nvPr/>
        </p:nvSpPr>
        <p:spPr>
          <a:xfrm>
            <a:off x="548640" y="4343400"/>
            <a:ext cx="1737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streaming</a:t>
            </a:r>
            <a:endParaRPr lang="en-US" sz="1600" dirty="0"/>
          </a:p>
        </p:txBody>
      </p:sp>
      <p:sp>
        <p:nvSpPr>
          <p:cNvPr id="20" name="Text 18"/>
          <p:cNvSpPr txBox="1"/>
          <p:nvPr/>
        </p:nvSpPr>
        <p:spPr>
          <a:xfrm>
            <a:off x="2514600" y="4343400"/>
            <a:ext cx="5852160" cy="457200"/>
          </a:xfrm>
          <a:prstGeom prst="rect">
            <a:avLst/>
          </a:prstGeom>
          <a:noFill/>
          <a:ln/>
        </p:spPr>
        <p:txBody>
          <a:bodyPr wrap="square" lIns="0" tIns="0" rIns="0" bIns="0" rtlCol="0" anchor="ctr"/>
          <a:lstStyle/>
          <a:p>
            <a:pPr indent="0" marL="0">
              <a:buNone/>
            </a:pPr>
            <a:r>
              <a:rPr lang="en-US" sz="1600" dirty="0">
                <a:solidFill>
                  <a:srgbClr val="1F2937"/>
                </a:solidFill>
                <a:latin typeface="Times New Roman" pitchFamily="34" charset="0"/>
                <a:ea typeface="Times New Roman" pitchFamily="34" charset="-122"/>
                <a:cs typeface="Times New Roman" pitchFamily="34" charset="-120"/>
              </a:rPr>
              <a:t>HDFS + HBase + Kafka + Storm</a:t>
            </a:r>
            <a:endParaRPr lang="en-US" sz="1600" dirty="0"/>
          </a:p>
        </p:txBody>
      </p:sp>
      <p:sp>
        <p:nvSpPr>
          <p:cNvPr id="21" name="stage impala"/>
          <p:cNvSpPr/>
          <p:nvPr/>
        </p:nvSpPr>
        <p:spPr>
          <a:xfrm>
            <a:off x="548640" y="4946904"/>
            <a:ext cx="1737360" cy="457200"/>
          </a:xfrm>
          <a:prstGeom prst="roundRect">
            <a:avLst>
              <a:gd name="adj" fmla="val 20000"/>
            </a:avLst>
          </a:prstGeom>
          <a:solidFill>
            <a:srgbClr val="5B6B7F"/>
          </a:solidFill>
          <a:ln w="12700">
            <a:solidFill>
              <a:srgbClr val="5B6B7F"/>
            </a:solidFill>
            <a:prstDash val="solid"/>
          </a:ln>
        </p:spPr>
      </p:sp>
      <p:sp>
        <p:nvSpPr>
          <p:cNvPr id="22" name="Text 20"/>
          <p:cNvSpPr txBox="1"/>
          <p:nvPr/>
        </p:nvSpPr>
        <p:spPr>
          <a:xfrm>
            <a:off x="548640" y="4946904"/>
            <a:ext cx="1737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impala</a:t>
            </a:r>
            <a:endParaRPr lang="en-US" sz="1600" dirty="0"/>
          </a:p>
        </p:txBody>
      </p:sp>
      <p:sp>
        <p:nvSpPr>
          <p:cNvPr id="23" name="Text 21"/>
          <p:cNvSpPr txBox="1"/>
          <p:nvPr/>
        </p:nvSpPr>
        <p:spPr>
          <a:xfrm>
            <a:off x="2514600" y="4946904"/>
            <a:ext cx="5852160" cy="457200"/>
          </a:xfrm>
          <a:prstGeom prst="rect">
            <a:avLst/>
          </a:prstGeom>
          <a:noFill/>
          <a:ln/>
        </p:spPr>
        <p:txBody>
          <a:bodyPr wrap="square" lIns="0" tIns="0" rIns="0" bIns="0" rtlCol="0" anchor="ctr"/>
          <a:lstStyle/>
          <a:p>
            <a:pPr indent="0" marL="0">
              <a:buNone/>
            </a:pPr>
            <a:r>
              <a:rPr lang="en-US" sz="1600" dirty="0">
                <a:solidFill>
                  <a:srgbClr val="1F2937"/>
                </a:solidFill>
                <a:latin typeface="Times New Roman" pitchFamily="34" charset="0"/>
                <a:ea typeface="Times New Roman" pitchFamily="34" charset="-122"/>
                <a:cs typeface="Times New Roman" pitchFamily="34" charset="-120"/>
              </a:rPr>
              <a:t>HDFS + metastores + Impala daemons</a:t>
            </a:r>
            <a:endParaRPr lang="en-US" sz="1600" dirty="0"/>
          </a:p>
        </p:txBody>
      </p:sp>
      <p:sp>
        <p:nvSpPr>
          <p:cNvPr id="24" name="stage orchestrate"/>
          <p:cNvSpPr/>
          <p:nvPr/>
        </p:nvSpPr>
        <p:spPr>
          <a:xfrm>
            <a:off x="548640" y="5550408"/>
            <a:ext cx="1737360" cy="457200"/>
          </a:xfrm>
          <a:prstGeom prst="roundRect">
            <a:avLst>
              <a:gd name="adj" fmla="val 20000"/>
            </a:avLst>
          </a:prstGeom>
          <a:solidFill>
            <a:srgbClr val="D9822B"/>
          </a:solidFill>
          <a:ln w="12700">
            <a:solidFill>
              <a:srgbClr val="D9822B"/>
            </a:solidFill>
            <a:prstDash val="solid"/>
          </a:ln>
        </p:spPr>
      </p:sp>
      <p:sp>
        <p:nvSpPr>
          <p:cNvPr id="25" name="Text 23"/>
          <p:cNvSpPr txBox="1"/>
          <p:nvPr/>
        </p:nvSpPr>
        <p:spPr>
          <a:xfrm>
            <a:off x="548640" y="5550408"/>
            <a:ext cx="173736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Times New Roman" pitchFamily="34" charset="0"/>
                <a:ea typeface="Times New Roman" pitchFamily="34" charset="-122"/>
                <a:cs typeface="Times New Roman" pitchFamily="34" charset="-120"/>
              </a:rPr>
              <a:t>orchestrate</a:t>
            </a:r>
            <a:endParaRPr lang="en-US" sz="1600" dirty="0"/>
          </a:p>
        </p:txBody>
      </p:sp>
      <p:sp>
        <p:nvSpPr>
          <p:cNvPr id="26" name="Text 24"/>
          <p:cNvSpPr txBox="1"/>
          <p:nvPr/>
        </p:nvSpPr>
        <p:spPr>
          <a:xfrm>
            <a:off x="2514600" y="5550408"/>
            <a:ext cx="5852160" cy="457200"/>
          </a:xfrm>
          <a:prstGeom prst="rect">
            <a:avLst/>
          </a:prstGeom>
          <a:noFill/>
          <a:ln/>
        </p:spPr>
        <p:txBody>
          <a:bodyPr wrap="square" lIns="0" tIns="0" rIns="0" bIns="0" rtlCol="0" anchor="ctr"/>
          <a:lstStyle/>
          <a:p>
            <a:pPr indent="0" marL="0">
              <a:buNone/>
            </a:pPr>
            <a:r>
              <a:rPr lang="en-US" sz="1600" dirty="0">
                <a:solidFill>
                  <a:srgbClr val="1F2937"/>
                </a:solidFill>
                <a:latin typeface="Times New Roman" pitchFamily="34" charset="0"/>
                <a:ea typeface="Times New Roman" pitchFamily="34" charset="-122"/>
                <a:cs typeface="Times New Roman" pitchFamily="34" charset="-120"/>
              </a:rPr>
              <a:t>core + Airflow</a:t>
            </a:r>
            <a:endParaRPr lang="en-US" sz="1600" dirty="0"/>
          </a:p>
        </p:txBody>
      </p:sp>
      <p:sp>
        <p:nvSpPr>
          <p:cNvPr id="27" name="stat enough for every stage"/>
          <p:cNvSpPr/>
          <p:nvPr/>
        </p:nvSpPr>
        <p:spPr>
          <a:xfrm>
            <a:off x="8778240" y="1325880"/>
            <a:ext cx="2834640" cy="1463040"/>
          </a:xfrm>
          <a:prstGeom prst="roundRect">
            <a:avLst>
              <a:gd name="adj" fmla="val 75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28" name="Text 26"/>
          <p:cNvSpPr txBox="1"/>
          <p:nvPr/>
        </p:nvSpPr>
        <p:spPr>
          <a:xfrm>
            <a:off x="8961120" y="1463040"/>
            <a:ext cx="2468880" cy="804672"/>
          </a:xfrm>
          <a:prstGeom prst="rect">
            <a:avLst/>
          </a:prstGeom>
          <a:noFill/>
          <a:ln/>
        </p:spPr>
        <p:txBody>
          <a:bodyPr wrap="square" lIns="0" tIns="0" rIns="0" bIns="0" rtlCol="0" anchor="ctr"/>
          <a:lstStyle/>
          <a:p>
            <a:pPr indent="0" marL="0">
              <a:buNone/>
            </a:pPr>
            <a:r>
              <a:rPr lang="en-US" sz="3600" b="1" dirty="0">
                <a:solidFill>
                  <a:srgbClr val="14213D"/>
                </a:solidFill>
                <a:latin typeface="Times New Roman" pitchFamily="34" charset="0"/>
                <a:ea typeface="Times New Roman" pitchFamily="34" charset="-122"/>
                <a:cs typeface="Times New Roman" pitchFamily="34" charset="-120"/>
              </a:rPr>
              <a:t>16 GB</a:t>
            </a:r>
            <a:endParaRPr lang="en-US" sz="3600" dirty="0"/>
          </a:p>
        </p:txBody>
      </p:sp>
      <p:sp>
        <p:nvSpPr>
          <p:cNvPr id="29" name="Text 27"/>
          <p:cNvSpPr txBox="1"/>
          <p:nvPr/>
        </p:nvSpPr>
        <p:spPr>
          <a:xfrm>
            <a:off x="8961120" y="2203704"/>
            <a:ext cx="2468880" cy="512064"/>
          </a:xfrm>
          <a:prstGeom prst="rect">
            <a:avLst/>
          </a:prstGeom>
          <a:noFill/>
          <a:ln/>
        </p:spPr>
        <p:txBody>
          <a:bodyPr wrap="square" lIns="0" tIns="0" rIns="0" bIns="0" rtlCol="0" anchor="t"/>
          <a:lstStyle/>
          <a:p>
            <a:pPr indent="0" marL="0">
              <a:buNone/>
            </a:pPr>
            <a:r>
              <a:rPr lang="en-US" sz="1400" dirty="0">
                <a:solidFill>
                  <a:srgbClr val="4B5563"/>
                </a:solidFill>
                <a:latin typeface="Times New Roman" pitchFamily="34" charset="0"/>
                <a:ea typeface="Times New Roman" pitchFamily="34" charset="-122"/>
                <a:cs typeface="Times New Roman" pitchFamily="34" charset="-120"/>
              </a:rPr>
              <a:t>enough for every stage</a:t>
            </a:r>
            <a:endParaRPr lang="en-US" sz="1400" dirty="0"/>
          </a:p>
        </p:txBody>
      </p:sp>
      <p:sp>
        <p:nvSpPr>
          <p:cNvPr id="30" name="stat works too, with LITE=1 mode"/>
          <p:cNvSpPr/>
          <p:nvPr/>
        </p:nvSpPr>
        <p:spPr>
          <a:xfrm>
            <a:off x="8778240" y="2971800"/>
            <a:ext cx="2834640" cy="1463040"/>
          </a:xfrm>
          <a:prstGeom prst="roundRect">
            <a:avLst>
              <a:gd name="adj" fmla="val 7500"/>
            </a:avLst>
          </a:prstGeom>
          <a:solidFill>
            <a:srgbClr val="E3F4E8"/>
          </a:solidFill>
          <a:ln w="12700">
            <a:solidFill>
              <a:srgbClr val="E3F4E8"/>
            </a:solidFill>
            <a:prstDash val="solid"/>
          </a:ln>
          <a:effectLst>
            <a:outerShdw sx="100000" sy="100000" kx="0" ky="0" algn="bl" rotWithShape="0" blurRad="76200" dist="25400" dir="5400000">
              <a:srgbClr val="000000">
                <a:alpha val="12000"/>
              </a:srgbClr>
            </a:outerShdw>
          </a:effectLst>
        </p:spPr>
      </p:sp>
      <p:sp>
        <p:nvSpPr>
          <p:cNvPr id="31" name="Text 29"/>
          <p:cNvSpPr txBox="1"/>
          <p:nvPr/>
        </p:nvSpPr>
        <p:spPr>
          <a:xfrm>
            <a:off x="8961120" y="3108960"/>
            <a:ext cx="2468880" cy="804672"/>
          </a:xfrm>
          <a:prstGeom prst="rect">
            <a:avLst/>
          </a:prstGeom>
          <a:noFill/>
          <a:ln/>
        </p:spPr>
        <p:txBody>
          <a:bodyPr wrap="square" lIns="0" tIns="0" rIns="0" bIns="0" rtlCol="0" anchor="ctr"/>
          <a:lstStyle/>
          <a:p>
            <a:pPr indent="0" marL="0">
              <a:buNone/>
            </a:pPr>
            <a:r>
              <a:rPr lang="en-US" sz="3600" b="1" dirty="0">
                <a:solidFill>
                  <a:srgbClr val="2DA44E"/>
                </a:solidFill>
                <a:latin typeface="Times New Roman" pitchFamily="34" charset="0"/>
                <a:ea typeface="Times New Roman" pitchFamily="34" charset="-122"/>
                <a:cs typeface="Times New Roman" pitchFamily="34" charset="-120"/>
              </a:rPr>
              <a:t>8 GB</a:t>
            </a:r>
            <a:endParaRPr lang="en-US" sz="3600" dirty="0"/>
          </a:p>
        </p:txBody>
      </p:sp>
      <p:sp>
        <p:nvSpPr>
          <p:cNvPr id="32" name="Text 30"/>
          <p:cNvSpPr txBox="1"/>
          <p:nvPr/>
        </p:nvSpPr>
        <p:spPr>
          <a:xfrm>
            <a:off x="8961120" y="3849624"/>
            <a:ext cx="2468880" cy="512064"/>
          </a:xfrm>
          <a:prstGeom prst="rect">
            <a:avLst/>
          </a:prstGeom>
          <a:noFill/>
          <a:ln/>
        </p:spPr>
        <p:txBody>
          <a:bodyPr wrap="square" lIns="0" tIns="0" rIns="0" bIns="0" rtlCol="0" anchor="t"/>
          <a:lstStyle/>
          <a:p>
            <a:pPr indent="0" marL="0">
              <a:buNone/>
            </a:pPr>
            <a:r>
              <a:rPr lang="en-US" sz="1400" dirty="0">
                <a:solidFill>
                  <a:srgbClr val="4B5563"/>
                </a:solidFill>
                <a:latin typeface="Times New Roman" pitchFamily="34" charset="0"/>
                <a:ea typeface="Times New Roman" pitchFamily="34" charset="-122"/>
                <a:cs typeface="Times New Roman" pitchFamily="34" charset="-120"/>
              </a:rPr>
              <a:t>works too, with LITE=1 mode</a:t>
            </a:r>
            <a:endParaRPr lang="en-US" sz="1400" dirty="0"/>
          </a:p>
        </p:txBody>
      </p:sp>
      <p:sp>
        <p:nvSpPr>
          <p:cNvPr id="33" name="stat runs at a time; switching takes under 1 min"/>
          <p:cNvSpPr/>
          <p:nvPr/>
        </p:nvSpPr>
        <p:spPr>
          <a:xfrm>
            <a:off x="8778240" y="4617720"/>
            <a:ext cx="2834640" cy="1463040"/>
          </a:xfrm>
          <a:prstGeom prst="roundRect">
            <a:avLst>
              <a:gd name="adj" fmla="val 7500"/>
            </a:avLst>
          </a:prstGeom>
          <a:solidFill>
            <a:srgbClr val="FBEBDD"/>
          </a:solidFill>
          <a:ln w="12700">
            <a:solidFill>
              <a:srgbClr val="FBEBDD"/>
            </a:solidFill>
            <a:prstDash val="solid"/>
          </a:ln>
          <a:effectLst>
            <a:outerShdw sx="100000" sy="100000" kx="0" ky="0" algn="bl" rotWithShape="0" blurRad="76200" dist="25400" dir="5400000">
              <a:srgbClr val="000000">
                <a:alpha val="12000"/>
              </a:srgbClr>
            </a:outerShdw>
          </a:effectLst>
        </p:spPr>
      </p:sp>
      <p:sp>
        <p:nvSpPr>
          <p:cNvPr id="34" name="Text 32"/>
          <p:cNvSpPr txBox="1"/>
          <p:nvPr/>
        </p:nvSpPr>
        <p:spPr>
          <a:xfrm>
            <a:off x="8961120" y="4754880"/>
            <a:ext cx="2468880" cy="804672"/>
          </a:xfrm>
          <a:prstGeom prst="rect">
            <a:avLst/>
          </a:prstGeom>
          <a:noFill/>
          <a:ln/>
        </p:spPr>
        <p:txBody>
          <a:bodyPr wrap="square" lIns="0" tIns="0" rIns="0" bIns="0" rtlCol="0" anchor="ctr"/>
          <a:lstStyle/>
          <a:p>
            <a:pPr indent="0" marL="0">
              <a:buNone/>
            </a:pPr>
            <a:r>
              <a:rPr lang="en-US" sz="3600" b="1" dirty="0">
                <a:solidFill>
                  <a:srgbClr val="D9822B"/>
                </a:solidFill>
                <a:latin typeface="Times New Roman" pitchFamily="34" charset="0"/>
                <a:ea typeface="Times New Roman" pitchFamily="34" charset="-122"/>
                <a:cs typeface="Times New Roman" pitchFamily="34" charset="-120"/>
              </a:rPr>
              <a:t>1 stage</a:t>
            </a:r>
            <a:endParaRPr lang="en-US" sz="3600" dirty="0"/>
          </a:p>
        </p:txBody>
      </p:sp>
      <p:sp>
        <p:nvSpPr>
          <p:cNvPr id="35" name="Text 33"/>
          <p:cNvSpPr txBox="1"/>
          <p:nvPr/>
        </p:nvSpPr>
        <p:spPr>
          <a:xfrm>
            <a:off x="8961120" y="5495544"/>
            <a:ext cx="2468880" cy="512064"/>
          </a:xfrm>
          <a:prstGeom prst="rect">
            <a:avLst/>
          </a:prstGeom>
          <a:noFill/>
          <a:ln/>
        </p:spPr>
        <p:txBody>
          <a:bodyPr wrap="square" lIns="0" tIns="0" rIns="0" bIns="0" rtlCol="0" anchor="t"/>
          <a:lstStyle/>
          <a:p>
            <a:pPr indent="0" marL="0">
              <a:buNone/>
            </a:pPr>
            <a:r>
              <a:rPr lang="en-US" sz="1400" dirty="0">
                <a:solidFill>
                  <a:srgbClr val="4B5563"/>
                </a:solidFill>
                <a:latin typeface="Times New Roman" pitchFamily="34" charset="0"/>
                <a:ea typeface="Times New Roman" pitchFamily="34" charset="-122"/>
                <a:cs typeface="Times New Roman" pitchFamily="34" charset="-120"/>
              </a:rPr>
              <a:t>runs at a time; switching takes under 1 min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Automation with Apache Airflow</a:t>
            </a:r>
            <a:endParaRPr lang="en-US" sz="3400" dirty="0"/>
          </a:p>
        </p:txBody>
      </p:sp>
      <p:pic>
        <p:nvPicPr>
          <p:cNvPr id="3" name="Image 0" descr="dags diagram">    </p:cNvPr>
          <p:cNvPicPr>
            <a:picLocks noChangeAspect="1"/>
          </p:cNvPicPr>
          <p:nvPr/>
        </p:nvPicPr>
        <p:blipFill>
          <a:blip r:embed="rId1"/>
          <a:stretch>
            <a:fillRect/>
          </a:stretch>
        </p:blipFill>
        <p:spPr>
          <a:xfrm>
            <a:off x="1161288" y="1188720"/>
            <a:ext cx="9875520" cy="3646346"/>
          </a:xfrm>
          <a:prstGeom prst="rect">
            <a:avLst/>
          </a:prstGeom>
        </p:spPr>
      </p:pic>
      <p:sp>
        <p:nvSpPr>
          <p:cNvPr id="4" name="card"/>
          <p:cNvSpPr/>
          <p:nvPr/>
        </p:nvSpPr>
        <p:spPr>
          <a:xfrm>
            <a:off x="731520" y="5212080"/>
            <a:ext cx="3429000" cy="960120"/>
          </a:xfrm>
          <a:prstGeom prst="roundRect">
            <a:avLst>
              <a:gd name="adj" fmla="val 11429"/>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914400" y="5285232"/>
            <a:ext cx="3108960" cy="365760"/>
          </a:xfrm>
          <a:prstGeom prst="rect">
            <a:avLst/>
          </a:prstGeom>
          <a:noFill/>
          <a:ln/>
        </p:spPr>
        <p:txBody>
          <a:bodyPr wrap="square" lIns="0" tIns="0" rIns="0" bIns="0" rtlCol="0" anchor="t"/>
          <a:lstStyle/>
          <a:p>
            <a:pPr indent="0" marL="0">
              <a:buNone/>
            </a:pPr>
            <a:r>
              <a:rPr lang="en-US" sz="1600" b="1" dirty="0">
                <a:solidFill>
                  <a:srgbClr val="14213D"/>
                </a:solidFill>
                <a:latin typeface="Times New Roman" pitchFamily="34" charset="0"/>
                <a:ea typeface="Times New Roman" pitchFamily="34" charset="-122"/>
                <a:cs typeface="Times New Roman" pitchFamily="34" charset="-120"/>
              </a:rPr>
              <a:t>Daily DAG</a:t>
            </a:r>
            <a:endParaRPr lang="en-US" sz="1600" dirty="0"/>
          </a:p>
        </p:txBody>
      </p:sp>
      <p:sp>
        <p:nvSpPr>
          <p:cNvPr id="6" name="Text 3"/>
          <p:cNvSpPr txBox="1"/>
          <p:nvPr/>
        </p:nvSpPr>
        <p:spPr>
          <a:xfrm>
            <a:off x="914400" y="5650992"/>
            <a:ext cx="3108960" cy="457200"/>
          </a:xfrm>
          <a:prstGeom prst="rect">
            <a:avLst/>
          </a:prstGeom>
          <a:noFill/>
          <a:ln/>
        </p:spPr>
        <p:txBody>
          <a:bodyPr wrap="square" lIns="0" tIns="0" rIns="0" bIns="0" rtlCol="0" anchor="t"/>
          <a:lstStyle/>
          <a:p>
            <a:pPr indent="0" marL="0">
              <a:buNone/>
            </a:pPr>
            <a:r>
              <a:rPr lang="en-US" sz="1300" dirty="0">
                <a:solidFill>
                  <a:srgbClr val="1F2937"/>
                </a:solidFill>
                <a:latin typeface="Times New Roman" pitchFamily="34" charset="0"/>
                <a:ea typeface="Times New Roman" pitchFamily="34" charset="-122"/>
                <a:cs typeface="Times New Roman" pitchFamily="34" charset="-120"/>
              </a:rPr>
              <a:t>one run per day of data: download to curated tables</a:t>
            </a:r>
            <a:endParaRPr lang="en-US" sz="1300" dirty="0"/>
          </a:p>
        </p:txBody>
      </p:sp>
      <p:sp>
        <p:nvSpPr>
          <p:cNvPr id="7" name="card"/>
          <p:cNvSpPr/>
          <p:nvPr/>
        </p:nvSpPr>
        <p:spPr>
          <a:xfrm>
            <a:off x="4343400" y="5212080"/>
            <a:ext cx="3429000" cy="960120"/>
          </a:xfrm>
          <a:prstGeom prst="roundRect">
            <a:avLst>
              <a:gd name="adj" fmla="val 11429"/>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8" name="Text 5"/>
          <p:cNvSpPr txBox="1"/>
          <p:nvPr/>
        </p:nvSpPr>
        <p:spPr>
          <a:xfrm>
            <a:off x="4526280" y="5285232"/>
            <a:ext cx="3108960" cy="365760"/>
          </a:xfrm>
          <a:prstGeom prst="rect">
            <a:avLst/>
          </a:prstGeom>
          <a:noFill/>
          <a:ln/>
        </p:spPr>
        <p:txBody>
          <a:bodyPr wrap="square" lIns="0" tIns="0" rIns="0" bIns="0" rtlCol="0" anchor="t"/>
          <a:lstStyle/>
          <a:p>
            <a:pPr indent="0" marL="0">
              <a:buNone/>
            </a:pPr>
            <a:r>
              <a:rPr lang="en-US" sz="1600" b="1" dirty="0">
                <a:solidFill>
                  <a:srgbClr val="14213D"/>
                </a:solidFill>
                <a:latin typeface="Times New Roman" pitchFamily="34" charset="0"/>
                <a:ea typeface="Times New Roman" pitchFamily="34" charset="-122"/>
                <a:cs typeface="Times New Roman" pitchFamily="34" charset="-120"/>
              </a:rPr>
              <a:t>Models DAG</a:t>
            </a:r>
            <a:endParaRPr lang="en-US" sz="1600" dirty="0"/>
          </a:p>
        </p:txBody>
      </p:sp>
      <p:sp>
        <p:nvSpPr>
          <p:cNvPr id="9" name="Text 6"/>
          <p:cNvSpPr txBox="1"/>
          <p:nvPr/>
        </p:nvSpPr>
        <p:spPr>
          <a:xfrm>
            <a:off x="4526280" y="5650992"/>
            <a:ext cx="3108960" cy="457200"/>
          </a:xfrm>
          <a:prstGeom prst="rect">
            <a:avLst/>
          </a:prstGeom>
          <a:noFill/>
          <a:ln/>
        </p:spPr>
        <p:txBody>
          <a:bodyPr wrap="square" lIns="0" tIns="0" rIns="0" bIns="0" rtlCol="0" anchor="t"/>
          <a:lstStyle/>
          <a:p>
            <a:pPr indent="0" marL="0">
              <a:buNone/>
            </a:pPr>
            <a:r>
              <a:rPr lang="en-US" sz="1300" dirty="0">
                <a:solidFill>
                  <a:srgbClr val="1F2937"/>
                </a:solidFill>
                <a:latin typeface="Times New Roman" pitchFamily="34" charset="0"/>
                <a:ea typeface="Times New Roman" pitchFamily="34" charset="-122"/>
                <a:cs typeface="Times New Roman" pitchFamily="34" charset="-120"/>
              </a:rPr>
              <a:t>once per window: catalogue, ML and serving</a:t>
            </a:r>
            <a:endParaRPr lang="en-US" sz="1300" dirty="0"/>
          </a:p>
        </p:txBody>
      </p:sp>
      <p:sp>
        <p:nvSpPr>
          <p:cNvPr id="10" name="card"/>
          <p:cNvSpPr/>
          <p:nvPr/>
        </p:nvSpPr>
        <p:spPr>
          <a:xfrm>
            <a:off x="7955280" y="5212080"/>
            <a:ext cx="3429000" cy="960120"/>
          </a:xfrm>
          <a:prstGeom prst="roundRect">
            <a:avLst>
              <a:gd name="adj" fmla="val 11429"/>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1" name="Text 8"/>
          <p:cNvSpPr txBox="1"/>
          <p:nvPr/>
        </p:nvSpPr>
        <p:spPr>
          <a:xfrm>
            <a:off x="8138160" y="5285232"/>
            <a:ext cx="3108960" cy="365760"/>
          </a:xfrm>
          <a:prstGeom prst="rect">
            <a:avLst/>
          </a:prstGeom>
          <a:noFill/>
          <a:ln/>
        </p:spPr>
        <p:txBody>
          <a:bodyPr wrap="square" lIns="0" tIns="0" rIns="0" bIns="0" rtlCol="0" anchor="t"/>
          <a:lstStyle/>
          <a:p>
            <a:pPr indent="0" marL="0">
              <a:buNone/>
            </a:pPr>
            <a:r>
              <a:rPr lang="en-US" sz="1600" b="1" dirty="0">
                <a:solidFill>
                  <a:srgbClr val="14213D"/>
                </a:solidFill>
                <a:latin typeface="Times New Roman" pitchFamily="34" charset="0"/>
                <a:ea typeface="Times New Roman" pitchFamily="34" charset="-122"/>
                <a:cs typeface="Times New Roman" pitchFamily="34" charset="-120"/>
              </a:rPr>
              <a:t>Safe re-runs</a:t>
            </a:r>
            <a:endParaRPr lang="en-US" sz="1600" dirty="0"/>
          </a:p>
        </p:txBody>
      </p:sp>
      <p:sp>
        <p:nvSpPr>
          <p:cNvPr id="12" name="Text 9"/>
          <p:cNvSpPr txBox="1"/>
          <p:nvPr/>
        </p:nvSpPr>
        <p:spPr>
          <a:xfrm>
            <a:off x="8138160" y="5650992"/>
            <a:ext cx="3108960" cy="457200"/>
          </a:xfrm>
          <a:prstGeom prst="rect">
            <a:avLst/>
          </a:prstGeom>
          <a:noFill/>
          <a:ln/>
        </p:spPr>
        <p:txBody>
          <a:bodyPr wrap="square" lIns="0" tIns="0" rIns="0" bIns="0" rtlCol="0" anchor="t"/>
          <a:lstStyle/>
          <a:p>
            <a:pPr indent="0" marL="0">
              <a:buNone/>
            </a:pPr>
            <a:r>
              <a:rPr lang="en-US" sz="1300" dirty="0">
                <a:solidFill>
                  <a:srgbClr val="1F2937"/>
                </a:solidFill>
                <a:latin typeface="Times New Roman" pitchFamily="34" charset="0"/>
                <a:ea typeface="Times New Roman" pitchFamily="34" charset="-122"/>
                <a:cs typeface="Times New Roman" pitchFamily="34" charset="-120"/>
              </a:rPr>
              <a:t>retries with backoff; every task can be repeated</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We ran everything end to end</a:t>
            </a:r>
            <a:endParaRPr lang="en-US" sz="3400" dirty="0"/>
          </a:p>
        </p:txBody>
      </p:sp>
      <p:sp>
        <p:nvSpPr>
          <p:cNvPr id="3" name="card"/>
          <p:cNvSpPr/>
          <p:nvPr/>
        </p:nvSpPr>
        <p:spPr>
          <a:xfrm>
            <a:off x="548640" y="1325880"/>
            <a:ext cx="2423160" cy="1463040"/>
          </a:xfrm>
          <a:prstGeom prst="roundRect">
            <a:avLst>
              <a:gd name="adj" fmla="val 7500"/>
            </a:avLst>
          </a:prstGeom>
          <a:solidFill>
            <a:srgbClr val="E3F4E8"/>
          </a:solidFill>
          <a:ln w="12700">
            <a:solidFill>
              <a:srgbClr val="E3F4E8"/>
            </a:solidFill>
            <a:prstDash val="solid"/>
          </a:ln>
          <a:effectLst>
            <a:outerShdw sx="100000" sy="100000" kx="0" ky="0" algn="bl" rotWithShape="0" blurRad="76200" dist="25400" dir="5400000">
              <a:srgbClr val="000000">
                <a:alpha val="12000"/>
              </a:srgbClr>
            </a:outerShdw>
          </a:effectLst>
        </p:spPr>
      </p:sp>
      <p:sp>
        <p:nvSpPr>
          <p:cNvPr id="4" name="Text 2"/>
          <p:cNvSpPr txBox="1"/>
          <p:nvPr/>
        </p:nvSpPr>
        <p:spPr>
          <a:xfrm>
            <a:off x="713232" y="1435608"/>
            <a:ext cx="2103120" cy="685800"/>
          </a:xfrm>
          <a:prstGeom prst="rect">
            <a:avLst/>
          </a:prstGeom>
          <a:noFill/>
          <a:ln/>
        </p:spPr>
        <p:txBody>
          <a:bodyPr wrap="square" lIns="0" tIns="0" rIns="0" bIns="0" rtlCol="0" anchor="ctr"/>
          <a:lstStyle/>
          <a:p>
            <a:pPr indent="0" marL="0">
              <a:buNone/>
            </a:pPr>
            <a:r>
              <a:rPr lang="en-US" sz="2800" b="1" dirty="0">
                <a:solidFill>
                  <a:srgbClr val="2DA44E"/>
                </a:solidFill>
                <a:latin typeface="Times New Roman" pitchFamily="34" charset="0"/>
                <a:ea typeface="Times New Roman" pitchFamily="34" charset="-122"/>
                <a:cs typeface="Times New Roman" pitchFamily="34" charset="-120"/>
              </a:rPr>
              <a:t>25 / 25</a:t>
            </a:r>
            <a:endParaRPr lang="en-US" sz="2800" dirty="0"/>
          </a:p>
        </p:txBody>
      </p:sp>
      <p:sp>
        <p:nvSpPr>
          <p:cNvPr id="5" name="Text 3"/>
          <p:cNvSpPr txBox="1"/>
          <p:nvPr/>
        </p:nvSpPr>
        <p:spPr>
          <a:xfrm>
            <a:off x="713232" y="2130552"/>
            <a:ext cx="2103120" cy="594360"/>
          </a:xfrm>
          <a:prstGeom prst="rect">
            <a:avLst/>
          </a:prstGeom>
          <a:noFill/>
          <a:ln/>
        </p:spPr>
        <p:txBody>
          <a:bodyPr wrap="square" lIns="0" tIns="0" rIns="0" bIns="0" rtlCol="0" anchor="t"/>
          <a:lstStyle/>
          <a:p>
            <a:pPr indent="0" marL="0">
              <a:buNone/>
            </a:pPr>
            <a:r>
              <a:rPr lang="en-US" sz="1300" dirty="0">
                <a:solidFill>
                  <a:srgbClr val="4B5563"/>
                </a:solidFill>
                <a:latin typeface="Times New Roman" pitchFamily="34" charset="0"/>
                <a:ea typeface="Times New Roman" pitchFamily="34" charset="-122"/>
                <a:cs typeface="Times New Roman" pitchFamily="34" charset="-120"/>
              </a:rPr>
              <a:t>pipeline steps passed</a:t>
            </a:r>
            <a:endParaRPr lang="en-US" sz="1300" dirty="0"/>
          </a:p>
        </p:txBody>
      </p:sp>
      <p:sp>
        <p:nvSpPr>
          <p:cNvPr id="6" name="card"/>
          <p:cNvSpPr/>
          <p:nvPr/>
        </p:nvSpPr>
        <p:spPr>
          <a:xfrm>
            <a:off x="3154680" y="1325880"/>
            <a:ext cx="2423160" cy="1463040"/>
          </a:xfrm>
          <a:prstGeom prst="roundRect">
            <a:avLst>
              <a:gd name="adj" fmla="val 75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7" name="Text 5"/>
          <p:cNvSpPr txBox="1"/>
          <p:nvPr/>
        </p:nvSpPr>
        <p:spPr>
          <a:xfrm>
            <a:off x="3319272" y="1435608"/>
            <a:ext cx="2103120" cy="685800"/>
          </a:xfrm>
          <a:prstGeom prst="rect">
            <a:avLst/>
          </a:prstGeom>
          <a:noFill/>
          <a:ln/>
        </p:spPr>
        <p:txBody>
          <a:bodyPr wrap="square" lIns="0" tIns="0" rIns="0" bIns="0" rtlCol="0" anchor="ctr"/>
          <a:lstStyle/>
          <a:p>
            <a:pPr indent="0" marL="0">
              <a:buNone/>
            </a:pPr>
            <a:r>
              <a:rPr lang="en-US" sz="2800" b="1" dirty="0">
                <a:solidFill>
                  <a:srgbClr val="14213D"/>
                </a:solidFill>
                <a:latin typeface="Times New Roman" pitchFamily="34" charset="0"/>
                <a:ea typeface="Times New Roman" pitchFamily="34" charset="-122"/>
                <a:cs typeface="Times New Roman" pitchFamily="34" charset="-120"/>
              </a:rPr>
              <a:t>497,262</a:t>
            </a:r>
            <a:endParaRPr lang="en-US" sz="2800" dirty="0"/>
          </a:p>
        </p:txBody>
      </p:sp>
      <p:sp>
        <p:nvSpPr>
          <p:cNvPr id="8" name="Text 6"/>
          <p:cNvSpPr txBox="1"/>
          <p:nvPr/>
        </p:nvSpPr>
        <p:spPr>
          <a:xfrm>
            <a:off x="3319272" y="2130552"/>
            <a:ext cx="2103120" cy="594360"/>
          </a:xfrm>
          <a:prstGeom prst="rect">
            <a:avLst/>
          </a:prstGeom>
          <a:noFill/>
          <a:ln/>
        </p:spPr>
        <p:txBody>
          <a:bodyPr wrap="square" lIns="0" tIns="0" rIns="0" bIns="0" rtlCol="0" anchor="t"/>
          <a:lstStyle/>
          <a:p>
            <a:pPr indent="0" marL="0">
              <a:buNone/>
            </a:pPr>
            <a:r>
              <a:rPr lang="en-US" sz="1300" dirty="0">
                <a:solidFill>
                  <a:srgbClr val="4B5563"/>
                </a:solidFill>
                <a:latin typeface="Times New Roman" pitchFamily="34" charset="0"/>
                <a:ea typeface="Times New Roman" pitchFamily="34" charset="-122"/>
                <a:cs typeface="Times New Roman" pitchFamily="34" charset="-120"/>
              </a:rPr>
              <a:t>events in our test run</a:t>
            </a:r>
            <a:endParaRPr lang="en-US" sz="1300" dirty="0"/>
          </a:p>
        </p:txBody>
      </p:sp>
      <p:sp>
        <p:nvSpPr>
          <p:cNvPr id="9" name="card"/>
          <p:cNvSpPr/>
          <p:nvPr/>
        </p:nvSpPr>
        <p:spPr>
          <a:xfrm>
            <a:off x="548640" y="2971800"/>
            <a:ext cx="2423160" cy="1463040"/>
          </a:xfrm>
          <a:prstGeom prst="roundRect">
            <a:avLst>
              <a:gd name="adj" fmla="val 7500"/>
            </a:avLst>
          </a:prstGeom>
          <a:solidFill>
            <a:srgbClr val="FBEBDD"/>
          </a:solidFill>
          <a:ln w="12700">
            <a:solidFill>
              <a:srgbClr val="FBEBDD"/>
            </a:solidFill>
            <a:prstDash val="solid"/>
          </a:ln>
          <a:effectLst>
            <a:outerShdw sx="100000" sy="100000" kx="0" ky="0" algn="bl" rotWithShape="0" blurRad="76200" dist="25400" dir="5400000">
              <a:srgbClr val="000000">
                <a:alpha val="12000"/>
              </a:srgbClr>
            </a:outerShdw>
          </a:effectLst>
        </p:spPr>
      </p:sp>
      <p:sp>
        <p:nvSpPr>
          <p:cNvPr id="10" name="Text 8"/>
          <p:cNvSpPr txBox="1"/>
          <p:nvPr/>
        </p:nvSpPr>
        <p:spPr>
          <a:xfrm>
            <a:off x="713232" y="3081528"/>
            <a:ext cx="2103120" cy="685800"/>
          </a:xfrm>
          <a:prstGeom prst="rect">
            <a:avLst/>
          </a:prstGeom>
          <a:noFill/>
          <a:ln/>
        </p:spPr>
        <p:txBody>
          <a:bodyPr wrap="square" lIns="0" tIns="0" rIns="0" bIns="0" rtlCol="0" anchor="ctr"/>
          <a:lstStyle/>
          <a:p>
            <a:pPr indent="0" marL="0">
              <a:buNone/>
            </a:pPr>
            <a:r>
              <a:rPr lang="en-US" sz="2800" b="1" dirty="0">
                <a:solidFill>
                  <a:srgbClr val="D9822B"/>
                </a:solidFill>
                <a:latin typeface="Times New Roman" pitchFamily="34" charset="0"/>
                <a:ea typeface="Times New Roman" pitchFamily="34" charset="-122"/>
                <a:cs typeface="Times New Roman" pitchFamily="34" charset="-120"/>
              </a:rPr>
              <a:t>31.6%</a:t>
            </a:r>
            <a:endParaRPr lang="en-US" sz="2800" dirty="0"/>
          </a:p>
        </p:txBody>
      </p:sp>
      <p:sp>
        <p:nvSpPr>
          <p:cNvPr id="11" name="Text 9"/>
          <p:cNvSpPr txBox="1"/>
          <p:nvPr/>
        </p:nvSpPr>
        <p:spPr>
          <a:xfrm>
            <a:off x="713232" y="3776472"/>
            <a:ext cx="2103120" cy="594360"/>
          </a:xfrm>
          <a:prstGeom prst="rect">
            <a:avLst/>
          </a:prstGeom>
          <a:noFill/>
          <a:ln/>
        </p:spPr>
        <p:txBody>
          <a:bodyPr wrap="square" lIns="0" tIns="0" rIns="0" bIns="0" rtlCol="0" anchor="t"/>
          <a:lstStyle/>
          <a:p>
            <a:pPr indent="0" marL="0">
              <a:buNone/>
            </a:pPr>
            <a:r>
              <a:rPr lang="en-US" sz="1300" dirty="0">
                <a:solidFill>
                  <a:srgbClr val="4B5563"/>
                </a:solidFill>
                <a:latin typeface="Times New Roman" pitchFamily="34" charset="0"/>
                <a:ea typeface="Times New Roman" pitchFamily="34" charset="-122"/>
                <a:cs typeface="Times New Roman" pitchFamily="34" charset="-120"/>
              </a:rPr>
              <a:t>bot share, matches 28 to 32%</a:t>
            </a:r>
            <a:endParaRPr lang="en-US" sz="1300" dirty="0"/>
          </a:p>
        </p:txBody>
      </p:sp>
      <p:sp>
        <p:nvSpPr>
          <p:cNvPr id="12" name="card"/>
          <p:cNvSpPr/>
          <p:nvPr/>
        </p:nvSpPr>
        <p:spPr>
          <a:xfrm>
            <a:off x="3154680" y="2971800"/>
            <a:ext cx="2423160" cy="1463040"/>
          </a:xfrm>
          <a:prstGeom prst="roundRect">
            <a:avLst>
              <a:gd name="adj" fmla="val 75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3" name="Text 11"/>
          <p:cNvSpPr txBox="1"/>
          <p:nvPr/>
        </p:nvSpPr>
        <p:spPr>
          <a:xfrm>
            <a:off x="3319272" y="3081528"/>
            <a:ext cx="2103120" cy="685800"/>
          </a:xfrm>
          <a:prstGeom prst="rect">
            <a:avLst/>
          </a:prstGeom>
          <a:noFill/>
          <a:ln/>
        </p:spPr>
        <p:txBody>
          <a:bodyPr wrap="square" lIns="0" tIns="0" rIns="0" bIns="0" rtlCol="0" anchor="ctr"/>
          <a:lstStyle/>
          <a:p>
            <a:pPr indent="0" marL="0">
              <a:buNone/>
            </a:pPr>
            <a:r>
              <a:rPr lang="en-US" sz="2800" b="1" dirty="0">
                <a:solidFill>
                  <a:srgbClr val="14213D"/>
                </a:solidFill>
                <a:latin typeface="Times New Roman" pitchFamily="34" charset="0"/>
                <a:ea typeface="Times New Roman" pitchFamily="34" charset="-122"/>
                <a:cs typeface="Times New Roman" pitchFamily="34" charset="-120"/>
              </a:rPr>
              <a:t>10 / 10</a:t>
            </a:r>
            <a:endParaRPr lang="en-US" sz="2800" dirty="0"/>
          </a:p>
        </p:txBody>
      </p:sp>
      <p:sp>
        <p:nvSpPr>
          <p:cNvPr id="14" name="Text 12"/>
          <p:cNvSpPr txBox="1"/>
          <p:nvPr/>
        </p:nvSpPr>
        <p:spPr>
          <a:xfrm>
            <a:off x="3319272" y="3776472"/>
            <a:ext cx="2103120" cy="594360"/>
          </a:xfrm>
          <a:prstGeom prst="rect">
            <a:avLst/>
          </a:prstGeom>
          <a:noFill/>
          <a:ln/>
        </p:spPr>
        <p:txBody>
          <a:bodyPr wrap="square" lIns="0" tIns="0" rIns="0" bIns="0" rtlCol="0" anchor="t"/>
          <a:lstStyle/>
          <a:p>
            <a:pPr indent="0" marL="0">
              <a:buNone/>
            </a:pPr>
            <a:r>
              <a:rPr lang="en-US" sz="1300" dirty="0">
                <a:solidFill>
                  <a:srgbClr val="4B5563"/>
                </a:solidFill>
                <a:latin typeface="Times New Roman" pitchFamily="34" charset="0"/>
                <a:ea typeface="Times New Roman" pitchFamily="34" charset="-122"/>
                <a:cs typeface="Times New Roman" pitchFamily="34" charset="-120"/>
              </a:rPr>
              <a:t>JUnit tests passed</a:t>
            </a:r>
            <a:endParaRPr lang="en-US" sz="1300" dirty="0"/>
          </a:p>
        </p:txBody>
      </p:sp>
      <p:sp>
        <p:nvSpPr>
          <p:cNvPr id="15" name="card"/>
          <p:cNvSpPr/>
          <p:nvPr/>
        </p:nvSpPr>
        <p:spPr>
          <a:xfrm>
            <a:off x="548640" y="4617720"/>
            <a:ext cx="2423160" cy="1463040"/>
          </a:xfrm>
          <a:prstGeom prst="roundRect">
            <a:avLst>
              <a:gd name="adj" fmla="val 7500"/>
            </a:avLst>
          </a:prstGeom>
          <a:solidFill>
            <a:srgbClr val="E3F4E8"/>
          </a:solidFill>
          <a:ln w="12700">
            <a:solidFill>
              <a:srgbClr val="E3F4E8"/>
            </a:solidFill>
            <a:prstDash val="solid"/>
          </a:ln>
          <a:effectLst>
            <a:outerShdw sx="100000" sy="100000" kx="0" ky="0" algn="bl" rotWithShape="0" blurRad="76200" dist="25400" dir="5400000">
              <a:srgbClr val="000000">
                <a:alpha val="12000"/>
              </a:srgbClr>
            </a:outerShdw>
          </a:effectLst>
        </p:spPr>
      </p:sp>
      <p:sp>
        <p:nvSpPr>
          <p:cNvPr id="16" name="Text 14"/>
          <p:cNvSpPr txBox="1"/>
          <p:nvPr/>
        </p:nvSpPr>
        <p:spPr>
          <a:xfrm>
            <a:off x="713232" y="4727448"/>
            <a:ext cx="2103120" cy="685800"/>
          </a:xfrm>
          <a:prstGeom prst="rect">
            <a:avLst/>
          </a:prstGeom>
          <a:noFill/>
          <a:ln/>
        </p:spPr>
        <p:txBody>
          <a:bodyPr wrap="square" lIns="0" tIns="0" rIns="0" bIns="0" rtlCol="0" anchor="ctr"/>
          <a:lstStyle/>
          <a:p>
            <a:pPr indent="0" marL="0">
              <a:buNone/>
            </a:pPr>
            <a:r>
              <a:rPr lang="en-US" sz="2800" b="1" dirty="0">
                <a:solidFill>
                  <a:srgbClr val="2DA44E"/>
                </a:solidFill>
                <a:latin typeface="Times New Roman" pitchFamily="34" charset="0"/>
                <a:ea typeface="Times New Roman" pitchFamily="34" charset="-122"/>
                <a:cs typeface="Times New Roman" pitchFamily="34" charset="-120"/>
              </a:rPr>
              <a:t>E2E</a:t>
            </a:r>
            <a:endParaRPr lang="en-US" sz="2800" dirty="0"/>
          </a:p>
        </p:txBody>
      </p:sp>
      <p:sp>
        <p:nvSpPr>
          <p:cNvPr id="17" name="Text 15"/>
          <p:cNvSpPr txBox="1"/>
          <p:nvPr/>
        </p:nvSpPr>
        <p:spPr>
          <a:xfrm>
            <a:off x="713232" y="5422392"/>
            <a:ext cx="2103120" cy="594360"/>
          </a:xfrm>
          <a:prstGeom prst="rect">
            <a:avLst/>
          </a:prstGeom>
          <a:noFill/>
          <a:ln/>
        </p:spPr>
        <p:txBody>
          <a:bodyPr wrap="square" lIns="0" tIns="0" rIns="0" bIns="0" rtlCol="0" anchor="t"/>
          <a:lstStyle/>
          <a:p>
            <a:pPr indent="0" marL="0">
              <a:buNone/>
            </a:pPr>
            <a:r>
              <a:rPr lang="en-US" sz="1300" dirty="0">
                <a:solidFill>
                  <a:srgbClr val="4B5563"/>
                </a:solidFill>
                <a:latin typeface="Times New Roman" pitchFamily="34" charset="0"/>
                <a:ea typeface="Times New Roman" pitchFamily="34" charset="-122"/>
                <a:cs typeface="Times New Roman" pitchFamily="34" charset="-120"/>
              </a:rPr>
              <a:t>Postgres, HBase and Storm checks passed</a:t>
            </a:r>
            <a:endParaRPr lang="en-US" sz="1300" dirty="0"/>
          </a:p>
        </p:txBody>
      </p:sp>
      <p:sp>
        <p:nvSpPr>
          <p:cNvPr id="18" name="card"/>
          <p:cNvSpPr/>
          <p:nvPr/>
        </p:nvSpPr>
        <p:spPr>
          <a:xfrm>
            <a:off x="3154680" y="4617720"/>
            <a:ext cx="2423160" cy="1463040"/>
          </a:xfrm>
          <a:prstGeom prst="roundRect">
            <a:avLst>
              <a:gd name="adj" fmla="val 7500"/>
            </a:avLst>
          </a:prstGeom>
          <a:solidFill>
            <a:srgbClr val="F0E8F7"/>
          </a:solidFill>
          <a:ln w="12700">
            <a:solidFill>
              <a:srgbClr val="F0E8F7"/>
            </a:solidFill>
            <a:prstDash val="solid"/>
          </a:ln>
          <a:effectLst>
            <a:outerShdw sx="100000" sy="100000" kx="0" ky="0" algn="bl" rotWithShape="0" blurRad="76200" dist="25400" dir="5400000">
              <a:srgbClr val="000000">
                <a:alpha val="12000"/>
              </a:srgbClr>
            </a:outerShdw>
          </a:effectLst>
        </p:spPr>
      </p:sp>
      <p:sp>
        <p:nvSpPr>
          <p:cNvPr id="19" name="Text 17"/>
          <p:cNvSpPr txBox="1"/>
          <p:nvPr/>
        </p:nvSpPr>
        <p:spPr>
          <a:xfrm>
            <a:off x="3319272" y="4727448"/>
            <a:ext cx="2103120" cy="685800"/>
          </a:xfrm>
          <a:prstGeom prst="rect">
            <a:avLst/>
          </a:prstGeom>
          <a:noFill/>
          <a:ln/>
        </p:spPr>
        <p:txBody>
          <a:bodyPr wrap="square" lIns="0" tIns="0" rIns="0" bIns="0" rtlCol="0" anchor="ctr"/>
          <a:lstStyle/>
          <a:p>
            <a:pPr indent="0" marL="0">
              <a:buNone/>
            </a:pPr>
            <a:r>
              <a:rPr lang="en-US" sz="2800" b="1" dirty="0">
                <a:solidFill>
                  <a:srgbClr val="7A4FA3"/>
                </a:solidFill>
                <a:latin typeface="Times New Roman" pitchFamily="34" charset="0"/>
                <a:ea typeface="Times New Roman" pitchFamily="34" charset="-122"/>
                <a:cs typeface="Times New Roman" pitchFamily="34" charset="-120"/>
              </a:rPr>
              <a:t>58 min</a:t>
            </a:r>
            <a:endParaRPr lang="en-US" sz="2800" dirty="0"/>
          </a:p>
        </p:txBody>
      </p:sp>
      <p:sp>
        <p:nvSpPr>
          <p:cNvPr id="20" name="Text 18"/>
          <p:cNvSpPr txBox="1"/>
          <p:nvPr/>
        </p:nvSpPr>
        <p:spPr>
          <a:xfrm>
            <a:off x="3319272" y="5422392"/>
            <a:ext cx="2103120" cy="594360"/>
          </a:xfrm>
          <a:prstGeom prst="rect">
            <a:avLst/>
          </a:prstGeom>
          <a:noFill/>
          <a:ln/>
        </p:spPr>
        <p:txBody>
          <a:bodyPr wrap="square" lIns="0" tIns="0" rIns="0" bIns="0" rtlCol="0" anchor="t"/>
          <a:lstStyle/>
          <a:p>
            <a:pPr indent="0" marL="0">
              <a:buNone/>
            </a:pPr>
            <a:r>
              <a:rPr lang="en-US" sz="1300" dirty="0">
                <a:solidFill>
                  <a:srgbClr val="4B5563"/>
                </a:solidFill>
                <a:latin typeface="Times New Roman" pitchFamily="34" charset="0"/>
                <a:ea typeface="Times New Roman" pitchFamily="34" charset="-122"/>
                <a:cs typeface="Times New Roman" pitchFamily="34" charset="-120"/>
              </a:rPr>
              <a:t>for the whole pipeline</a:t>
            </a:r>
            <a:endParaRPr lang="en-US" sz="1300" dirty="0"/>
          </a:p>
        </p:txBody>
      </p:sp>
      <p:graphicFrame>
        <p:nvGraphicFramePr>
          <p:cNvPr id="21" name="Chart 0" descr=""/>
          <p:cNvGraphicFramePr/>
          <p:nvPr/>
        </p:nvGraphicFramePr>
        <p:xfrm>
          <a:off x="5943600" y="1280160"/>
          <a:ext cx="5715000" cy="498348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indent="0" marL="0">
              <a:buNone/>
            </a:pPr>
            <a:r>
              <a:rPr lang="en-US" sz="3400" b="1" dirty="0">
                <a:solidFill>
                  <a:srgbClr val="14213D"/>
                </a:solidFill>
                <a:latin typeface="Times New Roman" pitchFamily="34" charset="0"/>
                <a:ea typeface="Times New Roman" pitchFamily="34" charset="-122"/>
                <a:cs typeface="Times New Roman" pitchFamily="34" charset="-120"/>
              </a:rPr>
              <a:t>Challenges and how we solved them</a:t>
            </a:r>
            <a:endParaRPr lang="en-US" sz="3400" dirty="0"/>
          </a:p>
        </p:txBody>
      </p:sp>
      <p:sp>
        <p:nvSpPr>
          <p:cNvPr id="3" name="card"/>
          <p:cNvSpPr/>
          <p:nvPr/>
        </p:nvSpPr>
        <p:spPr>
          <a:xfrm>
            <a:off x="548640" y="1371600"/>
            <a:ext cx="3566160" cy="2194560"/>
          </a:xfrm>
          <a:prstGeom prst="roundRect">
            <a:avLst>
              <a:gd name="adj" fmla="val 5000"/>
            </a:avLst>
          </a:prstGeom>
          <a:solidFill>
            <a:srgbClr val="E3F4E8"/>
          </a:solidFill>
          <a:ln w="12700">
            <a:solidFill>
              <a:srgbClr val="E3F4E8"/>
            </a:solidFill>
            <a:prstDash val="solid"/>
          </a:ln>
          <a:effectLst>
            <a:outerShdw sx="100000" sy="100000" kx="0" ky="0" algn="bl" rotWithShape="0" blurRad="76200" dist="25400" dir="5400000">
              <a:srgbClr val="000000">
                <a:alpha val="12000"/>
              </a:srgbClr>
            </a:outerShdw>
          </a:effectLst>
        </p:spPr>
      </p:sp>
      <p:sp>
        <p:nvSpPr>
          <p:cNvPr id="4" name="num 1"/>
          <p:cNvSpPr/>
          <p:nvPr/>
        </p:nvSpPr>
        <p:spPr>
          <a:xfrm>
            <a:off x="777240" y="1645920"/>
            <a:ext cx="384048" cy="384048"/>
          </a:xfrm>
          <a:prstGeom prst="ellipse">
            <a:avLst/>
          </a:prstGeom>
          <a:solidFill>
            <a:srgbClr val="2DA44E"/>
          </a:solidFill>
          <a:ln w="12700">
            <a:solidFill>
              <a:srgbClr val="2DA44E"/>
            </a:solidFill>
            <a:prstDash val="solid"/>
          </a:ln>
        </p:spPr>
      </p:sp>
      <p:sp>
        <p:nvSpPr>
          <p:cNvPr id="5" name="Text 3"/>
          <p:cNvSpPr txBox="1"/>
          <p:nvPr/>
        </p:nvSpPr>
        <p:spPr>
          <a:xfrm>
            <a:off x="77724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6" name="Text 4"/>
          <p:cNvSpPr txBox="1"/>
          <p:nvPr/>
        </p:nvSpPr>
        <p:spPr>
          <a:xfrm>
            <a:off x="1325880" y="1572768"/>
            <a:ext cx="2651760" cy="548640"/>
          </a:xfrm>
          <a:prstGeom prst="rect">
            <a:avLst/>
          </a:prstGeom>
          <a:noFill/>
          <a:ln/>
        </p:spPr>
        <p:txBody>
          <a:bodyPr wrap="square" lIns="0" tIns="0" rIns="0" bIns="0" rtlCol="0" anchor="ctr"/>
          <a:lstStyle/>
          <a:p>
            <a:pPr indent="0" marL="0">
              <a:buNone/>
            </a:pPr>
            <a:r>
              <a:rPr lang="en-US" sz="1800" b="1" dirty="0">
                <a:solidFill>
                  <a:srgbClr val="14213D"/>
                </a:solidFill>
                <a:latin typeface="Times New Roman" pitchFamily="34" charset="0"/>
                <a:ea typeface="Times New Roman" pitchFamily="34" charset="-122"/>
                <a:cs typeface="Times New Roman" pitchFamily="34" charset="-120"/>
              </a:rPr>
              <a:t>Not enough memory</a:t>
            </a:r>
            <a:endParaRPr lang="en-US" sz="1800" dirty="0"/>
          </a:p>
        </p:txBody>
      </p:sp>
      <p:sp>
        <p:nvSpPr>
          <p:cNvPr id="7" name="Text 5"/>
          <p:cNvSpPr txBox="1"/>
          <p:nvPr/>
        </p:nvSpPr>
        <p:spPr>
          <a:xfrm>
            <a:off x="777240" y="2286000"/>
            <a:ext cx="3108960" cy="1097280"/>
          </a:xfrm>
          <a:prstGeom prst="rect">
            <a:avLst/>
          </a:prstGeom>
          <a:noFill/>
          <a:ln/>
        </p:spPr>
        <p:txBody>
          <a:bodyPr wrap="square" lIns="0" tIns="0" rIns="0" bIns="0" rtlCol="0" anchor="t"/>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Memory-aware stages: one stage of services at a time</a:t>
            </a:r>
            <a:endParaRPr lang="en-US" sz="1500" dirty="0"/>
          </a:p>
        </p:txBody>
      </p:sp>
      <p:sp>
        <p:nvSpPr>
          <p:cNvPr id="8" name="card"/>
          <p:cNvSpPr/>
          <p:nvPr/>
        </p:nvSpPr>
        <p:spPr>
          <a:xfrm>
            <a:off x="4297680" y="1371600"/>
            <a:ext cx="3566160" cy="2194560"/>
          </a:xfrm>
          <a:prstGeom prst="roundRect">
            <a:avLst>
              <a:gd name="adj" fmla="val 5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9" name="num 2"/>
          <p:cNvSpPr/>
          <p:nvPr/>
        </p:nvSpPr>
        <p:spPr>
          <a:xfrm>
            <a:off x="4526280" y="1645920"/>
            <a:ext cx="384048" cy="384048"/>
          </a:xfrm>
          <a:prstGeom prst="ellipse">
            <a:avLst/>
          </a:prstGeom>
          <a:solidFill>
            <a:srgbClr val="14213D"/>
          </a:solidFill>
          <a:ln w="12700">
            <a:solidFill>
              <a:srgbClr val="14213D"/>
            </a:solidFill>
            <a:prstDash val="solid"/>
          </a:ln>
        </p:spPr>
      </p:sp>
      <p:sp>
        <p:nvSpPr>
          <p:cNvPr id="10" name="Text 8"/>
          <p:cNvSpPr txBox="1"/>
          <p:nvPr/>
        </p:nvSpPr>
        <p:spPr>
          <a:xfrm>
            <a:off x="452628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11" name="Text 9"/>
          <p:cNvSpPr txBox="1"/>
          <p:nvPr/>
        </p:nvSpPr>
        <p:spPr>
          <a:xfrm>
            <a:off x="5074920" y="1572768"/>
            <a:ext cx="2651760" cy="548640"/>
          </a:xfrm>
          <a:prstGeom prst="rect">
            <a:avLst/>
          </a:prstGeom>
          <a:noFill/>
          <a:ln/>
        </p:spPr>
        <p:txBody>
          <a:bodyPr wrap="square" lIns="0" tIns="0" rIns="0" bIns="0" rtlCol="0" anchor="ctr"/>
          <a:lstStyle/>
          <a:p>
            <a:pPr indent="0" marL="0">
              <a:buNone/>
            </a:pPr>
            <a:r>
              <a:rPr lang="en-US" sz="1800" b="1" dirty="0">
                <a:solidFill>
                  <a:srgbClr val="14213D"/>
                </a:solidFill>
                <a:latin typeface="Times New Roman" pitchFamily="34" charset="0"/>
                <a:ea typeface="Times New Roman" pitchFamily="34" charset="-122"/>
                <a:cs typeface="Times New Roman" pitchFamily="34" charset="-120"/>
              </a:rPr>
              <a:t>Bot noise in rankings</a:t>
            </a:r>
            <a:endParaRPr lang="en-US" sz="1800" dirty="0"/>
          </a:p>
        </p:txBody>
      </p:sp>
      <p:sp>
        <p:nvSpPr>
          <p:cNvPr id="12" name="Text 10"/>
          <p:cNvSpPr txBox="1"/>
          <p:nvPr/>
        </p:nvSpPr>
        <p:spPr>
          <a:xfrm>
            <a:off x="4526280" y="2286000"/>
            <a:ext cx="3108960" cy="1097280"/>
          </a:xfrm>
          <a:prstGeom prst="rect">
            <a:avLst/>
          </a:prstGeom>
          <a:noFill/>
          <a:ln/>
        </p:spPr>
        <p:txBody>
          <a:bodyPr wrap="square" lIns="0" tIns="0" rIns="0" bIns="0" rtlCol="0" anchor="t"/>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Rank repositories by distinct human users, not raw events</a:t>
            </a:r>
            <a:endParaRPr lang="en-US" sz="1500" dirty="0"/>
          </a:p>
        </p:txBody>
      </p:sp>
      <p:sp>
        <p:nvSpPr>
          <p:cNvPr id="13" name="card"/>
          <p:cNvSpPr/>
          <p:nvPr/>
        </p:nvSpPr>
        <p:spPr>
          <a:xfrm>
            <a:off x="8046720" y="1371600"/>
            <a:ext cx="3566160" cy="2194560"/>
          </a:xfrm>
          <a:prstGeom prst="roundRect">
            <a:avLst>
              <a:gd name="adj" fmla="val 5000"/>
            </a:avLst>
          </a:prstGeom>
          <a:solidFill>
            <a:srgbClr val="E3F4E8"/>
          </a:solidFill>
          <a:ln w="12700">
            <a:solidFill>
              <a:srgbClr val="E3F4E8"/>
            </a:solidFill>
            <a:prstDash val="solid"/>
          </a:ln>
          <a:effectLst>
            <a:outerShdw sx="100000" sy="100000" kx="0" ky="0" algn="bl" rotWithShape="0" blurRad="76200" dist="25400" dir="5400000">
              <a:srgbClr val="000000">
                <a:alpha val="12000"/>
              </a:srgbClr>
            </a:outerShdw>
          </a:effectLst>
        </p:spPr>
      </p:sp>
      <p:sp>
        <p:nvSpPr>
          <p:cNvPr id="14" name="num 3"/>
          <p:cNvSpPr/>
          <p:nvPr/>
        </p:nvSpPr>
        <p:spPr>
          <a:xfrm>
            <a:off x="8275320" y="1645920"/>
            <a:ext cx="384048" cy="384048"/>
          </a:xfrm>
          <a:prstGeom prst="ellipse">
            <a:avLst/>
          </a:prstGeom>
          <a:solidFill>
            <a:srgbClr val="2DA44E"/>
          </a:solidFill>
          <a:ln w="12700">
            <a:solidFill>
              <a:srgbClr val="2DA44E"/>
            </a:solidFill>
            <a:prstDash val="solid"/>
          </a:ln>
        </p:spPr>
      </p:sp>
      <p:sp>
        <p:nvSpPr>
          <p:cNvPr id="15" name="Text 13"/>
          <p:cNvSpPr txBox="1"/>
          <p:nvPr/>
        </p:nvSpPr>
        <p:spPr>
          <a:xfrm>
            <a:off x="8275320" y="16459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16" name="Text 14"/>
          <p:cNvSpPr txBox="1"/>
          <p:nvPr/>
        </p:nvSpPr>
        <p:spPr>
          <a:xfrm>
            <a:off x="8823960" y="1572768"/>
            <a:ext cx="2651760" cy="548640"/>
          </a:xfrm>
          <a:prstGeom prst="rect">
            <a:avLst/>
          </a:prstGeom>
          <a:noFill/>
          <a:ln/>
        </p:spPr>
        <p:txBody>
          <a:bodyPr wrap="square" lIns="0" tIns="0" rIns="0" bIns="0" rtlCol="0" anchor="ctr"/>
          <a:lstStyle/>
          <a:p>
            <a:pPr indent="0" marL="0">
              <a:buNone/>
            </a:pPr>
            <a:r>
              <a:rPr lang="en-US" sz="1800" b="1" dirty="0">
                <a:solidFill>
                  <a:srgbClr val="14213D"/>
                </a:solidFill>
                <a:latin typeface="Times New Roman" pitchFamily="34" charset="0"/>
                <a:ea typeface="Times New Roman" pitchFamily="34" charset="-122"/>
                <a:cs typeface="Times New Roman" pitchFamily="34" charset="-120"/>
              </a:rPr>
              <a:t>Small-files problem</a:t>
            </a:r>
            <a:endParaRPr lang="en-US" sz="1800" dirty="0"/>
          </a:p>
        </p:txBody>
      </p:sp>
      <p:sp>
        <p:nvSpPr>
          <p:cNvPr id="17" name="Text 15"/>
          <p:cNvSpPr txBox="1"/>
          <p:nvPr/>
        </p:nvSpPr>
        <p:spPr>
          <a:xfrm>
            <a:off x="8275320" y="2286000"/>
            <a:ext cx="3108960" cy="1097280"/>
          </a:xfrm>
          <a:prstGeom prst="rect">
            <a:avLst/>
          </a:prstGeom>
          <a:noFill/>
          <a:ln/>
        </p:spPr>
        <p:txBody>
          <a:bodyPr wrap="square" lIns="0" tIns="0" rIns="0" bIns="0" rtlCol="0" anchor="t"/>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Pig combined splits; Impala for interactive queries</a:t>
            </a:r>
            <a:endParaRPr lang="en-US" sz="1500" dirty="0"/>
          </a:p>
        </p:txBody>
      </p:sp>
      <p:sp>
        <p:nvSpPr>
          <p:cNvPr id="18" name="card"/>
          <p:cNvSpPr/>
          <p:nvPr/>
        </p:nvSpPr>
        <p:spPr>
          <a:xfrm>
            <a:off x="548640" y="3794760"/>
            <a:ext cx="3566160" cy="2194560"/>
          </a:xfrm>
          <a:prstGeom prst="roundRect">
            <a:avLst>
              <a:gd name="adj" fmla="val 5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19" name="num 4"/>
          <p:cNvSpPr/>
          <p:nvPr/>
        </p:nvSpPr>
        <p:spPr>
          <a:xfrm>
            <a:off x="777240" y="4069080"/>
            <a:ext cx="384048" cy="384048"/>
          </a:xfrm>
          <a:prstGeom prst="ellipse">
            <a:avLst/>
          </a:prstGeom>
          <a:solidFill>
            <a:srgbClr val="14213D"/>
          </a:solidFill>
          <a:ln w="12700">
            <a:solidFill>
              <a:srgbClr val="14213D"/>
            </a:solidFill>
            <a:prstDash val="solid"/>
          </a:ln>
        </p:spPr>
      </p:sp>
      <p:sp>
        <p:nvSpPr>
          <p:cNvPr id="20" name="Text 18"/>
          <p:cNvSpPr txBox="1"/>
          <p:nvPr/>
        </p:nvSpPr>
        <p:spPr>
          <a:xfrm>
            <a:off x="777240" y="4069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4</a:t>
            </a:r>
            <a:endParaRPr lang="en-US" sz="1400" dirty="0"/>
          </a:p>
        </p:txBody>
      </p:sp>
      <p:sp>
        <p:nvSpPr>
          <p:cNvPr id="21" name="Text 19"/>
          <p:cNvSpPr txBox="1"/>
          <p:nvPr/>
        </p:nvSpPr>
        <p:spPr>
          <a:xfrm>
            <a:off x="1325880" y="3995928"/>
            <a:ext cx="2651760" cy="548640"/>
          </a:xfrm>
          <a:prstGeom prst="rect">
            <a:avLst/>
          </a:prstGeom>
          <a:noFill/>
          <a:ln/>
        </p:spPr>
        <p:txBody>
          <a:bodyPr wrap="square" lIns="0" tIns="0" rIns="0" bIns="0" rtlCol="0" anchor="ctr"/>
          <a:lstStyle/>
          <a:p>
            <a:pPr indent="0" marL="0">
              <a:buNone/>
            </a:pPr>
            <a:r>
              <a:rPr lang="en-US" sz="1800" b="1" dirty="0">
                <a:solidFill>
                  <a:srgbClr val="14213D"/>
                </a:solidFill>
                <a:latin typeface="Times New Roman" pitchFamily="34" charset="0"/>
                <a:ea typeface="Times New Roman" pitchFamily="34" charset="-122"/>
                <a:cs typeface="Times New Roman" pitchFamily="34" charset="-120"/>
              </a:rPr>
              <a:t>Late streaming events</a:t>
            </a:r>
            <a:endParaRPr lang="en-US" sz="1800" dirty="0"/>
          </a:p>
        </p:txBody>
      </p:sp>
      <p:sp>
        <p:nvSpPr>
          <p:cNvPr id="22" name="Text 20"/>
          <p:cNvSpPr txBox="1"/>
          <p:nvPr/>
        </p:nvSpPr>
        <p:spPr>
          <a:xfrm>
            <a:off x="777240" y="4709160"/>
            <a:ext cx="3108960" cy="1097280"/>
          </a:xfrm>
          <a:prstGeom prst="rect">
            <a:avLst/>
          </a:prstGeom>
          <a:noFill/>
          <a:ln/>
        </p:spPr>
        <p:txBody>
          <a:bodyPr wrap="square" lIns="0" tIns="0" rIns="0" bIns="0" rtlCol="0" anchor="t"/>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Event-time windows and a clean Kafka offset reset</a:t>
            </a:r>
            <a:endParaRPr lang="en-US" sz="1500" dirty="0"/>
          </a:p>
        </p:txBody>
      </p:sp>
      <p:sp>
        <p:nvSpPr>
          <p:cNvPr id="23" name="card"/>
          <p:cNvSpPr/>
          <p:nvPr/>
        </p:nvSpPr>
        <p:spPr>
          <a:xfrm>
            <a:off x="4297680" y="3794760"/>
            <a:ext cx="3566160" cy="2194560"/>
          </a:xfrm>
          <a:prstGeom prst="roundRect">
            <a:avLst>
              <a:gd name="adj" fmla="val 5000"/>
            </a:avLst>
          </a:prstGeom>
          <a:solidFill>
            <a:srgbClr val="E3F4E8"/>
          </a:solidFill>
          <a:ln w="12700">
            <a:solidFill>
              <a:srgbClr val="E3F4E8"/>
            </a:solidFill>
            <a:prstDash val="solid"/>
          </a:ln>
          <a:effectLst>
            <a:outerShdw sx="100000" sy="100000" kx="0" ky="0" algn="bl" rotWithShape="0" blurRad="76200" dist="25400" dir="5400000">
              <a:srgbClr val="000000">
                <a:alpha val="12000"/>
              </a:srgbClr>
            </a:outerShdw>
          </a:effectLst>
        </p:spPr>
      </p:sp>
      <p:sp>
        <p:nvSpPr>
          <p:cNvPr id="24" name="num 5"/>
          <p:cNvSpPr/>
          <p:nvPr/>
        </p:nvSpPr>
        <p:spPr>
          <a:xfrm>
            <a:off x="4526280" y="4069080"/>
            <a:ext cx="384048" cy="384048"/>
          </a:xfrm>
          <a:prstGeom prst="ellipse">
            <a:avLst/>
          </a:prstGeom>
          <a:solidFill>
            <a:srgbClr val="2DA44E"/>
          </a:solidFill>
          <a:ln w="12700">
            <a:solidFill>
              <a:srgbClr val="2DA44E"/>
            </a:solidFill>
            <a:prstDash val="solid"/>
          </a:ln>
        </p:spPr>
      </p:sp>
      <p:sp>
        <p:nvSpPr>
          <p:cNvPr id="25" name="Text 23"/>
          <p:cNvSpPr txBox="1"/>
          <p:nvPr/>
        </p:nvSpPr>
        <p:spPr>
          <a:xfrm>
            <a:off x="4526280" y="4069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5</a:t>
            </a:r>
            <a:endParaRPr lang="en-US" sz="1400" dirty="0"/>
          </a:p>
        </p:txBody>
      </p:sp>
      <p:sp>
        <p:nvSpPr>
          <p:cNvPr id="26" name="Text 24"/>
          <p:cNvSpPr txBox="1"/>
          <p:nvPr/>
        </p:nvSpPr>
        <p:spPr>
          <a:xfrm>
            <a:off x="5074920" y="3995928"/>
            <a:ext cx="2651760" cy="548640"/>
          </a:xfrm>
          <a:prstGeom prst="rect">
            <a:avLst/>
          </a:prstGeom>
          <a:noFill/>
          <a:ln/>
        </p:spPr>
        <p:txBody>
          <a:bodyPr wrap="square" lIns="0" tIns="0" rIns="0" bIns="0" rtlCol="0" anchor="ctr"/>
          <a:lstStyle/>
          <a:p>
            <a:pPr indent="0" marL="0">
              <a:buNone/>
            </a:pPr>
            <a:r>
              <a:rPr lang="en-US" sz="1800" b="1" dirty="0">
                <a:solidFill>
                  <a:srgbClr val="14213D"/>
                </a:solidFill>
                <a:latin typeface="Times New Roman" pitchFamily="34" charset="0"/>
                <a:ea typeface="Times New Roman" pitchFamily="34" charset="-122"/>
                <a:cs typeface="Times New Roman" pitchFamily="34" charset="-120"/>
              </a:rPr>
              <a:t>Bad input data</a:t>
            </a:r>
            <a:endParaRPr lang="en-US" sz="1800" dirty="0"/>
          </a:p>
        </p:txBody>
      </p:sp>
      <p:sp>
        <p:nvSpPr>
          <p:cNvPr id="27" name="Text 25"/>
          <p:cNvSpPr txBox="1"/>
          <p:nvPr/>
        </p:nvSpPr>
        <p:spPr>
          <a:xfrm>
            <a:off x="4526280" y="4709160"/>
            <a:ext cx="3108960" cy="1097280"/>
          </a:xfrm>
          <a:prstGeom prst="rect">
            <a:avLst/>
          </a:prstGeom>
          <a:noFill/>
          <a:ln/>
        </p:spPr>
        <p:txBody>
          <a:bodyPr wrap="square" lIns="0" tIns="0" rIns="0" bIns="0" rtlCol="0" anchor="t"/>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DQ gates with assert_true stop the pipeline on any error</a:t>
            </a:r>
            <a:endParaRPr lang="en-US" sz="1500" dirty="0"/>
          </a:p>
        </p:txBody>
      </p:sp>
      <p:sp>
        <p:nvSpPr>
          <p:cNvPr id="28" name="card"/>
          <p:cNvSpPr/>
          <p:nvPr/>
        </p:nvSpPr>
        <p:spPr>
          <a:xfrm>
            <a:off x="8046720" y="3794760"/>
            <a:ext cx="3566160" cy="2194560"/>
          </a:xfrm>
          <a:prstGeom prst="roundRect">
            <a:avLst>
              <a:gd name="adj" fmla="val 5000"/>
            </a:avLst>
          </a:prstGeom>
          <a:solidFill>
            <a:srgbClr val="EEF2F7"/>
          </a:solidFill>
          <a:ln w="12700">
            <a:solidFill>
              <a:srgbClr val="EEF2F7"/>
            </a:solidFill>
            <a:prstDash val="solid"/>
          </a:ln>
          <a:effectLst>
            <a:outerShdw sx="100000" sy="100000" kx="0" ky="0" algn="bl" rotWithShape="0" blurRad="76200" dist="25400" dir="5400000">
              <a:srgbClr val="000000">
                <a:alpha val="12000"/>
              </a:srgbClr>
            </a:outerShdw>
          </a:effectLst>
        </p:spPr>
      </p:sp>
      <p:sp>
        <p:nvSpPr>
          <p:cNvPr id="29" name="num 6"/>
          <p:cNvSpPr/>
          <p:nvPr/>
        </p:nvSpPr>
        <p:spPr>
          <a:xfrm>
            <a:off x="8275320" y="4069080"/>
            <a:ext cx="384048" cy="384048"/>
          </a:xfrm>
          <a:prstGeom prst="ellipse">
            <a:avLst/>
          </a:prstGeom>
          <a:solidFill>
            <a:srgbClr val="14213D"/>
          </a:solidFill>
          <a:ln w="12700">
            <a:solidFill>
              <a:srgbClr val="14213D"/>
            </a:solidFill>
            <a:prstDash val="solid"/>
          </a:ln>
        </p:spPr>
      </p:sp>
      <p:sp>
        <p:nvSpPr>
          <p:cNvPr id="30" name="Text 28"/>
          <p:cNvSpPr txBox="1"/>
          <p:nvPr/>
        </p:nvSpPr>
        <p:spPr>
          <a:xfrm>
            <a:off x="8275320" y="40690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6</a:t>
            </a:r>
            <a:endParaRPr lang="en-US" sz="1400" dirty="0"/>
          </a:p>
        </p:txBody>
      </p:sp>
      <p:sp>
        <p:nvSpPr>
          <p:cNvPr id="31" name="Text 29"/>
          <p:cNvSpPr txBox="1"/>
          <p:nvPr/>
        </p:nvSpPr>
        <p:spPr>
          <a:xfrm>
            <a:off x="8823960" y="3995928"/>
            <a:ext cx="2651760" cy="548640"/>
          </a:xfrm>
          <a:prstGeom prst="rect">
            <a:avLst/>
          </a:prstGeom>
          <a:noFill/>
          <a:ln/>
        </p:spPr>
        <p:txBody>
          <a:bodyPr wrap="square" lIns="0" tIns="0" rIns="0" bIns="0" rtlCol="0" anchor="ctr"/>
          <a:lstStyle/>
          <a:p>
            <a:pPr indent="0" marL="0">
              <a:buNone/>
            </a:pPr>
            <a:r>
              <a:rPr lang="en-US" sz="1800" b="1" dirty="0">
                <a:solidFill>
                  <a:srgbClr val="14213D"/>
                </a:solidFill>
                <a:latin typeface="Times New Roman" pitchFamily="34" charset="0"/>
                <a:ea typeface="Times New Roman" pitchFamily="34" charset="-122"/>
                <a:cs typeface="Times New Roman" pitchFamily="34" charset="-120"/>
              </a:rPr>
              <a:t>Windows line endings</a:t>
            </a:r>
            <a:endParaRPr lang="en-US" sz="1800" dirty="0"/>
          </a:p>
        </p:txBody>
      </p:sp>
      <p:sp>
        <p:nvSpPr>
          <p:cNvPr id="32" name="Text 30"/>
          <p:cNvSpPr txBox="1"/>
          <p:nvPr/>
        </p:nvSpPr>
        <p:spPr>
          <a:xfrm>
            <a:off x="8275320" y="4709160"/>
            <a:ext cx="3108960" cy="1097280"/>
          </a:xfrm>
          <a:prstGeom prst="rect">
            <a:avLst/>
          </a:prstGeom>
          <a:noFill/>
          <a:ln/>
        </p:spPr>
        <p:txBody>
          <a:bodyPr wrap="square" lIns="0" tIns="0" rIns="0" bIns="0" rtlCol="0" anchor="t"/>
          <a:lstStyle/>
          <a:p>
            <a:pPr indent="0" marL="0">
              <a:buNone/>
            </a:pPr>
            <a:r>
              <a:rPr lang="en-US" sz="1500" dirty="0">
                <a:solidFill>
                  <a:srgbClr val="1F2937"/>
                </a:solidFill>
                <a:latin typeface="Times New Roman" pitchFamily="34" charset="0"/>
                <a:ea typeface="Times New Roman" pitchFamily="34" charset="-122"/>
                <a:cs typeface="Times New Roman" pitchFamily="34" charset="-120"/>
              </a:rPr>
              <a:t>Convert scripts to LF; disable Git Bash path conversion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5B6B7F"/>
                </a:solidFill>
                <a:latin typeface="Times New Roman"/>
                <a:ea typeface="Times New Roman"/>
                <a:cs typeface="Times New Roman"/>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40080" y="457200"/>
            <a:ext cx="7315200" cy="822960"/>
          </a:xfrm>
          <a:prstGeom prst="rect">
            <a:avLst/>
          </a:prstGeom>
          <a:noFill/>
          <a:ln/>
        </p:spPr>
        <p:txBody>
          <a:bodyPr wrap="square" lIns="0" tIns="0" rIns="0" bIns="0" rtlCol="0" anchor="t"/>
          <a:lstStyle/>
          <a:p>
            <a:pPr indent="0" marL="0">
              <a:buNone/>
            </a:pPr>
            <a:r>
              <a:rPr lang="en-US" sz="3600" b="1" dirty="0">
                <a:solidFill>
                  <a:srgbClr val="FFFFFF"/>
                </a:solidFill>
                <a:latin typeface="Times New Roman" pitchFamily="34" charset="0"/>
                <a:ea typeface="Times New Roman" pitchFamily="34" charset="-122"/>
                <a:cs typeface="Times New Roman" pitchFamily="34" charset="-120"/>
              </a:rPr>
              <a:t>Conclusion and future work</a:t>
            </a:r>
            <a:endParaRPr lang="en-US" sz="3600" dirty="0"/>
          </a:p>
        </p:txBody>
      </p:sp>
      <p:sp>
        <p:nvSpPr>
          <p:cNvPr id="3" name="num 1"/>
          <p:cNvSpPr/>
          <p:nvPr/>
        </p:nvSpPr>
        <p:spPr>
          <a:xfrm>
            <a:off x="640080" y="1627632"/>
            <a:ext cx="384048" cy="384048"/>
          </a:xfrm>
          <a:prstGeom prst="ellipse">
            <a:avLst/>
          </a:prstGeom>
          <a:solidFill>
            <a:srgbClr val="2DA44E"/>
          </a:solidFill>
          <a:ln w="12700">
            <a:solidFill>
              <a:srgbClr val="2DA44E"/>
            </a:solidFill>
            <a:prstDash val="solid"/>
          </a:ln>
        </p:spPr>
      </p:sp>
      <p:sp>
        <p:nvSpPr>
          <p:cNvPr id="4" name="Text 2"/>
          <p:cNvSpPr txBox="1"/>
          <p:nvPr/>
        </p:nvSpPr>
        <p:spPr>
          <a:xfrm>
            <a:off x="640080" y="162763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1</a:t>
            </a:r>
            <a:endParaRPr lang="en-US" sz="1400" dirty="0"/>
          </a:p>
        </p:txBody>
      </p:sp>
      <p:sp>
        <p:nvSpPr>
          <p:cNvPr id="5" name="Text 3"/>
          <p:cNvSpPr txBox="1"/>
          <p:nvPr/>
        </p:nvSpPr>
        <p:spPr>
          <a:xfrm>
            <a:off x="1188720" y="1554480"/>
            <a:ext cx="5669280" cy="457200"/>
          </a:xfrm>
          <a:prstGeom prst="rect">
            <a:avLst/>
          </a:prstGeom>
          <a:noFill/>
          <a:ln/>
        </p:spPr>
        <p:txBody>
          <a:bodyPr wrap="square" lIns="0" tIns="0" rIns="0" bIns="0" rtlCol="0" anchor="t"/>
          <a:lstStyle/>
          <a:p>
            <a:pPr indent="0" marL="0">
              <a:buNone/>
            </a:pPr>
            <a:r>
              <a:rPr lang="en-US" sz="2200" b="1" dirty="0">
                <a:solidFill>
                  <a:srgbClr val="FFFFFF"/>
                </a:solidFill>
                <a:latin typeface="Times New Roman" pitchFamily="34" charset="0"/>
                <a:ea typeface="Times New Roman" pitchFamily="34" charset="-122"/>
                <a:cs typeface="Times New Roman" pitchFamily="34" charset="-120"/>
              </a:rPr>
              <a:t>Complete</a:t>
            </a:r>
            <a:endParaRPr lang="en-US" sz="2200" dirty="0"/>
          </a:p>
        </p:txBody>
      </p:sp>
      <p:sp>
        <p:nvSpPr>
          <p:cNvPr id="6" name="Text 4"/>
          <p:cNvSpPr txBox="1"/>
          <p:nvPr/>
        </p:nvSpPr>
        <p:spPr>
          <a:xfrm>
            <a:off x="1188720" y="2011680"/>
            <a:ext cx="5669280" cy="640080"/>
          </a:xfrm>
          <a:prstGeom prst="rect">
            <a:avLst/>
          </a:prstGeom>
          <a:noFill/>
          <a:ln/>
        </p:spPr>
        <p:txBody>
          <a:bodyPr wrap="square" lIns="0" tIns="0" rIns="0" bIns="0" rtlCol="0" anchor="t"/>
          <a:lstStyle/>
          <a:p>
            <a:pPr indent="0" marL="0">
              <a:buNone/>
            </a:pPr>
            <a:r>
              <a:rPr lang="en-US" sz="1600" dirty="0">
                <a:solidFill>
                  <a:srgbClr val="D1D9E6"/>
                </a:solidFill>
                <a:latin typeface="Times New Roman" pitchFamily="34" charset="0"/>
                <a:ea typeface="Times New Roman" pitchFamily="34" charset="-122"/>
                <a:cs typeface="Times New Roman" pitchFamily="34" charset="-120"/>
              </a:rPr>
              <a:t>From raw files to dashboard and live alerts, with 12 tools on one laptop.</a:t>
            </a:r>
            <a:endParaRPr lang="en-US" sz="1600" dirty="0"/>
          </a:p>
        </p:txBody>
      </p:sp>
      <p:sp>
        <p:nvSpPr>
          <p:cNvPr id="7" name="num 2"/>
          <p:cNvSpPr/>
          <p:nvPr/>
        </p:nvSpPr>
        <p:spPr>
          <a:xfrm>
            <a:off x="640080" y="2862072"/>
            <a:ext cx="384048" cy="384048"/>
          </a:xfrm>
          <a:prstGeom prst="ellipse">
            <a:avLst/>
          </a:prstGeom>
          <a:solidFill>
            <a:srgbClr val="2DA44E"/>
          </a:solidFill>
          <a:ln w="12700">
            <a:solidFill>
              <a:srgbClr val="2DA44E"/>
            </a:solidFill>
            <a:prstDash val="solid"/>
          </a:ln>
        </p:spPr>
      </p:sp>
      <p:sp>
        <p:nvSpPr>
          <p:cNvPr id="8" name="Text 6"/>
          <p:cNvSpPr txBox="1"/>
          <p:nvPr/>
        </p:nvSpPr>
        <p:spPr>
          <a:xfrm>
            <a:off x="640080" y="28620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2</a:t>
            </a:r>
            <a:endParaRPr lang="en-US" sz="1400" dirty="0"/>
          </a:p>
        </p:txBody>
      </p:sp>
      <p:sp>
        <p:nvSpPr>
          <p:cNvPr id="9" name="Text 7"/>
          <p:cNvSpPr txBox="1"/>
          <p:nvPr/>
        </p:nvSpPr>
        <p:spPr>
          <a:xfrm>
            <a:off x="1188720" y="2788920"/>
            <a:ext cx="5669280" cy="457200"/>
          </a:xfrm>
          <a:prstGeom prst="rect">
            <a:avLst/>
          </a:prstGeom>
          <a:noFill/>
          <a:ln/>
        </p:spPr>
        <p:txBody>
          <a:bodyPr wrap="square" lIns="0" tIns="0" rIns="0" bIns="0" rtlCol="0" anchor="t"/>
          <a:lstStyle/>
          <a:p>
            <a:pPr indent="0" marL="0">
              <a:buNone/>
            </a:pPr>
            <a:r>
              <a:rPr lang="en-US" sz="2200" b="1" dirty="0">
                <a:solidFill>
                  <a:srgbClr val="FFFFFF"/>
                </a:solidFill>
                <a:latin typeface="Times New Roman" pitchFamily="34" charset="0"/>
                <a:ea typeface="Times New Roman" pitchFamily="34" charset="-122"/>
                <a:cs typeface="Times New Roman" pitchFamily="34" charset="-120"/>
              </a:rPr>
              <a:t>Trustworthy</a:t>
            </a:r>
            <a:endParaRPr lang="en-US" sz="2200" dirty="0"/>
          </a:p>
        </p:txBody>
      </p:sp>
      <p:sp>
        <p:nvSpPr>
          <p:cNvPr id="10" name="Text 8"/>
          <p:cNvSpPr txBox="1"/>
          <p:nvPr/>
        </p:nvSpPr>
        <p:spPr>
          <a:xfrm>
            <a:off x="1188720" y="3246120"/>
            <a:ext cx="5669280" cy="640080"/>
          </a:xfrm>
          <a:prstGeom prst="rect">
            <a:avLst/>
          </a:prstGeom>
          <a:noFill/>
          <a:ln/>
        </p:spPr>
        <p:txBody>
          <a:bodyPr wrap="square" lIns="0" tIns="0" rIns="0" bIns="0" rtlCol="0" anchor="t"/>
          <a:lstStyle/>
          <a:p>
            <a:pPr indent="0" marL="0">
              <a:buNone/>
            </a:pPr>
            <a:r>
              <a:rPr lang="en-US" sz="1600" dirty="0">
                <a:solidFill>
                  <a:srgbClr val="D1D9E6"/>
                </a:solidFill>
                <a:latin typeface="Times New Roman" pitchFamily="34" charset="0"/>
                <a:ea typeface="Times New Roman" pitchFamily="34" charset="-122"/>
                <a:cs typeface="Times New Roman" pitchFamily="34" charset="-120"/>
              </a:rPr>
              <a:t>Quality gates on every step: 0 malformed lines, all checks passed.</a:t>
            </a:r>
            <a:endParaRPr lang="en-US" sz="1600" dirty="0"/>
          </a:p>
        </p:txBody>
      </p:sp>
      <p:sp>
        <p:nvSpPr>
          <p:cNvPr id="11" name="num 3"/>
          <p:cNvSpPr/>
          <p:nvPr/>
        </p:nvSpPr>
        <p:spPr>
          <a:xfrm>
            <a:off x="640080" y="4096512"/>
            <a:ext cx="384048" cy="384048"/>
          </a:xfrm>
          <a:prstGeom prst="ellipse">
            <a:avLst/>
          </a:prstGeom>
          <a:solidFill>
            <a:srgbClr val="2DA44E"/>
          </a:solidFill>
          <a:ln w="12700">
            <a:solidFill>
              <a:srgbClr val="2DA44E"/>
            </a:solidFill>
            <a:prstDash val="solid"/>
          </a:ln>
        </p:spPr>
      </p:sp>
      <p:sp>
        <p:nvSpPr>
          <p:cNvPr id="12" name="Text 10"/>
          <p:cNvSpPr txBox="1"/>
          <p:nvPr/>
        </p:nvSpPr>
        <p:spPr>
          <a:xfrm>
            <a:off x="640080" y="409651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Times New Roman" pitchFamily="34" charset="0"/>
                <a:ea typeface="Times New Roman" pitchFamily="34" charset="-122"/>
                <a:cs typeface="Times New Roman" pitchFamily="34" charset="-120"/>
              </a:rPr>
              <a:t>3</a:t>
            </a:r>
            <a:endParaRPr lang="en-US" sz="1400" dirty="0"/>
          </a:p>
        </p:txBody>
      </p:sp>
      <p:sp>
        <p:nvSpPr>
          <p:cNvPr id="13" name="Text 11"/>
          <p:cNvSpPr txBox="1"/>
          <p:nvPr/>
        </p:nvSpPr>
        <p:spPr>
          <a:xfrm>
            <a:off x="1188720" y="4023360"/>
            <a:ext cx="5669280" cy="457200"/>
          </a:xfrm>
          <a:prstGeom prst="rect">
            <a:avLst/>
          </a:prstGeom>
          <a:noFill/>
          <a:ln/>
        </p:spPr>
        <p:txBody>
          <a:bodyPr wrap="square" lIns="0" tIns="0" rIns="0" bIns="0" rtlCol="0" anchor="t"/>
          <a:lstStyle/>
          <a:p>
            <a:pPr indent="0" marL="0">
              <a:buNone/>
            </a:pPr>
            <a:r>
              <a:rPr lang="en-US" sz="2200" b="1" dirty="0">
                <a:solidFill>
                  <a:srgbClr val="FFFFFF"/>
                </a:solidFill>
                <a:latin typeface="Times New Roman" pitchFamily="34" charset="0"/>
                <a:ea typeface="Times New Roman" pitchFamily="34" charset="-122"/>
                <a:cs typeface="Times New Roman" pitchFamily="34" charset="-120"/>
              </a:rPr>
              <a:t>Insightful</a:t>
            </a:r>
            <a:endParaRPr lang="en-US" sz="2200" dirty="0"/>
          </a:p>
        </p:txBody>
      </p:sp>
      <p:sp>
        <p:nvSpPr>
          <p:cNvPr id="14" name="Text 12"/>
          <p:cNvSpPr txBox="1"/>
          <p:nvPr/>
        </p:nvSpPr>
        <p:spPr>
          <a:xfrm>
            <a:off x="1188720" y="4480560"/>
            <a:ext cx="5669280" cy="640080"/>
          </a:xfrm>
          <a:prstGeom prst="rect">
            <a:avLst/>
          </a:prstGeom>
          <a:noFill/>
          <a:ln/>
        </p:spPr>
        <p:txBody>
          <a:bodyPr wrap="square" lIns="0" tIns="0" rIns="0" bIns="0" rtlCol="0" anchor="t"/>
          <a:lstStyle/>
          <a:p>
            <a:pPr indent="0" marL="0">
              <a:buNone/>
            </a:pPr>
            <a:r>
              <a:rPr lang="en-US" sz="1600" dirty="0">
                <a:solidFill>
                  <a:srgbClr val="D1D9E6"/>
                </a:solidFill>
                <a:latin typeface="Times New Roman" pitchFamily="34" charset="0"/>
                <a:ea typeface="Times New Roman" pitchFamily="34" charset="-122"/>
                <a:cs typeface="Times New Roman" pitchFamily="34" charset="-120"/>
              </a:rPr>
              <a:t>Bots make about 30% of activity; Mahout recommends 6x better than popularity.</a:t>
            </a:r>
            <a:endParaRPr lang="en-US" sz="1600" dirty="0"/>
          </a:p>
        </p:txBody>
      </p:sp>
      <p:sp>
        <p:nvSpPr>
          <p:cNvPr id="15" name="Text 13"/>
          <p:cNvSpPr txBox="1"/>
          <p:nvPr/>
        </p:nvSpPr>
        <p:spPr>
          <a:xfrm>
            <a:off x="7498080" y="1554480"/>
            <a:ext cx="4114800" cy="457200"/>
          </a:xfrm>
          <a:prstGeom prst="rect">
            <a:avLst/>
          </a:prstGeom>
          <a:noFill/>
          <a:ln/>
        </p:spPr>
        <p:txBody>
          <a:bodyPr wrap="square" lIns="0" tIns="0" rIns="0" bIns="0" rtlCol="0" anchor="t"/>
          <a:lstStyle/>
          <a:p>
            <a:pPr indent="0" marL="0">
              <a:buNone/>
            </a:pPr>
            <a:r>
              <a:rPr lang="en-US" sz="2200" b="1" dirty="0">
                <a:solidFill>
                  <a:srgbClr val="A7DDB4"/>
                </a:solidFill>
                <a:latin typeface="Times New Roman" pitchFamily="34" charset="0"/>
                <a:ea typeface="Times New Roman" pitchFamily="34" charset="-122"/>
                <a:cs typeface="Times New Roman" pitchFamily="34" charset="-120"/>
              </a:rPr>
              <a:t>Next steps</a:t>
            </a:r>
            <a:endParaRPr lang="en-US" sz="2200" dirty="0"/>
          </a:p>
        </p:txBody>
      </p:sp>
      <p:sp>
        <p:nvSpPr>
          <p:cNvPr id="16" name="Text 14"/>
          <p:cNvSpPr txBox="1"/>
          <p:nvPr/>
        </p:nvSpPr>
        <p:spPr>
          <a:xfrm>
            <a:off x="7498080" y="2103120"/>
            <a:ext cx="4114800" cy="2926080"/>
          </a:xfrm>
          <a:prstGeom prst="rect">
            <a:avLst/>
          </a:prstGeom>
          <a:noFill/>
          <a:ln/>
        </p:spPr>
        <p:txBody>
          <a:bodyPr wrap="square" lIns="0" tIns="0" rIns="0" bIns="0" rtlCol="0" anchor="t"/>
          <a:lstStyle/>
          <a:p>
            <a:pPr marL="342900" indent="-342900">
              <a:spcAft>
                <a:spcPts val="1000"/>
              </a:spcAft>
              <a:buSzPct val="100000"/>
              <a:buChar char="•"/>
            </a:pPr>
            <a:r>
              <a:rPr lang="en-US" sz="1700" dirty="0">
                <a:solidFill>
                  <a:srgbClr val="FFFFFF"/>
                </a:solidFill>
                <a:latin typeface="Times New Roman" pitchFamily="34" charset="0"/>
                <a:ea typeface="Times New Roman" pitchFamily="34" charset="-122"/>
                <a:cs typeface="Times New Roman" pitchFamily="34" charset="-120"/>
              </a:rPr>
              <a:t>Run on the full 8-day dataset</a:t>
            </a:r>
            <a:endParaRPr lang="en-US" sz="1700" dirty="0"/>
          </a:p>
          <a:p>
            <a:pPr marL="342900" indent="-342900">
              <a:spcAft>
                <a:spcPts val="1000"/>
              </a:spcAft>
              <a:buSzPct val="100000"/>
              <a:buChar char="•"/>
            </a:pPr>
            <a:r>
              <a:rPr lang="en-US" sz="1700" dirty="0">
                <a:solidFill>
                  <a:srgbClr val="FFFFFF"/>
                </a:solidFill>
                <a:latin typeface="Times New Roman" pitchFamily="34" charset="0"/>
                <a:ea typeface="Times New Roman" pitchFamily="34" charset="-122"/>
                <a:cs typeface="Times New Roman" pitchFamily="34" charset="-120"/>
              </a:rPr>
              <a:t>Live GitHub API feed instead of replay</a:t>
            </a:r>
            <a:endParaRPr lang="en-US" sz="1700" dirty="0"/>
          </a:p>
          <a:p>
            <a:pPr marL="342900" indent="-342900">
              <a:spcAft>
                <a:spcPts val="1000"/>
              </a:spcAft>
              <a:buSzPct val="100000"/>
              <a:buChar char="•"/>
            </a:pPr>
            <a:r>
              <a:rPr lang="en-US" sz="1700" dirty="0">
                <a:solidFill>
                  <a:srgbClr val="FFFFFF"/>
                </a:solidFill>
                <a:latin typeface="Times New Roman" pitchFamily="34" charset="0"/>
                <a:ea typeface="Times New Roman" pitchFamily="34" charset="-122"/>
                <a:cs typeface="Times New Roman" pitchFamily="34" charset="-120"/>
              </a:rPr>
              <a:t>Spark Structured Streaming comparison</a:t>
            </a:r>
            <a:endParaRPr lang="en-US" sz="1700" dirty="0"/>
          </a:p>
          <a:p>
            <a:pPr marL="342900" indent="-342900">
              <a:spcAft>
                <a:spcPts val="1000"/>
              </a:spcAft>
              <a:buSzPct val="100000"/>
              <a:buChar char="•"/>
            </a:pPr>
            <a:r>
              <a:rPr lang="en-US" sz="1700" dirty="0">
                <a:solidFill>
                  <a:srgbClr val="FFFFFF"/>
                </a:solidFill>
                <a:latin typeface="Times New Roman" pitchFamily="34" charset="0"/>
                <a:ea typeface="Times New Roman" pitchFamily="34" charset="-122"/>
                <a:cs typeface="Times New Roman" pitchFamily="34" charset="-120"/>
              </a:rPr>
              <a:t>Deploy on a real multi-node cluster</a:t>
            </a:r>
            <a:endParaRPr lang="en-US" sz="1700" dirty="0"/>
          </a:p>
          <a:p>
            <a:pPr marL="342900" indent="-342900">
              <a:spcAft>
                <a:spcPts val="1000"/>
              </a:spcAft>
              <a:buSzPct val="100000"/>
              <a:buChar char="•"/>
            </a:pPr>
            <a:r>
              <a:rPr lang="en-US" sz="1700" dirty="0">
                <a:solidFill>
                  <a:srgbClr val="FFFFFF"/>
                </a:solidFill>
                <a:latin typeface="Times New Roman" pitchFamily="34" charset="0"/>
                <a:ea typeface="Times New Roman" pitchFamily="34" charset="-122"/>
                <a:cs typeface="Times New Roman" pitchFamily="34" charset="-120"/>
              </a:rPr>
              <a:t>Publish the Tableau dashboard</a:t>
            </a:r>
            <a:endParaRPr lang="en-US" sz="1700" dirty="0"/>
          </a:p>
        </p:txBody>
      </p:sp>
      <p:sp>
        <p:nvSpPr>
          <p:cNvPr id="17" name="grid"/>
          <p:cNvSpPr/>
          <p:nvPr/>
        </p:nvSpPr>
        <p:spPr>
          <a:xfrm>
            <a:off x="640080" y="5577840"/>
            <a:ext cx="256032" cy="256032"/>
          </a:xfrm>
          <a:prstGeom prst="roundRect">
            <a:avLst>
              <a:gd name="adj" fmla="val 10714"/>
            </a:avLst>
          </a:prstGeom>
          <a:solidFill>
            <a:srgbClr val="E3F4E8"/>
          </a:solidFill>
          <a:ln w="12700">
            <a:solidFill>
              <a:srgbClr val="E3F4E8"/>
            </a:solidFill>
            <a:prstDash val="solid"/>
          </a:ln>
        </p:spPr>
      </p:sp>
      <p:sp>
        <p:nvSpPr>
          <p:cNvPr id="18" name="grid"/>
          <p:cNvSpPr/>
          <p:nvPr/>
        </p:nvSpPr>
        <p:spPr>
          <a:xfrm>
            <a:off x="640080" y="5897880"/>
            <a:ext cx="256032" cy="256032"/>
          </a:xfrm>
          <a:prstGeom prst="roundRect">
            <a:avLst>
              <a:gd name="adj" fmla="val 10714"/>
            </a:avLst>
          </a:prstGeom>
          <a:solidFill>
            <a:srgbClr val="E3F4E8"/>
          </a:solidFill>
          <a:ln w="12700">
            <a:solidFill>
              <a:srgbClr val="E3F4E8"/>
            </a:solidFill>
            <a:prstDash val="solid"/>
          </a:ln>
        </p:spPr>
      </p:sp>
      <p:sp>
        <p:nvSpPr>
          <p:cNvPr id="19" name="grid"/>
          <p:cNvSpPr/>
          <p:nvPr/>
        </p:nvSpPr>
        <p:spPr>
          <a:xfrm>
            <a:off x="960120" y="5577840"/>
            <a:ext cx="256032" cy="256032"/>
          </a:xfrm>
          <a:prstGeom prst="roundRect">
            <a:avLst>
              <a:gd name="adj" fmla="val 10714"/>
            </a:avLst>
          </a:prstGeom>
          <a:solidFill>
            <a:srgbClr val="E3F4E8"/>
          </a:solidFill>
          <a:ln w="12700">
            <a:solidFill>
              <a:srgbClr val="E3F4E8"/>
            </a:solidFill>
            <a:prstDash val="solid"/>
          </a:ln>
        </p:spPr>
      </p:sp>
      <p:sp>
        <p:nvSpPr>
          <p:cNvPr id="20" name="grid"/>
          <p:cNvSpPr/>
          <p:nvPr/>
        </p:nvSpPr>
        <p:spPr>
          <a:xfrm>
            <a:off x="960120" y="5897880"/>
            <a:ext cx="256032" cy="256032"/>
          </a:xfrm>
          <a:prstGeom prst="roundRect">
            <a:avLst>
              <a:gd name="adj" fmla="val 10714"/>
            </a:avLst>
          </a:prstGeom>
          <a:solidFill>
            <a:srgbClr val="E3F4E8"/>
          </a:solidFill>
          <a:ln w="12700">
            <a:solidFill>
              <a:srgbClr val="E3F4E8"/>
            </a:solidFill>
            <a:prstDash val="solid"/>
          </a:ln>
        </p:spPr>
      </p:sp>
      <p:sp>
        <p:nvSpPr>
          <p:cNvPr id="21" name="grid"/>
          <p:cNvSpPr/>
          <p:nvPr/>
        </p:nvSpPr>
        <p:spPr>
          <a:xfrm>
            <a:off x="1280160" y="5577840"/>
            <a:ext cx="256032" cy="256032"/>
          </a:xfrm>
          <a:prstGeom prst="roundRect">
            <a:avLst>
              <a:gd name="adj" fmla="val 10714"/>
            </a:avLst>
          </a:prstGeom>
          <a:solidFill>
            <a:srgbClr val="E3F4E8"/>
          </a:solidFill>
          <a:ln w="12700">
            <a:solidFill>
              <a:srgbClr val="E3F4E8"/>
            </a:solidFill>
            <a:prstDash val="solid"/>
          </a:ln>
        </p:spPr>
      </p:sp>
      <p:sp>
        <p:nvSpPr>
          <p:cNvPr id="22" name="grid"/>
          <p:cNvSpPr/>
          <p:nvPr/>
        </p:nvSpPr>
        <p:spPr>
          <a:xfrm>
            <a:off x="1280160" y="5897880"/>
            <a:ext cx="256032" cy="256032"/>
          </a:xfrm>
          <a:prstGeom prst="roundRect">
            <a:avLst>
              <a:gd name="adj" fmla="val 10714"/>
            </a:avLst>
          </a:prstGeom>
          <a:solidFill>
            <a:srgbClr val="E3F4E8"/>
          </a:solidFill>
          <a:ln w="12700">
            <a:solidFill>
              <a:srgbClr val="E3F4E8"/>
            </a:solidFill>
            <a:prstDash val="solid"/>
          </a:ln>
        </p:spPr>
      </p:sp>
      <p:sp>
        <p:nvSpPr>
          <p:cNvPr id="23" name="grid"/>
          <p:cNvSpPr/>
          <p:nvPr/>
        </p:nvSpPr>
        <p:spPr>
          <a:xfrm>
            <a:off x="1600200" y="5577840"/>
            <a:ext cx="256032" cy="256032"/>
          </a:xfrm>
          <a:prstGeom prst="roundRect">
            <a:avLst>
              <a:gd name="adj" fmla="val 10714"/>
            </a:avLst>
          </a:prstGeom>
          <a:solidFill>
            <a:srgbClr val="A7DDB4"/>
          </a:solidFill>
          <a:ln w="12700">
            <a:solidFill>
              <a:srgbClr val="A7DDB4"/>
            </a:solidFill>
            <a:prstDash val="solid"/>
          </a:ln>
        </p:spPr>
      </p:sp>
      <p:sp>
        <p:nvSpPr>
          <p:cNvPr id="24" name="grid"/>
          <p:cNvSpPr/>
          <p:nvPr/>
        </p:nvSpPr>
        <p:spPr>
          <a:xfrm>
            <a:off x="1600200" y="5897880"/>
            <a:ext cx="256032" cy="256032"/>
          </a:xfrm>
          <a:prstGeom prst="roundRect">
            <a:avLst>
              <a:gd name="adj" fmla="val 10714"/>
            </a:avLst>
          </a:prstGeom>
          <a:solidFill>
            <a:srgbClr val="E3F4E8"/>
          </a:solidFill>
          <a:ln w="12700">
            <a:solidFill>
              <a:srgbClr val="E3F4E8"/>
            </a:solidFill>
            <a:prstDash val="solid"/>
          </a:ln>
        </p:spPr>
      </p:sp>
      <p:sp>
        <p:nvSpPr>
          <p:cNvPr id="25" name="grid"/>
          <p:cNvSpPr/>
          <p:nvPr/>
        </p:nvSpPr>
        <p:spPr>
          <a:xfrm>
            <a:off x="1920240" y="5577840"/>
            <a:ext cx="256032" cy="256032"/>
          </a:xfrm>
          <a:prstGeom prst="roundRect">
            <a:avLst>
              <a:gd name="adj" fmla="val 10714"/>
            </a:avLst>
          </a:prstGeom>
          <a:solidFill>
            <a:srgbClr val="E3F4E8"/>
          </a:solidFill>
          <a:ln w="12700">
            <a:solidFill>
              <a:srgbClr val="E3F4E8"/>
            </a:solidFill>
            <a:prstDash val="solid"/>
          </a:ln>
        </p:spPr>
      </p:sp>
      <p:sp>
        <p:nvSpPr>
          <p:cNvPr id="26" name="grid"/>
          <p:cNvSpPr/>
          <p:nvPr/>
        </p:nvSpPr>
        <p:spPr>
          <a:xfrm>
            <a:off x="1920240" y="5897880"/>
            <a:ext cx="256032" cy="256032"/>
          </a:xfrm>
          <a:prstGeom prst="roundRect">
            <a:avLst>
              <a:gd name="adj" fmla="val 10714"/>
            </a:avLst>
          </a:prstGeom>
          <a:solidFill>
            <a:srgbClr val="E3F4E8"/>
          </a:solidFill>
          <a:ln w="12700">
            <a:solidFill>
              <a:srgbClr val="E3F4E8"/>
            </a:solidFill>
            <a:prstDash val="solid"/>
          </a:ln>
        </p:spPr>
      </p:sp>
      <p:sp>
        <p:nvSpPr>
          <p:cNvPr id="27" name="grid"/>
          <p:cNvSpPr/>
          <p:nvPr/>
        </p:nvSpPr>
        <p:spPr>
          <a:xfrm>
            <a:off x="2240280" y="5577840"/>
            <a:ext cx="256032" cy="256032"/>
          </a:xfrm>
          <a:prstGeom prst="roundRect">
            <a:avLst>
              <a:gd name="adj" fmla="val 10714"/>
            </a:avLst>
          </a:prstGeom>
          <a:solidFill>
            <a:srgbClr val="A7DDB4"/>
          </a:solidFill>
          <a:ln w="12700">
            <a:solidFill>
              <a:srgbClr val="A7DDB4"/>
            </a:solidFill>
            <a:prstDash val="solid"/>
          </a:ln>
        </p:spPr>
      </p:sp>
      <p:sp>
        <p:nvSpPr>
          <p:cNvPr id="28" name="grid"/>
          <p:cNvSpPr/>
          <p:nvPr/>
        </p:nvSpPr>
        <p:spPr>
          <a:xfrm>
            <a:off x="2240280" y="5897880"/>
            <a:ext cx="256032" cy="256032"/>
          </a:xfrm>
          <a:prstGeom prst="roundRect">
            <a:avLst>
              <a:gd name="adj" fmla="val 10714"/>
            </a:avLst>
          </a:prstGeom>
          <a:solidFill>
            <a:srgbClr val="A7DDB4"/>
          </a:solidFill>
          <a:ln w="12700">
            <a:solidFill>
              <a:srgbClr val="A7DDB4"/>
            </a:solidFill>
            <a:prstDash val="solid"/>
          </a:ln>
        </p:spPr>
      </p:sp>
      <p:sp>
        <p:nvSpPr>
          <p:cNvPr id="29" name="grid"/>
          <p:cNvSpPr/>
          <p:nvPr/>
        </p:nvSpPr>
        <p:spPr>
          <a:xfrm>
            <a:off x="2560320" y="5577840"/>
            <a:ext cx="256032" cy="256032"/>
          </a:xfrm>
          <a:prstGeom prst="roundRect">
            <a:avLst>
              <a:gd name="adj" fmla="val 10714"/>
            </a:avLst>
          </a:prstGeom>
          <a:solidFill>
            <a:srgbClr val="E3F4E8"/>
          </a:solidFill>
          <a:ln w="12700">
            <a:solidFill>
              <a:srgbClr val="E3F4E8"/>
            </a:solidFill>
            <a:prstDash val="solid"/>
          </a:ln>
        </p:spPr>
      </p:sp>
      <p:sp>
        <p:nvSpPr>
          <p:cNvPr id="30" name="grid"/>
          <p:cNvSpPr/>
          <p:nvPr/>
        </p:nvSpPr>
        <p:spPr>
          <a:xfrm>
            <a:off x="2560320" y="5897880"/>
            <a:ext cx="256032" cy="256032"/>
          </a:xfrm>
          <a:prstGeom prst="roundRect">
            <a:avLst>
              <a:gd name="adj" fmla="val 10714"/>
            </a:avLst>
          </a:prstGeom>
          <a:solidFill>
            <a:srgbClr val="A7DDB4"/>
          </a:solidFill>
          <a:ln w="12700">
            <a:solidFill>
              <a:srgbClr val="A7DDB4"/>
            </a:solidFill>
            <a:prstDash val="solid"/>
          </a:ln>
        </p:spPr>
      </p:sp>
      <p:sp>
        <p:nvSpPr>
          <p:cNvPr id="31" name="grid"/>
          <p:cNvSpPr/>
          <p:nvPr/>
        </p:nvSpPr>
        <p:spPr>
          <a:xfrm>
            <a:off x="2880360" y="5577840"/>
            <a:ext cx="256032" cy="256032"/>
          </a:xfrm>
          <a:prstGeom prst="roundRect">
            <a:avLst>
              <a:gd name="adj" fmla="val 10714"/>
            </a:avLst>
          </a:prstGeom>
          <a:solidFill>
            <a:srgbClr val="A7DDB4"/>
          </a:solidFill>
          <a:ln w="12700">
            <a:solidFill>
              <a:srgbClr val="A7DDB4"/>
            </a:solidFill>
            <a:prstDash val="solid"/>
          </a:ln>
        </p:spPr>
      </p:sp>
      <p:sp>
        <p:nvSpPr>
          <p:cNvPr id="32" name="grid"/>
          <p:cNvSpPr/>
          <p:nvPr/>
        </p:nvSpPr>
        <p:spPr>
          <a:xfrm>
            <a:off x="2880360" y="5897880"/>
            <a:ext cx="256032" cy="256032"/>
          </a:xfrm>
          <a:prstGeom prst="roundRect">
            <a:avLst>
              <a:gd name="adj" fmla="val 10714"/>
            </a:avLst>
          </a:prstGeom>
          <a:solidFill>
            <a:srgbClr val="E3F4E8"/>
          </a:solidFill>
          <a:ln w="12700">
            <a:solidFill>
              <a:srgbClr val="E3F4E8"/>
            </a:solidFill>
            <a:prstDash val="solid"/>
          </a:ln>
        </p:spPr>
      </p:sp>
      <p:sp>
        <p:nvSpPr>
          <p:cNvPr id="33" name="grid"/>
          <p:cNvSpPr/>
          <p:nvPr/>
        </p:nvSpPr>
        <p:spPr>
          <a:xfrm>
            <a:off x="3200400" y="5577840"/>
            <a:ext cx="256032" cy="256032"/>
          </a:xfrm>
          <a:prstGeom prst="roundRect">
            <a:avLst>
              <a:gd name="adj" fmla="val 10714"/>
            </a:avLst>
          </a:prstGeom>
          <a:solidFill>
            <a:srgbClr val="5FBF77"/>
          </a:solidFill>
          <a:ln w="12700">
            <a:solidFill>
              <a:srgbClr val="5FBF77"/>
            </a:solidFill>
            <a:prstDash val="solid"/>
          </a:ln>
        </p:spPr>
      </p:sp>
      <p:sp>
        <p:nvSpPr>
          <p:cNvPr id="34" name="grid"/>
          <p:cNvSpPr/>
          <p:nvPr/>
        </p:nvSpPr>
        <p:spPr>
          <a:xfrm>
            <a:off x="3200400" y="5897880"/>
            <a:ext cx="256032" cy="256032"/>
          </a:xfrm>
          <a:prstGeom prst="roundRect">
            <a:avLst>
              <a:gd name="adj" fmla="val 10714"/>
            </a:avLst>
          </a:prstGeom>
          <a:solidFill>
            <a:srgbClr val="A7DDB4"/>
          </a:solidFill>
          <a:ln w="12700">
            <a:solidFill>
              <a:srgbClr val="A7DDB4"/>
            </a:solidFill>
            <a:prstDash val="solid"/>
          </a:ln>
        </p:spPr>
      </p:sp>
      <p:sp>
        <p:nvSpPr>
          <p:cNvPr id="35" name="grid"/>
          <p:cNvSpPr/>
          <p:nvPr/>
        </p:nvSpPr>
        <p:spPr>
          <a:xfrm>
            <a:off x="3520440" y="5577840"/>
            <a:ext cx="256032" cy="256032"/>
          </a:xfrm>
          <a:prstGeom prst="roundRect">
            <a:avLst>
              <a:gd name="adj" fmla="val 10714"/>
            </a:avLst>
          </a:prstGeom>
          <a:solidFill>
            <a:srgbClr val="5FBF77"/>
          </a:solidFill>
          <a:ln w="12700">
            <a:solidFill>
              <a:srgbClr val="5FBF77"/>
            </a:solidFill>
            <a:prstDash val="solid"/>
          </a:ln>
        </p:spPr>
      </p:sp>
      <p:sp>
        <p:nvSpPr>
          <p:cNvPr id="36" name="grid"/>
          <p:cNvSpPr/>
          <p:nvPr/>
        </p:nvSpPr>
        <p:spPr>
          <a:xfrm>
            <a:off x="3520440" y="5897880"/>
            <a:ext cx="256032" cy="256032"/>
          </a:xfrm>
          <a:prstGeom prst="roundRect">
            <a:avLst>
              <a:gd name="adj" fmla="val 10714"/>
            </a:avLst>
          </a:prstGeom>
          <a:solidFill>
            <a:srgbClr val="E3F4E8"/>
          </a:solidFill>
          <a:ln w="12700">
            <a:solidFill>
              <a:srgbClr val="E3F4E8"/>
            </a:solidFill>
            <a:prstDash val="solid"/>
          </a:ln>
        </p:spPr>
      </p:sp>
      <p:sp>
        <p:nvSpPr>
          <p:cNvPr id="37" name="grid"/>
          <p:cNvSpPr/>
          <p:nvPr/>
        </p:nvSpPr>
        <p:spPr>
          <a:xfrm>
            <a:off x="3840480" y="5577840"/>
            <a:ext cx="256032" cy="256032"/>
          </a:xfrm>
          <a:prstGeom prst="roundRect">
            <a:avLst>
              <a:gd name="adj" fmla="val 10714"/>
            </a:avLst>
          </a:prstGeom>
          <a:solidFill>
            <a:srgbClr val="E3F4E8"/>
          </a:solidFill>
          <a:ln w="12700">
            <a:solidFill>
              <a:srgbClr val="E3F4E8"/>
            </a:solidFill>
            <a:prstDash val="solid"/>
          </a:ln>
        </p:spPr>
      </p:sp>
      <p:sp>
        <p:nvSpPr>
          <p:cNvPr id="38" name="grid"/>
          <p:cNvSpPr/>
          <p:nvPr/>
        </p:nvSpPr>
        <p:spPr>
          <a:xfrm>
            <a:off x="3840480" y="5897880"/>
            <a:ext cx="256032" cy="256032"/>
          </a:xfrm>
          <a:prstGeom prst="roundRect">
            <a:avLst>
              <a:gd name="adj" fmla="val 10714"/>
            </a:avLst>
          </a:prstGeom>
          <a:solidFill>
            <a:srgbClr val="E3F4E8"/>
          </a:solidFill>
          <a:ln w="12700">
            <a:solidFill>
              <a:srgbClr val="E3F4E8"/>
            </a:solidFill>
            <a:prstDash val="solid"/>
          </a:ln>
        </p:spPr>
      </p:sp>
      <p:sp>
        <p:nvSpPr>
          <p:cNvPr id="39" name="grid"/>
          <p:cNvSpPr/>
          <p:nvPr/>
        </p:nvSpPr>
        <p:spPr>
          <a:xfrm>
            <a:off x="4160520" y="5577840"/>
            <a:ext cx="256032" cy="256032"/>
          </a:xfrm>
          <a:prstGeom prst="roundRect">
            <a:avLst>
              <a:gd name="adj" fmla="val 10714"/>
            </a:avLst>
          </a:prstGeom>
          <a:solidFill>
            <a:srgbClr val="5FBF77"/>
          </a:solidFill>
          <a:ln w="12700">
            <a:solidFill>
              <a:srgbClr val="5FBF77"/>
            </a:solidFill>
            <a:prstDash val="solid"/>
          </a:ln>
        </p:spPr>
      </p:sp>
      <p:sp>
        <p:nvSpPr>
          <p:cNvPr id="40" name="grid"/>
          <p:cNvSpPr/>
          <p:nvPr/>
        </p:nvSpPr>
        <p:spPr>
          <a:xfrm>
            <a:off x="4160520" y="5897880"/>
            <a:ext cx="256032" cy="256032"/>
          </a:xfrm>
          <a:prstGeom prst="roundRect">
            <a:avLst>
              <a:gd name="adj" fmla="val 10714"/>
            </a:avLst>
          </a:prstGeom>
          <a:solidFill>
            <a:srgbClr val="A7DDB4"/>
          </a:solidFill>
          <a:ln w="12700">
            <a:solidFill>
              <a:srgbClr val="A7DDB4"/>
            </a:solidFill>
            <a:prstDash val="solid"/>
          </a:ln>
        </p:spPr>
      </p:sp>
      <p:sp>
        <p:nvSpPr>
          <p:cNvPr id="41" name="grid"/>
          <p:cNvSpPr/>
          <p:nvPr/>
        </p:nvSpPr>
        <p:spPr>
          <a:xfrm>
            <a:off x="4480560" y="5577840"/>
            <a:ext cx="256032" cy="256032"/>
          </a:xfrm>
          <a:prstGeom prst="roundRect">
            <a:avLst>
              <a:gd name="adj" fmla="val 10714"/>
            </a:avLst>
          </a:prstGeom>
          <a:solidFill>
            <a:srgbClr val="5FBF77"/>
          </a:solidFill>
          <a:ln w="12700">
            <a:solidFill>
              <a:srgbClr val="5FBF77"/>
            </a:solidFill>
            <a:prstDash val="solid"/>
          </a:ln>
        </p:spPr>
      </p:sp>
      <p:sp>
        <p:nvSpPr>
          <p:cNvPr id="42" name="grid"/>
          <p:cNvSpPr/>
          <p:nvPr/>
        </p:nvSpPr>
        <p:spPr>
          <a:xfrm>
            <a:off x="4480560" y="5897880"/>
            <a:ext cx="256032" cy="256032"/>
          </a:xfrm>
          <a:prstGeom prst="roundRect">
            <a:avLst>
              <a:gd name="adj" fmla="val 10714"/>
            </a:avLst>
          </a:prstGeom>
          <a:solidFill>
            <a:srgbClr val="A7DDB4"/>
          </a:solidFill>
          <a:ln w="12700">
            <a:solidFill>
              <a:srgbClr val="A7DDB4"/>
            </a:solidFill>
            <a:prstDash val="solid"/>
          </a:ln>
        </p:spPr>
      </p:sp>
      <p:sp>
        <p:nvSpPr>
          <p:cNvPr id="43" name="grid"/>
          <p:cNvSpPr/>
          <p:nvPr/>
        </p:nvSpPr>
        <p:spPr>
          <a:xfrm>
            <a:off x="4800600" y="5577840"/>
            <a:ext cx="256032" cy="256032"/>
          </a:xfrm>
          <a:prstGeom prst="roundRect">
            <a:avLst>
              <a:gd name="adj" fmla="val 10714"/>
            </a:avLst>
          </a:prstGeom>
          <a:solidFill>
            <a:srgbClr val="A7DDB4"/>
          </a:solidFill>
          <a:ln w="12700">
            <a:solidFill>
              <a:srgbClr val="A7DDB4"/>
            </a:solidFill>
            <a:prstDash val="solid"/>
          </a:ln>
        </p:spPr>
      </p:sp>
      <p:sp>
        <p:nvSpPr>
          <p:cNvPr id="44" name="grid"/>
          <p:cNvSpPr/>
          <p:nvPr/>
        </p:nvSpPr>
        <p:spPr>
          <a:xfrm>
            <a:off x="4800600" y="5897880"/>
            <a:ext cx="256032" cy="256032"/>
          </a:xfrm>
          <a:prstGeom prst="roundRect">
            <a:avLst>
              <a:gd name="adj" fmla="val 10714"/>
            </a:avLst>
          </a:prstGeom>
          <a:solidFill>
            <a:srgbClr val="5FBF77"/>
          </a:solidFill>
          <a:ln w="12700">
            <a:solidFill>
              <a:srgbClr val="5FBF77"/>
            </a:solidFill>
            <a:prstDash val="solid"/>
          </a:ln>
        </p:spPr>
      </p:sp>
      <p:sp>
        <p:nvSpPr>
          <p:cNvPr id="45" name="grid"/>
          <p:cNvSpPr/>
          <p:nvPr/>
        </p:nvSpPr>
        <p:spPr>
          <a:xfrm>
            <a:off x="5120640" y="5577840"/>
            <a:ext cx="256032" cy="256032"/>
          </a:xfrm>
          <a:prstGeom prst="roundRect">
            <a:avLst>
              <a:gd name="adj" fmla="val 10714"/>
            </a:avLst>
          </a:prstGeom>
          <a:solidFill>
            <a:srgbClr val="E3F4E8"/>
          </a:solidFill>
          <a:ln w="12700">
            <a:solidFill>
              <a:srgbClr val="E3F4E8"/>
            </a:solidFill>
            <a:prstDash val="solid"/>
          </a:ln>
        </p:spPr>
      </p:sp>
      <p:sp>
        <p:nvSpPr>
          <p:cNvPr id="46" name="grid"/>
          <p:cNvSpPr/>
          <p:nvPr/>
        </p:nvSpPr>
        <p:spPr>
          <a:xfrm>
            <a:off x="5120640" y="5897880"/>
            <a:ext cx="256032" cy="256032"/>
          </a:xfrm>
          <a:prstGeom prst="roundRect">
            <a:avLst>
              <a:gd name="adj" fmla="val 10714"/>
            </a:avLst>
          </a:prstGeom>
          <a:solidFill>
            <a:srgbClr val="5FBF77"/>
          </a:solidFill>
          <a:ln w="12700">
            <a:solidFill>
              <a:srgbClr val="5FBF77"/>
            </a:solidFill>
            <a:prstDash val="solid"/>
          </a:ln>
        </p:spPr>
      </p:sp>
      <p:sp>
        <p:nvSpPr>
          <p:cNvPr id="47" name="grid"/>
          <p:cNvSpPr/>
          <p:nvPr/>
        </p:nvSpPr>
        <p:spPr>
          <a:xfrm>
            <a:off x="5440680" y="5577840"/>
            <a:ext cx="256032" cy="256032"/>
          </a:xfrm>
          <a:prstGeom prst="roundRect">
            <a:avLst>
              <a:gd name="adj" fmla="val 10714"/>
            </a:avLst>
          </a:prstGeom>
          <a:solidFill>
            <a:srgbClr val="5FBF77"/>
          </a:solidFill>
          <a:ln w="12700">
            <a:solidFill>
              <a:srgbClr val="5FBF77"/>
            </a:solidFill>
            <a:prstDash val="solid"/>
          </a:ln>
        </p:spPr>
      </p:sp>
      <p:sp>
        <p:nvSpPr>
          <p:cNvPr id="48" name="grid"/>
          <p:cNvSpPr/>
          <p:nvPr/>
        </p:nvSpPr>
        <p:spPr>
          <a:xfrm>
            <a:off x="5440680" y="5897880"/>
            <a:ext cx="256032" cy="256032"/>
          </a:xfrm>
          <a:prstGeom prst="roundRect">
            <a:avLst>
              <a:gd name="adj" fmla="val 10714"/>
            </a:avLst>
          </a:prstGeom>
          <a:solidFill>
            <a:srgbClr val="5FBF77"/>
          </a:solidFill>
          <a:ln w="12700">
            <a:solidFill>
              <a:srgbClr val="5FBF77"/>
            </a:solidFill>
            <a:prstDash val="solid"/>
          </a:ln>
        </p:spPr>
      </p:sp>
      <p:sp>
        <p:nvSpPr>
          <p:cNvPr id="49" name="grid"/>
          <p:cNvSpPr/>
          <p:nvPr/>
        </p:nvSpPr>
        <p:spPr>
          <a:xfrm>
            <a:off x="5760720" y="5577840"/>
            <a:ext cx="256032" cy="256032"/>
          </a:xfrm>
          <a:prstGeom prst="roundRect">
            <a:avLst>
              <a:gd name="adj" fmla="val 10714"/>
            </a:avLst>
          </a:prstGeom>
          <a:solidFill>
            <a:srgbClr val="A7DDB4"/>
          </a:solidFill>
          <a:ln w="12700">
            <a:solidFill>
              <a:srgbClr val="A7DDB4"/>
            </a:solidFill>
            <a:prstDash val="solid"/>
          </a:ln>
        </p:spPr>
      </p:sp>
      <p:sp>
        <p:nvSpPr>
          <p:cNvPr id="50" name="grid"/>
          <p:cNvSpPr/>
          <p:nvPr/>
        </p:nvSpPr>
        <p:spPr>
          <a:xfrm>
            <a:off x="5760720" y="5897880"/>
            <a:ext cx="256032" cy="256032"/>
          </a:xfrm>
          <a:prstGeom prst="roundRect">
            <a:avLst>
              <a:gd name="adj" fmla="val 10714"/>
            </a:avLst>
          </a:prstGeom>
          <a:solidFill>
            <a:srgbClr val="5FBF77"/>
          </a:solidFill>
          <a:ln w="12700">
            <a:solidFill>
              <a:srgbClr val="5FBF77"/>
            </a:solidFill>
            <a:prstDash val="solid"/>
          </a:ln>
        </p:spPr>
      </p:sp>
      <p:sp>
        <p:nvSpPr>
          <p:cNvPr id="51" name="grid"/>
          <p:cNvSpPr/>
          <p:nvPr/>
        </p:nvSpPr>
        <p:spPr>
          <a:xfrm>
            <a:off x="6080760" y="5577840"/>
            <a:ext cx="256032" cy="256032"/>
          </a:xfrm>
          <a:prstGeom prst="roundRect">
            <a:avLst>
              <a:gd name="adj" fmla="val 10714"/>
            </a:avLst>
          </a:prstGeom>
          <a:solidFill>
            <a:srgbClr val="E3F4E8"/>
          </a:solidFill>
          <a:ln w="12700">
            <a:solidFill>
              <a:srgbClr val="E3F4E8"/>
            </a:solidFill>
            <a:prstDash val="solid"/>
          </a:ln>
        </p:spPr>
      </p:sp>
      <p:sp>
        <p:nvSpPr>
          <p:cNvPr id="52" name="grid"/>
          <p:cNvSpPr/>
          <p:nvPr/>
        </p:nvSpPr>
        <p:spPr>
          <a:xfrm>
            <a:off x="6080760" y="5897880"/>
            <a:ext cx="256032" cy="256032"/>
          </a:xfrm>
          <a:prstGeom prst="roundRect">
            <a:avLst>
              <a:gd name="adj" fmla="val 10714"/>
            </a:avLst>
          </a:prstGeom>
          <a:solidFill>
            <a:srgbClr val="A7DDB4"/>
          </a:solidFill>
          <a:ln w="12700">
            <a:solidFill>
              <a:srgbClr val="A7DDB4"/>
            </a:solidFill>
            <a:prstDash val="solid"/>
          </a:ln>
        </p:spPr>
      </p:sp>
      <p:sp>
        <p:nvSpPr>
          <p:cNvPr id="53" name="grid"/>
          <p:cNvSpPr/>
          <p:nvPr/>
        </p:nvSpPr>
        <p:spPr>
          <a:xfrm>
            <a:off x="6400800" y="5577840"/>
            <a:ext cx="256032" cy="256032"/>
          </a:xfrm>
          <a:prstGeom prst="roundRect">
            <a:avLst>
              <a:gd name="adj" fmla="val 10714"/>
            </a:avLst>
          </a:prstGeom>
          <a:solidFill>
            <a:srgbClr val="A7DDB4"/>
          </a:solidFill>
          <a:ln w="12700">
            <a:solidFill>
              <a:srgbClr val="A7DDB4"/>
            </a:solidFill>
            <a:prstDash val="solid"/>
          </a:ln>
        </p:spPr>
      </p:sp>
      <p:sp>
        <p:nvSpPr>
          <p:cNvPr id="54" name="grid"/>
          <p:cNvSpPr/>
          <p:nvPr/>
        </p:nvSpPr>
        <p:spPr>
          <a:xfrm>
            <a:off x="6400800" y="5897880"/>
            <a:ext cx="256032" cy="256032"/>
          </a:xfrm>
          <a:prstGeom prst="roundRect">
            <a:avLst>
              <a:gd name="adj" fmla="val 10714"/>
            </a:avLst>
          </a:prstGeom>
          <a:solidFill>
            <a:srgbClr val="E3F4E8"/>
          </a:solidFill>
          <a:ln w="12700">
            <a:solidFill>
              <a:srgbClr val="E3F4E8"/>
            </a:solidFill>
            <a:prstDash val="solid"/>
          </a:ln>
        </p:spPr>
      </p:sp>
      <p:sp>
        <p:nvSpPr>
          <p:cNvPr id="55" name="grid"/>
          <p:cNvSpPr/>
          <p:nvPr/>
        </p:nvSpPr>
        <p:spPr>
          <a:xfrm>
            <a:off x="6720840" y="5577840"/>
            <a:ext cx="256032" cy="256032"/>
          </a:xfrm>
          <a:prstGeom prst="roundRect">
            <a:avLst>
              <a:gd name="adj" fmla="val 10714"/>
            </a:avLst>
          </a:prstGeom>
          <a:solidFill>
            <a:srgbClr val="5FBF77"/>
          </a:solidFill>
          <a:ln w="12700">
            <a:solidFill>
              <a:srgbClr val="5FBF77"/>
            </a:solidFill>
            <a:prstDash val="solid"/>
          </a:ln>
        </p:spPr>
      </p:sp>
      <p:sp>
        <p:nvSpPr>
          <p:cNvPr id="56" name="grid"/>
          <p:cNvSpPr/>
          <p:nvPr/>
        </p:nvSpPr>
        <p:spPr>
          <a:xfrm>
            <a:off x="6720840" y="5897880"/>
            <a:ext cx="256032" cy="256032"/>
          </a:xfrm>
          <a:prstGeom prst="roundRect">
            <a:avLst>
              <a:gd name="adj" fmla="val 10714"/>
            </a:avLst>
          </a:prstGeom>
          <a:solidFill>
            <a:srgbClr val="E3F4E8"/>
          </a:solidFill>
          <a:ln w="12700">
            <a:solidFill>
              <a:srgbClr val="E3F4E8"/>
            </a:solidFill>
            <a:prstDash val="solid"/>
          </a:ln>
        </p:spPr>
      </p:sp>
      <p:sp>
        <p:nvSpPr>
          <p:cNvPr id="57" name="grid"/>
          <p:cNvSpPr/>
          <p:nvPr/>
        </p:nvSpPr>
        <p:spPr>
          <a:xfrm>
            <a:off x="7040880" y="5577840"/>
            <a:ext cx="256032" cy="256032"/>
          </a:xfrm>
          <a:prstGeom prst="roundRect">
            <a:avLst>
              <a:gd name="adj" fmla="val 10714"/>
            </a:avLst>
          </a:prstGeom>
          <a:solidFill>
            <a:srgbClr val="1E7A38"/>
          </a:solidFill>
          <a:ln w="12700">
            <a:solidFill>
              <a:srgbClr val="1E7A38"/>
            </a:solidFill>
            <a:prstDash val="solid"/>
          </a:ln>
        </p:spPr>
      </p:sp>
      <p:sp>
        <p:nvSpPr>
          <p:cNvPr id="58" name="grid"/>
          <p:cNvSpPr/>
          <p:nvPr/>
        </p:nvSpPr>
        <p:spPr>
          <a:xfrm>
            <a:off x="7040880" y="5897880"/>
            <a:ext cx="256032" cy="256032"/>
          </a:xfrm>
          <a:prstGeom prst="roundRect">
            <a:avLst>
              <a:gd name="adj" fmla="val 10714"/>
            </a:avLst>
          </a:prstGeom>
          <a:solidFill>
            <a:srgbClr val="1E7A38"/>
          </a:solidFill>
          <a:ln w="12700">
            <a:solidFill>
              <a:srgbClr val="1E7A38"/>
            </a:solidFill>
            <a:prstDash val="solid"/>
          </a:ln>
        </p:spPr>
      </p:sp>
      <p:sp>
        <p:nvSpPr>
          <p:cNvPr id="59" name="grid"/>
          <p:cNvSpPr/>
          <p:nvPr/>
        </p:nvSpPr>
        <p:spPr>
          <a:xfrm>
            <a:off x="7360920" y="5577840"/>
            <a:ext cx="256032" cy="256032"/>
          </a:xfrm>
          <a:prstGeom prst="roundRect">
            <a:avLst>
              <a:gd name="adj" fmla="val 10714"/>
            </a:avLst>
          </a:prstGeom>
          <a:solidFill>
            <a:srgbClr val="5FBF77"/>
          </a:solidFill>
          <a:ln w="12700">
            <a:solidFill>
              <a:srgbClr val="5FBF77"/>
            </a:solidFill>
            <a:prstDash val="solid"/>
          </a:ln>
        </p:spPr>
      </p:sp>
      <p:sp>
        <p:nvSpPr>
          <p:cNvPr id="60" name="grid"/>
          <p:cNvSpPr/>
          <p:nvPr/>
        </p:nvSpPr>
        <p:spPr>
          <a:xfrm>
            <a:off x="7360920" y="5897880"/>
            <a:ext cx="256032" cy="256032"/>
          </a:xfrm>
          <a:prstGeom prst="roundRect">
            <a:avLst>
              <a:gd name="adj" fmla="val 10714"/>
            </a:avLst>
          </a:prstGeom>
          <a:solidFill>
            <a:srgbClr val="E3F4E8"/>
          </a:solidFill>
          <a:ln w="12700">
            <a:solidFill>
              <a:srgbClr val="E3F4E8"/>
            </a:solidFill>
            <a:prstDash val="solid"/>
          </a:ln>
        </p:spPr>
      </p:sp>
      <p:sp>
        <p:nvSpPr>
          <p:cNvPr id="61" name="grid"/>
          <p:cNvSpPr/>
          <p:nvPr/>
        </p:nvSpPr>
        <p:spPr>
          <a:xfrm>
            <a:off x="7680960" y="5577840"/>
            <a:ext cx="256032" cy="256032"/>
          </a:xfrm>
          <a:prstGeom prst="roundRect">
            <a:avLst>
              <a:gd name="adj" fmla="val 10714"/>
            </a:avLst>
          </a:prstGeom>
          <a:solidFill>
            <a:srgbClr val="E3F4E8"/>
          </a:solidFill>
          <a:ln w="12700">
            <a:solidFill>
              <a:srgbClr val="E3F4E8"/>
            </a:solidFill>
            <a:prstDash val="solid"/>
          </a:ln>
        </p:spPr>
      </p:sp>
      <p:sp>
        <p:nvSpPr>
          <p:cNvPr id="62" name="grid"/>
          <p:cNvSpPr/>
          <p:nvPr/>
        </p:nvSpPr>
        <p:spPr>
          <a:xfrm>
            <a:off x="7680960" y="5897880"/>
            <a:ext cx="256032" cy="256032"/>
          </a:xfrm>
          <a:prstGeom prst="roundRect">
            <a:avLst>
              <a:gd name="adj" fmla="val 10714"/>
            </a:avLst>
          </a:prstGeom>
          <a:solidFill>
            <a:srgbClr val="1E7A38"/>
          </a:solidFill>
          <a:ln w="12700">
            <a:solidFill>
              <a:srgbClr val="1E7A38"/>
            </a:solidFill>
            <a:prstDash val="solid"/>
          </a:ln>
        </p:spPr>
      </p:sp>
      <p:sp>
        <p:nvSpPr>
          <p:cNvPr id="63" name="grid"/>
          <p:cNvSpPr/>
          <p:nvPr/>
        </p:nvSpPr>
        <p:spPr>
          <a:xfrm>
            <a:off x="8001000" y="5577840"/>
            <a:ext cx="256032" cy="256032"/>
          </a:xfrm>
          <a:prstGeom prst="roundRect">
            <a:avLst>
              <a:gd name="adj" fmla="val 10714"/>
            </a:avLst>
          </a:prstGeom>
          <a:solidFill>
            <a:srgbClr val="E3F4E8"/>
          </a:solidFill>
          <a:ln w="12700">
            <a:solidFill>
              <a:srgbClr val="E3F4E8"/>
            </a:solidFill>
            <a:prstDash val="solid"/>
          </a:ln>
        </p:spPr>
      </p:sp>
      <p:sp>
        <p:nvSpPr>
          <p:cNvPr id="64" name="grid"/>
          <p:cNvSpPr/>
          <p:nvPr/>
        </p:nvSpPr>
        <p:spPr>
          <a:xfrm>
            <a:off x="8001000" y="5897880"/>
            <a:ext cx="256032" cy="256032"/>
          </a:xfrm>
          <a:prstGeom prst="roundRect">
            <a:avLst>
              <a:gd name="adj" fmla="val 10714"/>
            </a:avLst>
          </a:prstGeom>
          <a:solidFill>
            <a:srgbClr val="2DA44E"/>
          </a:solidFill>
          <a:ln w="12700">
            <a:solidFill>
              <a:srgbClr val="2DA44E"/>
            </a:solidFill>
            <a:prstDash val="solid"/>
          </a:ln>
        </p:spPr>
      </p:sp>
      <p:sp>
        <p:nvSpPr>
          <p:cNvPr id="65" name="grid"/>
          <p:cNvSpPr/>
          <p:nvPr/>
        </p:nvSpPr>
        <p:spPr>
          <a:xfrm>
            <a:off x="8321040" y="5577840"/>
            <a:ext cx="256032" cy="256032"/>
          </a:xfrm>
          <a:prstGeom prst="roundRect">
            <a:avLst>
              <a:gd name="adj" fmla="val 10714"/>
            </a:avLst>
          </a:prstGeom>
          <a:solidFill>
            <a:srgbClr val="5FBF77"/>
          </a:solidFill>
          <a:ln w="12700">
            <a:solidFill>
              <a:srgbClr val="5FBF77"/>
            </a:solidFill>
            <a:prstDash val="solid"/>
          </a:ln>
        </p:spPr>
      </p:sp>
      <p:sp>
        <p:nvSpPr>
          <p:cNvPr id="66" name="grid"/>
          <p:cNvSpPr/>
          <p:nvPr/>
        </p:nvSpPr>
        <p:spPr>
          <a:xfrm>
            <a:off x="8321040" y="5897880"/>
            <a:ext cx="256032" cy="256032"/>
          </a:xfrm>
          <a:prstGeom prst="roundRect">
            <a:avLst>
              <a:gd name="adj" fmla="val 10714"/>
            </a:avLst>
          </a:prstGeom>
          <a:solidFill>
            <a:srgbClr val="A7DDB4"/>
          </a:solidFill>
          <a:ln w="12700">
            <a:solidFill>
              <a:srgbClr val="A7DDB4"/>
            </a:solidFill>
            <a:prstDash val="solid"/>
          </a:ln>
        </p:spPr>
      </p:sp>
      <p:sp>
        <p:nvSpPr>
          <p:cNvPr id="67" name="grid"/>
          <p:cNvSpPr/>
          <p:nvPr/>
        </p:nvSpPr>
        <p:spPr>
          <a:xfrm>
            <a:off x="8641080" y="5577840"/>
            <a:ext cx="256032" cy="256032"/>
          </a:xfrm>
          <a:prstGeom prst="roundRect">
            <a:avLst>
              <a:gd name="adj" fmla="val 10714"/>
            </a:avLst>
          </a:prstGeom>
          <a:solidFill>
            <a:srgbClr val="2DA44E"/>
          </a:solidFill>
          <a:ln w="12700">
            <a:solidFill>
              <a:srgbClr val="2DA44E"/>
            </a:solidFill>
            <a:prstDash val="solid"/>
          </a:ln>
        </p:spPr>
      </p:sp>
      <p:sp>
        <p:nvSpPr>
          <p:cNvPr id="68" name="grid"/>
          <p:cNvSpPr/>
          <p:nvPr/>
        </p:nvSpPr>
        <p:spPr>
          <a:xfrm>
            <a:off x="8641080" y="5897880"/>
            <a:ext cx="256032" cy="256032"/>
          </a:xfrm>
          <a:prstGeom prst="roundRect">
            <a:avLst>
              <a:gd name="adj" fmla="val 10714"/>
            </a:avLst>
          </a:prstGeom>
          <a:solidFill>
            <a:srgbClr val="E3F4E8"/>
          </a:solidFill>
          <a:ln w="12700">
            <a:solidFill>
              <a:srgbClr val="E3F4E8"/>
            </a:solidFill>
            <a:prstDash val="solid"/>
          </a:ln>
        </p:spPr>
      </p:sp>
      <p:sp>
        <p:nvSpPr>
          <p:cNvPr id="69" name="grid"/>
          <p:cNvSpPr/>
          <p:nvPr/>
        </p:nvSpPr>
        <p:spPr>
          <a:xfrm>
            <a:off x="8961120" y="5577840"/>
            <a:ext cx="256032" cy="256032"/>
          </a:xfrm>
          <a:prstGeom prst="roundRect">
            <a:avLst>
              <a:gd name="adj" fmla="val 10714"/>
            </a:avLst>
          </a:prstGeom>
          <a:solidFill>
            <a:srgbClr val="E3F4E8"/>
          </a:solidFill>
          <a:ln w="12700">
            <a:solidFill>
              <a:srgbClr val="E3F4E8"/>
            </a:solidFill>
            <a:prstDash val="solid"/>
          </a:ln>
        </p:spPr>
      </p:sp>
      <p:sp>
        <p:nvSpPr>
          <p:cNvPr id="70" name="grid"/>
          <p:cNvSpPr/>
          <p:nvPr/>
        </p:nvSpPr>
        <p:spPr>
          <a:xfrm>
            <a:off x="8961120" y="5897880"/>
            <a:ext cx="256032" cy="256032"/>
          </a:xfrm>
          <a:prstGeom prst="roundRect">
            <a:avLst>
              <a:gd name="adj" fmla="val 10714"/>
            </a:avLst>
          </a:prstGeom>
          <a:solidFill>
            <a:srgbClr val="1E7A38"/>
          </a:solidFill>
          <a:ln w="12700">
            <a:solidFill>
              <a:srgbClr val="1E7A38"/>
            </a:solidFill>
            <a:prstDash val="solid"/>
          </a:ln>
        </p:spPr>
      </p:sp>
      <p:sp>
        <p:nvSpPr>
          <p:cNvPr id="71" name="grid"/>
          <p:cNvSpPr/>
          <p:nvPr/>
        </p:nvSpPr>
        <p:spPr>
          <a:xfrm>
            <a:off x="9281160" y="5577840"/>
            <a:ext cx="256032" cy="256032"/>
          </a:xfrm>
          <a:prstGeom prst="roundRect">
            <a:avLst>
              <a:gd name="adj" fmla="val 10714"/>
            </a:avLst>
          </a:prstGeom>
          <a:solidFill>
            <a:srgbClr val="2DA44E"/>
          </a:solidFill>
          <a:ln w="12700">
            <a:solidFill>
              <a:srgbClr val="2DA44E"/>
            </a:solidFill>
            <a:prstDash val="solid"/>
          </a:ln>
        </p:spPr>
      </p:sp>
      <p:sp>
        <p:nvSpPr>
          <p:cNvPr id="72" name="grid"/>
          <p:cNvSpPr/>
          <p:nvPr/>
        </p:nvSpPr>
        <p:spPr>
          <a:xfrm>
            <a:off x="9281160" y="5897880"/>
            <a:ext cx="256032" cy="256032"/>
          </a:xfrm>
          <a:prstGeom prst="roundRect">
            <a:avLst>
              <a:gd name="adj" fmla="val 10714"/>
            </a:avLst>
          </a:prstGeom>
          <a:solidFill>
            <a:srgbClr val="1E7A38"/>
          </a:solidFill>
          <a:ln w="12700">
            <a:solidFill>
              <a:srgbClr val="1E7A38"/>
            </a:solidFill>
            <a:prstDash val="solid"/>
          </a:ln>
        </p:spPr>
      </p:sp>
      <p:sp>
        <p:nvSpPr>
          <p:cNvPr id="73" name="grid"/>
          <p:cNvSpPr/>
          <p:nvPr/>
        </p:nvSpPr>
        <p:spPr>
          <a:xfrm>
            <a:off x="9601200" y="5577840"/>
            <a:ext cx="256032" cy="256032"/>
          </a:xfrm>
          <a:prstGeom prst="roundRect">
            <a:avLst>
              <a:gd name="adj" fmla="val 10714"/>
            </a:avLst>
          </a:prstGeom>
          <a:solidFill>
            <a:srgbClr val="5FBF77"/>
          </a:solidFill>
          <a:ln w="12700">
            <a:solidFill>
              <a:srgbClr val="5FBF77"/>
            </a:solidFill>
            <a:prstDash val="solid"/>
          </a:ln>
        </p:spPr>
      </p:sp>
      <p:sp>
        <p:nvSpPr>
          <p:cNvPr id="74" name="grid"/>
          <p:cNvSpPr/>
          <p:nvPr/>
        </p:nvSpPr>
        <p:spPr>
          <a:xfrm>
            <a:off x="9601200" y="5897880"/>
            <a:ext cx="256032" cy="256032"/>
          </a:xfrm>
          <a:prstGeom prst="roundRect">
            <a:avLst>
              <a:gd name="adj" fmla="val 10714"/>
            </a:avLst>
          </a:prstGeom>
          <a:solidFill>
            <a:srgbClr val="1E7A38"/>
          </a:solidFill>
          <a:ln w="12700">
            <a:solidFill>
              <a:srgbClr val="1E7A38"/>
            </a:solidFill>
            <a:prstDash val="solid"/>
          </a:ln>
        </p:spPr>
      </p:sp>
      <p:sp>
        <p:nvSpPr>
          <p:cNvPr id="75" name="grid"/>
          <p:cNvSpPr/>
          <p:nvPr/>
        </p:nvSpPr>
        <p:spPr>
          <a:xfrm>
            <a:off x="9921240" y="5577840"/>
            <a:ext cx="256032" cy="256032"/>
          </a:xfrm>
          <a:prstGeom prst="roundRect">
            <a:avLst>
              <a:gd name="adj" fmla="val 10714"/>
            </a:avLst>
          </a:prstGeom>
          <a:solidFill>
            <a:srgbClr val="1E7A38"/>
          </a:solidFill>
          <a:ln w="12700">
            <a:solidFill>
              <a:srgbClr val="1E7A38"/>
            </a:solidFill>
            <a:prstDash val="solid"/>
          </a:ln>
        </p:spPr>
      </p:sp>
      <p:sp>
        <p:nvSpPr>
          <p:cNvPr id="76" name="grid"/>
          <p:cNvSpPr/>
          <p:nvPr/>
        </p:nvSpPr>
        <p:spPr>
          <a:xfrm>
            <a:off x="9921240" y="5897880"/>
            <a:ext cx="256032" cy="256032"/>
          </a:xfrm>
          <a:prstGeom prst="roundRect">
            <a:avLst>
              <a:gd name="adj" fmla="val 10714"/>
            </a:avLst>
          </a:prstGeom>
          <a:solidFill>
            <a:srgbClr val="E3F4E8"/>
          </a:solidFill>
          <a:ln w="12700">
            <a:solidFill>
              <a:srgbClr val="E3F4E8"/>
            </a:solidFill>
            <a:prstDash val="solid"/>
          </a:ln>
        </p:spPr>
      </p:sp>
      <p:sp>
        <p:nvSpPr>
          <p:cNvPr id="77" name="grid"/>
          <p:cNvSpPr/>
          <p:nvPr/>
        </p:nvSpPr>
        <p:spPr>
          <a:xfrm>
            <a:off x="10241280" y="5577840"/>
            <a:ext cx="256032" cy="256032"/>
          </a:xfrm>
          <a:prstGeom prst="roundRect">
            <a:avLst>
              <a:gd name="adj" fmla="val 10714"/>
            </a:avLst>
          </a:prstGeom>
          <a:solidFill>
            <a:srgbClr val="A7DDB4"/>
          </a:solidFill>
          <a:ln w="12700">
            <a:solidFill>
              <a:srgbClr val="A7DDB4"/>
            </a:solidFill>
            <a:prstDash val="solid"/>
          </a:ln>
        </p:spPr>
      </p:sp>
      <p:sp>
        <p:nvSpPr>
          <p:cNvPr id="78" name="grid"/>
          <p:cNvSpPr/>
          <p:nvPr/>
        </p:nvSpPr>
        <p:spPr>
          <a:xfrm>
            <a:off x="10241280" y="5897880"/>
            <a:ext cx="256032" cy="256032"/>
          </a:xfrm>
          <a:prstGeom prst="roundRect">
            <a:avLst>
              <a:gd name="adj" fmla="val 10714"/>
            </a:avLst>
          </a:prstGeom>
          <a:solidFill>
            <a:srgbClr val="1E7A38"/>
          </a:solidFill>
          <a:ln w="12700">
            <a:solidFill>
              <a:srgbClr val="1E7A38"/>
            </a:solidFill>
            <a:prstDash val="solid"/>
          </a:ln>
        </p:spPr>
      </p:sp>
      <p:sp>
        <p:nvSpPr>
          <p:cNvPr id="79" name="grid"/>
          <p:cNvSpPr/>
          <p:nvPr/>
        </p:nvSpPr>
        <p:spPr>
          <a:xfrm>
            <a:off x="10561320" y="5577840"/>
            <a:ext cx="256032" cy="256032"/>
          </a:xfrm>
          <a:prstGeom prst="roundRect">
            <a:avLst>
              <a:gd name="adj" fmla="val 10714"/>
            </a:avLst>
          </a:prstGeom>
          <a:solidFill>
            <a:srgbClr val="1E7A38"/>
          </a:solidFill>
          <a:ln w="12700">
            <a:solidFill>
              <a:srgbClr val="1E7A38"/>
            </a:solidFill>
            <a:prstDash val="solid"/>
          </a:ln>
        </p:spPr>
      </p:sp>
      <p:sp>
        <p:nvSpPr>
          <p:cNvPr id="80" name="grid"/>
          <p:cNvSpPr/>
          <p:nvPr/>
        </p:nvSpPr>
        <p:spPr>
          <a:xfrm>
            <a:off x="10561320" y="5897880"/>
            <a:ext cx="256032" cy="256032"/>
          </a:xfrm>
          <a:prstGeom prst="roundRect">
            <a:avLst>
              <a:gd name="adj" fmla="val 10714"/>
            </a:avLst>
          </a:prstGeom>
          <a:solidFill>
            <a:srgbClr val="1E7A38"/>
          </a:solidFill>
          <a:ln w="12700">
            <a:solidFill>
              <a:srgbClr val="1E7A38"/>
            </a:solidFill>
            <a:prstDash val="solid"/>
          </a:ln>
        </p:spPr>
      </p:sp>
      <p:sp>
        <p:nvSpPr>
          <p:cNvPr id="81" name="grid"/>
          <p:cNvSpPr/>
          <p:nvPr/>
        </p:nvSpPr>
        <p:spPr>
          <a:xfrm>
            <a:off x="10881360" y="5577840"/>
            <a:ext cx="256032" cy="256032"/>
          </a:xfrm>
          <a:prstGeom prst="roundRect">
            <a:avLst>
              <a:gd name="adj" fmla="val 10714"/>
            </a:avLst>
          </a:prstGeom>
          <a:solidFill>
            <a:srgbClr val="E3F4E8"/>
          </a:solidFill>
          <a:ln w="12700">
            <a:solidFill>
              <a:srgbClr val="E3F4E8"/>
            </a:solidFill>
            <a:prstDash val="solid"/>
          </a:ln>
        </p:spPr>
      </p:sp>
      <p:sp>
        <p:nvSpPr>
          <p:cNvPr id="82" name="grid"/>
          <p:cNvSpPr/>
          <p:nvPr/>
        </p:nvSpPr>
        <p:spPr>
          <a:xfrm>
            <a:off x="10881360" y="5897880"/>
            <a:ext cx="256032" cy="256032"/>
          </a:xfrm>
          <a:prstGeom prst="roundRect">
            <a:avLst>
              <a:gd name="adj" fmla="val 10714"/>
            </a:avLst>
          </a:prstGeom>
          <a:solidFill>
            <a:srgbClr val="5FBF77"/>
          </a:solidFill>
          <a:ln w="12700">
            <a:solidFill>
              <a:srgbClr val="5FBF77"/>
            </a:solidFill>
            <a:prstDash val="solid"/>
          </a:ln>
        </p:spPr>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grid"/>
          <p:cNvSpPr/>
          <p:nvPr/>
        </p:nvSpPr>
        <p:spPr>
          <a:xfrm>
            <a:off x="640080" y="640080"/>
            <a:ext cx="256032" cy="256032"/>
          </a:xfrm>
          <a:prstGeom prst="roundRect">
            <a:avLst>
              <a:gd name="adj" fmla="val 10714"/>
            </a:avLst>
          </a:prstGeom>
          <a:solidFill>
            <a:srgbClr val="E3F4E8"/>
          </a:solidFill>
          <a:ln w="12700">
            <a:solidFill>
              <a:srgbClr val="E3F4E8"/>
            </a:solidFill>
            <a:prstDash val="solid"/>
          </a:ln>
        </p:spPr>
      </p:sp>
      <p:sp>
        <p:nvSpPr>
          <p:cNvPr id="3" name="grid"/>
          <p:cNvSpPr/>
          <p:nvPr/>
        </p:nvSpPr>
        <p:spPr>
          <a:xfrm>
            <a:off x="640080" y="960120"/>
            <a:ext cx="256032" cy="256032"/>
          </a:xfrm>
          <a:prstGeom prst="roundRect">
            <a:avLst>
              <a:gd name="adj" fmla="val 10714"/>
            </a:avLst>
          </a:prstGeom>
          <a:solidFill>
            <a:srgbClr val="E3F4E8"/>
          </a:solidFill>
          <a:ln w="12700">
            <a:solidFill>
              <a:srgbClr val="E3F4E8"/>
            </a:solidFill>
            <a:prstDash val="solid"/>
          </a:ln>
        </p:spPr>
      </p:sp>
      <p:sp>
        <p:nvSpPr>
          <p:cNvPr id="4" name="grid"/>
          <p:cNvSpPr/>
          <p:nvPr/>
        </p:nvSpPr>
        <p:spPr>
          <a:xfrm>
            <a:off x="640080" y="1280160"/>
            <a:ext cx="256032" cy="256032"/>
          </a:xfrm>
          <a:prstGeom prst="roundRect">
            <a:avLst>
              <a:gd name="adj" fmla="val 10714"/>
            </a:avLst>
          </a:prstGeom>
          <a:solidFill>
            <a:srgbClr val="E3F4E8"/>
          </a:solidFill>
          <a:ln w="12700">
            <a:solidFill>
              <a:srgbClr val="E3F4E8"/>
            </a:solidFill>
            <a:prstDash val="solid"/>
          </a:ln>
        </p:spPr>
      </p:sp>
      <p:sp>
        <p:nvSpPr>
          <p:cNvPr id="5" name="grid"/>
          <p:cNvSpPr/>
          <p:nvPr/>
        </p:nvSpPr>
        <p:spPr>
          <a:xfrm>
            <a:off x="960120" y="640080"/>
            <a:ext cx="256032" cy="256032"/>
          </a:xfrm>
          <a:prstGeom prst="roundRect">
            <a:avLst>
              <a:gd name="adj" fmla="val 10714"/>
            </a:avLst>
          </a:prstGeom>
          <a:solidFill>
            <a:srgbClr val="E3F4E8"/>
          </a:solidFill>
          <a:ln w="12700">
            <a:solidFill>
              <a:srgbClr val="E3F4E8"/>
            </a:solidFill>
            <a:prstDash val="solid"/>
          </a:ln>
        </p:spPr>
      </p:sp>
      <p:sp>
        <p:nvSpPr>
          <p:cNvPr id="6" name="grid"/>
          <p:cNvSpPr/>
          <p:nvPr/>
        </p:nvSpPr>
        <p:spPr>
          <a:xfrm>
            <a:off x="960120" y="960120"/>
            <a:ext cx="256032" cy="256032"/>
          </a:xfrm>
          <a:prstGeom prst="roundRect">
            <a:avLst>
              <a:gd name="adj" fmla="val 10714"/>
            </a:avLst>
          </a:prstGeom>
          <a:solidFill>
            <a:srgbClr val="E3F4E8"/>
          </a:solidFill>
          <a:ln w="12700">
            <a:solidFill>
              <a:srgbClr val="E3F4E8"/>
            </a:solidFill>
            <a:prstDash val="solid"/>
          </a:ln>
        </p:spPr>
      </p:sp>
      <p:sp>
        <p:nvSpPr>
          <p:cNvPr id="7" name="grid"/>
          <p:cNvSpPr/>
          <p:nvPr/>
        </p:nvSpPr>
        <p:spPr>
          <a:xfrm>
            <a:off x="960120" y="1280160"/>
            <a:ext cx="256032" cy="256032"/>
          </a:xfrm>
          <a:prstGeom prst="roundRect">
            <a:avLst>
              <a:gd name="adj" fmla="val 10714"/>
            </a:avLst>
          </a:prstGeom>
          <a:solidFill>
            <a:srgbClr val="E3F4E8"/>
          </a:solidFill>
          <a:ln w="12700">
            <a:solidFill>
              <a:srgbClr val="E3F4E8"/>
            </a:solidFill>
            <a:prstDash val="solid"/>
          </a:ln>
        </p:spPr>
      </p:sp>
      <p:sp>
        <p:nvSpPr>
          <p:cNvPr id="8" name="grid"/>
          <p:cNvSpPr/>
          <p:nvPr/>
        </p:nvSpPr>
        <p:spPr>
          <a:xfrm>
            <a:off x="1280160" y="640080"/>
            <a:ext cx="256032" cy="256032"/>
          </a:xfrm>
          <a:prstGeom prst="roundRect">
            <a:avLst>
              <a:gd name="adj" fmla="val 10714"/>
            </a:avLst>
          </a:prstGeom>
          <a:solidFill>
            <a:srgbClr val="E3F4E8"/>
          </a:solidFill>
          <a:ln w="12700">
            <a:solidFill>
              <a:srgbClr val="E3F4E8"/>
            </a:solidFill>
            <a:prstDash val="solid"/>
          </a:ln>
        </p:spPr>
      </p:sp>
      <p:sp>
        <p:nvSpPr>
          <p:cNvPr id="9" name="grid"/>
          <p:cNvSpPr/>
          <p:nvPr/>
        </p:nvSpPr>
        <p:spPr>
          <a:xfrm>
            <a:off x="1280160" y="960120"/>
            <a:ext cx="256032" cy="256032"/>
          </a:xfrm>
          <a:prstGeom prst="roundRect">
            <a:avLst>
              <a:gd name="adj" fmla="val 10714"/>
            </a:avLst>
          </a:prstGeom>
          <a:solidFill>
            <a:srgbClr val="E3F4E8"/>
          </a:solidFill>
          <a:ln w="12700">
            <a:solidFill>
              <a:srgbClr val="E3F4E8"/>
            </a:solidFill>
            <a:prstDash val="solid"/>
          </a:ln>
        </p:spPr>
      </p:sp>
      <p:sp>
        <p:nvSpPr>
          <p:cNvPr id="10" name="grid"/>
          <p:cNvSpPr/>
          <p:nvPr/>
        </p:nvSpPr>
        <p:spPr>
          <a:xfrm>
            <a:off x="1280160" y="1280160"/>
            <a:ext cx="256032" cy="256032"/>
          </a:xfrm>
          <a:prstGeom prst="roundRect">
            <a:avLst>
              <a:gd name="adj" fmla="val 10714"/>
            </a:avLst>
          </a:prstGeom>
          <a:solidFill>
            <a:srgbClr val="E3F4E8"/>
          </a:solidFill>
          <a:ln w="12700">
            <a:solidFill>
              <a:srgbClr val="E3F4E8"/>
            </a:solidFill>
            <a:prstDash val="solid"/>
          </a:ln>
        </p:spPr>
      </p:sp>
      <p:sp>
        <p:nvSpPr>
          <p:cNvPr id="11" name="grid"/>
          <p:cNvSpPr/>
          <p:nvPr/>
        </p:nvSpPr>
        <p:spPr>
          <a:xfrm>
            <a:off x="1600200" y="640080"/>
            <a:ext cx="256032" cy="256032"/>
          </a:xfrm>
          <a:prstGeom prst="roundRect">
            <a:avLst>
              <a:gd name="adj" fmla="val 10714"/>
            </a:avLst>
          </a:prstGeom>
          <a:solidFill>
            <a:srgbClr val="E3F4E8"/>
          </a:solidFill>
          <a:ln w="12700">
            <a:solidFill>
              <a:srgbClr val="E3F4E8"/>
            </a:solidFill>
            <a:prstDash val="solid"/>
          </a:ln>
        </p:spPr>
      </p:sp>
      <p:sp>
        <p:nvSpPr>
          <p:cNvPr id="12" name="grid"/>
          <p:cNvSpPr/>
          <p:nvPr/>
        </p:nvSpPr>
        <p:spPr>
          <a:xfrm>
            <a:off x="1600200" y="960120"/>
            <a:ext cx="256032" cy="256032"/>
          </a:xfrm>
          <a:prstGeom prst="roundRect">
            <a:avLst>
              <a:gd name="adj" fmla="val 10714"/>
            </a:avLst>
          </a:prstGeom>
          <a:solidFill>
            <a:srgbClr val="E3F4E8"/>
          </a:solidFill>
          <a:ln w="12700">
            <a:solidFill>
              <a:srgbClr val="E3F4E8"/>
            </a:solidFill>
            <a:prstDash val="solid"/>
          </a:ln>
        </p:spPr>
      </p:sp>
      <p:sp>
        <p:nvSpPr>
          <p:cNvPr id="13" name="grid"/>
          <p:cNvSpPr/>
          <p:nvPr/>
        </p:nvSpPr>
        <p:spPr>
          <a:xfrm>
            <a:off x="1600200" y="1280160"/>
            <a:ext cx="256032" cy="256032"/>
          </a:xfrm>
          <a:prstGeom prst="roundRect">
            <a:avLst>
              <a:gd name="adj" fmla="val 10714"/>
            </a:avLst>
          </a:prstGeom>
          <a:solidFill>
            <a:srgbClr val="A7DDB4"/>
          </a:solidFill>
          <a:ln w="12700">
            <a:solidFill>
              <a:srgbClr val="A7DDB4"/>
            </a:solidFill>
            <a:prstDash val="solid"/>
          </a:ln>
        </p:spPr>
      </p:sp>
      <p:sp>
        <p:nvSpPr>
          <p:cNvPr id="14" name="grid"/>
          <p:cNvSpPr/>
          <p:nvPr/>
        </p:nvSpPr>
        <p:spPr>
          <a:xfrm>
            <a:off x="1920240" y="640080"/>
            <a:ext cx="256032" cy="256032"/>
          </a:xfrm>
          <a:prstGeom prst="roundRect">
            <a:avLst>
              <a:gd name="adj" fmla="val 10714"/>
            </a:avLst>
          </a:prstGeom>
          <a:solidFill>
            <a:srgbClr val="A7DDB4"/>
          </a:solidFill>
          <a:ln w="12700">
            <a:solidFill>
              <a:srgbClr val="A7DDB4"/>
            </a:solidFill>
            <a:prstDash val="solid"/>
          </a:ln>
        </p:spPr>
      </p:sp>
      <p:sp>
        <p:nvSpPr>
          <p:cNvPr id="15" name="grid"/>
          <p:cNvSpPr/>
          <p:nvPr/>
        </p:nvSpPr>
        <p:spPr>
          <a:xfrm>
            <a:off x="1920240" y="960120"/>
            <a:ext cx="256032" cy="256032"/>
          </a:xfrm>
          <a:prstGeom prst="roundRect">
            <a:avLst>
              <a:gd name="adj" fmla="val 10714"/>
            </a:avLst>
          </a:prstGeom>
          <a:solidFill>
            <a:srgbClr val="E3F4E8"/>
          </a:solidFill>
          <a:ln w="12700">
            <a:solidFill>
              <a:srgbClr val="E3F4E8"/>
            </a:solidFill>
            <a:prstDash val="solid"/>
          </a:ln>
        </p:spPr>
      </p:sp>
      <p:sp>
        <p:nvSpPr>
          <p:cNvPr id="16" name="grid"/>
          <p:cNvSpPr/>
          <p:nvPr/>
        </p:nvSpPr>
        <p:spPr>
          <a:xfrm>
            <a:off x="1920240" y="1280160"/>
            <a:ext cx="256032" cy="256032"/>
          </a:xfrm>
          <a:prstGeom prst="roundRect">
            <a:avLst>
              <a:gd name="adj" fmla="val 10714"/>
            </a:avLst>
          </a:prstGeom>
          <a:solidFill>
            <a:srgbClr val="E3F4E8"/>
          </a:solidFill>
          <a:ln w="12700">
            <a:solidFill>
              <a:srgbClr val="E3F4E8"/>
            </a:solidFill>
            <a:prstDash val="solid"/>
          </a:ln>
        </p:spPr>
      </p:sp>
      <p:sp>
        <p:nvSpPr>
          <p:cNvPr id="17" name="grid"/>
          <p:cNvSpPr/>
          <p:nvPr/>
        </p:nvSpPr>
        <p:spPr>
          <a:xfrm>
            <a:off x="2240280" y="640080"/>
            <a:ext cx="256032" cy="256032"/>
          </a:xfrm>
          <a:prstGeom prst="roundRect">
            <a:avLst>
              <a:gd name="adj" fmla="val 10714"/>
            </a:avLst>
          </a:prstGeom>
          <a:solidFill>
            <a:srgbClr val="E3F4E8"/>
          </a:solidFill>
          <a:ln w="12700">
            <a:solidFill>
              <a:srgbClr val="E3F4E8"/>
            </a:solidFill>
            <a:prstDash val="solid"/>
          </a:ln>
        </p:spPr>
      </p:sp>
      <p:sp>
        <p:nvSpPr>
          <p:cNvPr id="18" name="grid"/>
          <p:cNvSpPr/>
          <p:nvPr/>
        </p:nvSpPr>
        <p:spPr>
          <a:xfrm>
            <a:off x="2240280" y="960120"/>
            <a:ext cx="256032" cy="256032"/>
          </a:xfrm>
          <a:prstGeom prst="roundRect">
            <a:avLst>
              <a:gd name="adj" fmla="val 10714"/>
            </a:avLst>
          </a:prstGeom>
          <a:solidFill>
            <a:srgbClr val="E3F4E8"/>
          </a:solidFill>
          <a:ln w="12700">
            <a:solidFill>
              <a:srgbClr val="E3F4E8"/>
            </a:solidFill>
            <a:prstDash val="solid"/>
          </a:ln>
        </p:spPr>
      </p:sp>
      <p:sp>
        <p:nvSpPr>
          <p:cNvPr id="19" name="grid"/>
          <p:cNvSpPr/>
          <p:nvPr/>
        </p:nvSpPr>
        <p:spPr>
          <a:xfrm>
            <a:off x="2240280" y="1280160"/>
            <a:ext cx="256032" cy="256032"/>
          </a:xfrm>
          <a:prstGeom prst="roundRect">
            <a:avLst>
              <a:gd name="adj" fmla="val 10714"/>
            </a:avLst>
          </a:prstGeom>
          <a:solidFill>
            <a:srgbClr val="E3F4E8"/>
          </a:solidFill>
          <a:ln w="12700">
            <a:solidFill>
              <a:srgbClr val="E3F4E8"/>
            </a:solidFill>
            <a:prstDash val="solid"/>
          </a:ln>
        </p:spPr>
      </p:sp>
      <p:sp>
        <p:nvSpPr>
          <p:cNvPr id="20" name="grid"/>
          <p:cNvSpPr/>
          <p:nvPr/>
        </p:nvSpPr>
        <p:spPr>
          <a:xfrm>
            <a:off x="2560320" y="640080"/>
            <a:ext cx="256032" cy="256032"/>
          </a:xfrm>
          <a:prstGeom prst="roundRect">
            <a:avLst>
              <a:gd name="adj" fmla="val 10714"/>
            </a:avLst>
          </a:prstGeom>
          <a:solidFill>
            <a:srgbClr val="E3F4E8"/>
          </a:solidFill>
          <a:ln w="12700">
            <a:solidFill>
              <a:srgbClr val="E3F4E8"/>
            </a:solidFill>
            <a:prstDash val="solid"/>
          </a:ln>
        </p:spPr>
      </p:sp>
      <p:sp>
        <p:nvSpPr>
          <p:cNvPr id="21" name="grid"/>
          <p:cNvSpPr/>
          <p:nvPr/>
        </p:nvSpPr>
        <p:spPr>
          <a:xfrm>
            <a:off x="2560320" y="960120"/>
            <a:ext cx="256032" cy="256032"/>
          </a:xfrm>
          <a:prstGeom prst="roundRect">
            <a:avLst>
              <a:gd name="adj" fmla="val 10714"/>
            </a:avLst>
          </a:prstGeom>
          <a:solidFill>
            <a:srgbClr val="A7DDB4"/>
          </a:solidFill>
          <a:ln w="12700">
            <a:solidFill>
              <a:srgbClr val="A7DDB4"/>
            </a:solidFill>
            <a:prstDash val="solid"/>
          </a:ln>
        </p:spPr>
      </p:sp>
      <p:sp>
        <p:nvSpPr>
          <p:cNvPr id="22" name="grid"/>
          <p:cNvSpPr/>
          <p:nvPr/>
        </p:nvSpPr>
        <p:spPr>
          <a:xfrm>
            <a:off x="2560320" y="1280160"/>
            <a:ext cx="256032" cy="256032"/>
          </a:xfrm>
          <a:prstGeom prst="roundRect">
            <a:avLst>
              <a:gd name="adj" fmla="val 10714"/>
            </a:avLst>
          </a:prstGeom>
          <a:solidFill>
            <a:srgbClr val="E3F4E8"/>
          </a:solidFill>
          <a:ln w="12700">
            <a:solidFill>
              <a:srgbClr val="E3F4E8"/>
            </a:solidFill>
            <a:prstDash val="solid"/>
          </a:ln>
        </p:spPr>
      </p:sp>
      <p:sp>
        <p:nvSpPr>
          <p:cNvPr id="23" name="grid"/>
          <p:cNvSpPr/>
          <p:nvPr/>
        </p:nvSpPr>
        <p:spPr>
          <a:xfrm>
            <a:off x="2880360" y="640080"/>
            <a:ext cx="256032" cy="256032"/>
          </a:xfrm>
          <a:prstGeom prst="roundRect">
            <a:avLst>
              <a:gd name="adj" fmla="val 10714"/>
            </a:avLst>
          </a:prstGeom>
          <a:solidFill>
            <a:srgbClr val="A7DDB4"/>
          </a:solidFill>
          <a:ln w="12700">
            <a:solidFill>
              <a:srgbClr val="A7DDB4"/>
            </a:solidFill>
            <a:prstDash val="solid"/>
          </a:ln>
        </p:spPr>
      </p:sp>
      <p:sp>
        <p:nvSpPr>
          <p:cNvPr id="24" name="grid"/>
          <p:cNvSpPr/>
          <p:nvPr/>
        </p:nvSpPr>
        <p:spPr>
          <a:xfrm>
            <a:off x="2880360" y="960120"/>
            <a:ext cx="256032" cy="256032"/>
          </a:xfrm>
          <a:prstGeom prst="roundRect">
            <a:avLst>
              <a:gd name="adj" fmla="val 10714"/>
            </a:avLst>
          </a:prstGeom>
          <a:solidFill>
            <a:srgbClr val="E3F4E8"/>
          </a:solidFill>
          <a:ln w="12700">
            <a:solidFill>
              <a:srgbClr val="E3F4E8"/>
            </a:solidFill>
            <a:prstDash val="solid"/>
          </a:ln>
        </p:spPr>
      </p:sp>
      <p:sp>
        <p:nvSpPr>
          <p:cNvPr id="25" name="grid"/>
          <p:cNvSpPr/>
          <p:nvPr/>
        </p:nvSpPr>
        <p:spPr>
          <a:xfrm>
            <a:off x="2880360" y="1280160"/>
            <a:ext cx="256032" cy="256032"/>
          </a:xfrm>
          <a:prstGeom prst="roundRect">
            <a:avLst>
              <a:gd name="adj" fmla="val 10714"/>
            </a:avLst>
          </a:prstGeom>
          <a:solidFill>
            <a:srgbClr val="E3F4E8"/>
          </a:solidFill>
          <a:ln w="12700">
            <a:solidFill>
              <a:srgbClr val="E3F4E8"/>
            </a:solidFill>
            <a:prstDash val="solid"/>
          </a:ln>
        </p:spPr>
      </p:sp>
      <p:sp>
        <p:nvSpPr>
          <p:cNvPr id="26" name="grid"/>
          <p:cNvSpPr/>
          <p:nvPr/>
        </p:nvSpPr>
        <p:spPr>
          <a:xfrm>
            <a:off x="3200400" y="640080"/>
            <a:ext cx="256032" cy="256032"/>
          </a:xfrm>
          <a:prstGeom prst="roundRect">
            <a:avLst>
              <a:gd name="adj" fmla="val 10714"/>
            </a:avLst>
          </a:prstGeom>
          <a:solidFill>
            <a:srgbClr val="A7DDB4"/>
          </a:solidFill>
          <a:ln w="12700">
            <a:solidFill>
              <a:srgbClr val="A7DDB4"/>
            </a:solidFill>
            <a:prstDash val="solid"/>
          </a:ln>
        </p:spPr>
      </p:sp>
      <p:sp>
        <p:nvSpPr>
          <p:cNvPr id="27" name="grid"/>
          <p:cNvSpPr/>
          <p:nvPr/>
        </p:nvSpPr>
        <p:spPr>
          <a:xfrm>
            <a:off x="3200400" y="960120"/>
            <a:ext cx="256032" cy="256032"/>
          </a:xfrm>
          <a:prstGeom prst="roundRect">
            <a:avLst>
              <a:gd name="adj" fmla="val 10714"/>
            </a:avLst>
          </a:prstGeom>
          <a:solidFill>
            <a:srgbClr val="A7DDB4"/>
          </a:solidFill>
          <a:ln w="12700">
            <a:solidFill>
              <a:srgbClr val="A7DDB4"/>
            </a:solidFill>
            <a:prstDash val="solid"/>
          </a:ln>
        </p:spPr>
      </p:sp>
      <p:sp>
        <p:nvSpPr>
          <p:cNvPr id="28" name="grid"/>
          <p:cNvSpPr/>
          <p:nvPr/>
        </p:nvSpPr>
        <p:spPr>
          <a:xfrm>
            <a:off x="3200400" y="1280160"/>
            <a:ext cx="256032" cy="256032"/>
          </a:xfrm>
          <a:prstGeom prst="roundRect">
            <a:avLst>
              <a:gd name="adj" fmla="val 10714"/>
            </a:avLst>
          </a:prstGeom>
          <a:solidFill>
            <a:srgbClr val="A7DDB4"/>
          </a:solidFill>
          <a:ln w="12700">
            <a:solidFill>
              <a:srgbClr val="A7DDB4"/>
            </a:solidFill>
            <a:prstDash val="solid"/>
          </a:ln>
        </p:spPr>
      </p:sp>
      <p:sp>
        <p:nvSpPr>
          <p:cNvPr id="29" name="grid"/>
          <p:cNvSpPr/>
          <p:nvPr/>
        </p:nvSpPr>
        <p:spPr>
          <a:xfrm>
            <a:off x="3520440" y="640080"/>
            <a:ext cx="256032" cy="256032"/>
          </a:xfrm>
          <a:prstGeom prst="roundRect">
            <a:avLst>
              <a:gd name="adj" fmla="val 10714"/>
            </a:avLst>
          </a:prstGeom>
          <a:solidFill>
            <a:srgbClr val="A7DDB4"/>
          </a:solidFill>
          <a:ln w="12700">
            <a:solidFill>
              <a:srgbClr val="A7DDB4"/>
            </a:solidFill>
            <a:prstDash val="solid"/>
          </a:ln>
        </p:spPr>
      </p:sp>
      <p:sp>
        <p:nvSpPr>
          <p:cNvPr id="30" name="grid"/>
          <p:cNvSpPr/>
          <p:nvPr/>
        </p:nvSpPr>
        <p:spPr>
          <a:xfrm>
            <a:off x="3520440" y="960120"/>
            <a:ext cx="256032" cy="256032"/>
          </a:xfrm>
          <a:prstGeom prst="roundRect">
            <a:avLst>
              <a:gd name="adj" fmla="val 10714"/>
            </a:avLst>
          </a:prstGeom>
          <a:solidFill>
            <a:srgbClr val="A7DDB4"/>
          </a:solidFill>
          <a:ln w="12700">
            <a:solidFill>
              <a:srgbClr val="A7DDB4"/>
            </a:solidFill>
            <a:prstDash val="solid"/>
          </a:ln>
        </p:spPr>
      </p:sp>
      <p:sp>
        <p:nvSpPr>
          <p:cNvPr id="31" name="grid"/>
          <p:cNvSpPr/>
          <p:nvPr/>
        </p:nvSpPr>
        <p:spPr>
          <a:xfrm>
            <a:off x="3520440" y="1280160"/>
            <a:ext cx="256032" cy="256032"/>
          </a:xfrm>
          <a:prstGeom prst="roundRect">
            <a:avLst>
              <a:gd name="adj" fmla="val 10714"/>
            </a:avLst>
          </a:prstGeom>
          <a:solidFill>
            <a:srgbClr val="E3F4E8"/>
          </a:solidFill>
          <a:ln w="12700">
            <a:solidFill>
              <a:srgbClr val="E3F4E8"/>
            </a:solidFill>
            <a:prstDash val="solid"/>
          </a:ln>
        </p:spPr>
      </p:sp>
      <p:sp>
        <p:nvSpPr>
          <p:cNvPr id="32" name="grid"/>
          <p:cNvSpPr/>
          <p:nvPr/>
        </p:nvSpPr>
        <p:spPr>
          <a:xfrm>
            <a:off x="3840480" y="640080"/>
            <a:ext cx="256032" cy="256032"/>
          </a:xfrm>
          <a:prstGeom prst="roundRect">
            <a:avLst>
              <a:gd name="adj" fmla="val 10714"/>
            </a:avLst>
          </a:prstGeom>
          <a:solidFill>
            <a:srgbClr val="5FBF77"/>
          </a:solidFill>
          <a:ln w="12700">
            <a:solidFill>
              <a:srgbClr val="5FBF77"/>
            </a:solidFill>
            <a:prstDash val="solid"/>
          </a:ln>
        </p:spPr>
      </p:sp>
      <p:sp>
        <p:nvSpPr>
          <p:cNvPr id="33" name="grid"/>
          <p:cNvSpPr/>
          <p:nvPr/>
        </p:nvSpPr>
        <p:spPr>
          <a:xfrm>
            <a:off x="3840480" y="960120"/>
            <a:ext cx="256032" cy="256032"/>
          </a:xfrm>
          <a:prstGeom prst="roundRect">
            <a:avLst>
              <a:gd name="adj" fmla="val 10714"/>
            </a:avLst>
          </a:prstGeom>
          <a:solidFill>
            <a:srgbClr val="E3F4E8"/>
          </a:solidFill>
          <a:ln w="12700">
            <a:solidFill>
              <a:srgbClr val="E3F4E8"/>
            </a:solidFill>
            <a:prstDash val="solid"/>
          </a:ln>
        </p:spPr>
      </p:sp>
      <p:sp>
        <p:nvSpPr>
          <p:cNvPr id="34" name="grid"/>
          <p:cNvSpPr/>
          <p:nvPr/>
        </p:nvSpPr>
        <p:spPr>
          <a:xfrm>
            <a:off x="3840480" y="1280160"/>
            <a:ext cx="256032" cy="256032"/>
          </a:xfrm>
          <a:prstGeom prst="roundRect">
            <a:avLst>
              <a:gd name="adj" fmla="val 10714"/>
            </a:avLst>
          </a:prstGeom>
          <a:solidFill>
            <a:srgbClr val="E3F4E8"/>
          </a:solidFill>
          <a:ln w="12700">
            <a:solidFill>
              <a:srgbClr val="E3F4E8"/>
            </a:solidFill>
            <a:prstDash val="solid"/>
          </a:ln>
        </p:spPr>
      </p:sp>
      <p:sp>
        <p:nvSpPr>
          <p:cNvPr id="35" name="grid"/>
          <p:cNvSpPr/>
          <p:nvPr/>
        </p:nvSpPr>
        <p:spPr>
          <a:xfrm>
            <a:off x="4160520" y="640080"/>
            <a:ext cx="256032" cy="256032"/>
          </a:xfrm>
          <a:prstGeom prst="roundRect">
            <a:avLst>
              <a:gd name="adj" fmla="val 10714"/>
            </a:avLst>
          </a:prstGeom>
          <a:solidFill>
            <a:srgbClr val="A7DDB4"/>
          </a:solidFill>
          <a:ln w="12700">
            <a:solidFill>
              <a:srgbClr val="A7DDB4"/>
            </a:solidFill>
            <a:prstDash val="solid"/>
          </a:ln>
        </p:spPr>
      </p:sp>
      <p:sp>
        <p:nvSpPr>
          <p:cNvPr id="36" name="grid"/>
          <p:cNvSpPr/>
          <p:nvPr/>
        </p:nvSpPr>
        <p:spPr>
          <a:xfrm>
            <a:off x="4160520" y="960120"/>
            <a:ext cx="256032" cy="256032"/>
          </a:xfrm>
          <a:prstGeom prst="roundRect">
            <a:avLst>
              <a:gd name="adj" fmla="val 10714"/>
            </a:avLst>
          </a:prstGeom>
          <a:solidFill>
            <a:srgbClr val="5FBF77"/>
          </a:solidFill>
          <a:ln w="12700">
            <a:solidFill>
              <a:srgbClr val="5FBF77"/>
            </a:solidFill>
            <a:prstDash val="solid"/>
          </a:ln>
        </p:spPr>
      </p:sp>
      <p:sp>
        <p:nvSpPr>
          <p:cNvPr id="37" name="grid"/>
          <p:cNvSpPr/>
          <p:nvPr/>
        </p:nvSpPr>
        <p:spPr>
          <a:xfrm>
            <a:off x="4160520" y="1280160"/>
            <a:ext cx="256032" cy="256032"/>
          </a:xfrm>
          <a:prstGeom prst="roundRect">
            <a:avLst>
              <a:gd name="adj" fmla="val 10714"/>
            </a:avLst>
          </a:prstGeom>
          <a:solidFill>
            <a:srgbClr val="E3F4E8"/>
          </a:solidFill>
          <a:ln w="12700">
            <a:solidFill>
              <a:srgbClr val="E3F4E8"/>
            </a:solidFill>
            <a:prstDash val="solid"/>
          </a:ln>
        </p:spPr>
      </p:sp>
      <p:sp>
        <p:nvSpPr>
          <p:cNvPr id="38" name="grid"/>
          <p:cNvSpPr/>
          <p:nvPr/>
        </p:nvSpPr>
        <p:spPr>
          <a:xfrm>
            <a:off x="4480560" y="640080"/>
            <a:ext cx="256032" cy="256032"/>
          </a:xfrm>
          <a:prstGeom prst="roundRect">
            <a:avLst>
              <a:gd name="adj" fmla="val 10714"/>
            </a:avLst>
          </a:prstGeom>
          <a:solidFill>
            <a:srgbClr val="5FBF77"/>
          </a:solidFill>
          <a:ln w="12700">
            <a:solidFill>
              <a:srgbClr val="5FBF77"/>
            </a:solidFill>
            <a:prstDash val="solid"/>
          </a:ln>
        </p:spPr>
      </p:sp>
      <p:sp>
        <p:nvSpPr>
          <p:cNvPr id="39" name="grid"/>
          <p:cNvSpPr/>
          <p:nvPr/>
        </p:nvSpPr>
        <p:spPr>
          <a:xfrm>
            <a:off x="4480560" y="960120"/>
            <a:ext cx="256032" cy="256032"/>
          </a:xfrm>
          <a:prstGeom prst="roundRect">
            <a:avLst>
              <a:gd name="adj" fmla="val 10714"/>
            </a:avLst>
          </a:prstGeom>
          <a:solidFill>
            <a:srgbClr val="5FBF77"/>
          </a:solidFill>
          <a:ln w="12700">
            <a:solidFill>
              <a:srgbClr val="5FBF77"/>
            </a:solidFill>
            <a:prstDash val="solid"/>
          </a:ln>
        </p:spPr>
      </p:sp>
      <p:sp>
        <p:nvSpPr>
          <p:cNvPr id="40" name="grid"/>
          <p:cNvSpPr/>
          <p:nvPr/>
        </p:nvSpPr>
        <p:spPr>
          <a:xfrm>
            <a:off x="4480560" y="1280160"/>
            <a:ext cx="256032" cy="256032"/>
          </a:xfrm>
          <a:prstGeom prst="roundRect">
            <a:avLst>
              <a:gd name="adj" fmla="val 10714"/>
            </a:avLst>
          </a:prstGeom>
          <a:solidFill>
            <a:srgbClr val="5FBF77"/>
          </a:solidFill>
          <a:ln w="12700">
            <a:solidFill>
              <a:srgbClr val="5FBF77"/>
            </a:solidFill>
            <a:prstDash val="solid"/>
          </a:ln>
        </p:spPr>
      </p:sp>
      <p:sp>
        <p:nvSpPr>
          <p:cNvPr id="41" name="grid"/>
          <p:cNvSpPr/>
          <p:nvPr/>
        </p:nvSpPr>
        <p:spPr>
          <a:xfrm>
            <a:off x="4800600" y="640080"/>
            <a:ext cx="256032" cy="256032"/>
          </a:xfrm>
          <a:prstGeom prst="roundRect">
            <a:avLst>
              <a:gd name="adj" fmla="val 10714"/>
            </a:avLst>
          </a:prstGeom>
          <a:solidFill>
            <a:srgbClr val="A7DDB4"/>
          </a:solidFill>
          <a:ln w="12700">
            <a:solidFill>
              <a:srgbClr val="A7DDB4"/>
            </a:solidFill>
            <a:prstDash val="solid"/>
          </a:ln>
        </p:spPr>
      </p:sp>
      <p:sp>
        <p:nvSpPr>
          <p:cNvPr id="42" name="grid"/>
          <p:cNvSpPr/>
          <p:nvPr/>
        </p:nvSpPr>
        <p:spPr>
          <a:xfrm>
            <a:off x="4800600" y="960120"/>
            <a:ext cx="256032" cy="256032"/>
          </a:xfrm>
          <a:prstGeom prst="roundRect">
            <a:avLst>
              <a:gd name="adj" fmla="val 10714"/>
            </a:avLst>
          </a:prstGeom>
          <a:solidFill>
            <a:srgbClr val="5FBF77"/>
          </a:solidFill>
          <a:ln w="12700">
            <a:solidFill>
              <a:srgbClr val="5FBF77"/>
            </a:solidFill>
            <a:prstDash val="solid"/>
          </a:ln>
        </p:spPr>
      </p:sp>
      <p:sp>
        <p:nvSpPr>
          <p:cNvPr id="43" name="grid"/>
          <p:cNvSpPr/>
          <p:nvPr/>
        </p:nvSpPr>
        <p:spPr>
          <a:xfrm>
            <a:off x="4800600" y="1280160"/>
            <a:ext cx="256032" cy="256032"/>
          </a:xfrm>
          <a:prstGeom prst="roundRect">
            <a:avLst>
              <a:gd name="adj" fmla="val 10714"/>
            </a:avLst>
          </a:prstGeom>
          <a:solidFill>
            <a:srgbClr val="5FBF77"/>
          </a:solidFill>
          <a:ln w="12700">
            <a:solidFill>
              <a:srgbClr val="5FBF77"/>
            </a:solidFill>
            <a:prstDash val="solid"/>
          </a:ln>
        </p:spPr>
      </p:sp>
      <p:sp>
        <p:nvSpPr>
          <p:cNvPr id="44" name="grid"/>
          <p:cNvSpPr/>
          <p:nvPr/>
        </p:nvSpPr>
        <p:spPr>
          <a:xfrm>
            <a:off x="5120640" y="640080"/>
            <a:ext cx="256032" cy="256032"/>
          </a:xfrm>
          <a:prstGeom prst="roundRect">
            <a:avLst>
              <a:gd name="adj" fmla="val 10714"/>
            </a:avLst>
          </a:prstGeom>
          <a:solidFill>
            <a:srgbClr val="5FBF77"/>
          </a:solidFill>
          <a:ln w="12700">
            <a:solidFill>
              <a:srgbClr val="5FBF77"/>
            </a:solidFill>
            <a:prstDash val="solid"/>
          </a:ln>
        </p:spPr>
      </p:sp>
      <p:sp>
        <p:nvSpPr>
          <p:cNvPr id="45" name="grid"/>
          <p:cNvSpPr/>
          <p:nvPr/>
        </p:nvSpPr>
        <p:spPr>
          <a:xfrm>
            <a:off x="5120640" y="960120"/>
            <a:ext cx="256032" cy="256032"/>
          </a:xfrm>
          <a:prstGeom prst="roundRect">
            <a:avLst>
              <a:gd name="adj" fmla="val 10714"/>
            </a:avLst>
          </a:prstGeom>
          <a:solidFill>
            <a:srgbClr val="5FBF77"/>
          </a:solidFill>
          <a:ln w="12700">
            <a:solidFill>
              <a:srgbClr val="5FBF77"/>
            </a:solidFill>
            <a:prstDash val="solid"/>
          </a:ln>
        </p:spPr>
      </p:sp>
      <p:sp>
        <p:nvSpPr>
          <p:cNvPr id="46" name="grid"/>
          <p:cNvSpPr/>
          <p:nvPr/>
        </p:nvSpPr>
        <p:spPr>
          <a:xfrm>
            <a:off x="5120640" y="1280160"/>
            <a:ext cx="256032" cy="256032"/>
          </a:xfrm>
          <a:prstGeom prst="roundRect">
            <a:avLst>
              <a:gd name="adj" fmla="val 10714"/>
            </a:avLst>
          </a:prstGeom>
          <a:solidFill>
            <a:srgbClr val="A7DDB4"/>
          </a:solidFill>
          <a:ln w="12700">
            <a:solidFill>
              <a:srgbClr val="A7DDB4"/>
            </a:solidFill>
            <a:prstDash val="solid"/>
          </a:ln>
        </p:spPr>
      </p:sp>
      <p:sp>
        <p:nvSpPr>
          <p:cNvPr id="47" name="grid"/>
          <p:cNvSpPr/>
          <p:nvPr/>
        </p:nvSpPr>
        <p:spPr>
          <a:xfrm>
            <a:off x="5440680" y="640080"/>
            <a:ext cx="256032" cy="256032"/>
          </a:xfrm>
          <a:prstGeom prst="roundRect">
            <a:avLst>
              <a:gd name="adj" fmla="val 10714"/>
            </a:avLst>
          </a:prstGeom>
          <a:solidFill>
            <a:srgbClr val="2DA44E"/>
          </a:solidFill>
          <a:ln w="12700">
            <a:solidFill>
              <a:srgbClr val="2DA44E"/>
            </a:solidFill>
            <a:prstDash val="solid"/>
          </a:ln>
        </p:spPr>
      </p:sp>
      <p:sp>
        <p:nvSpPr>
          <p:cNvPr id="48" name="grid"/>
          <p:cNvSpPr/>
          <p:nvPr/>
        </p:nvSpPr>
        <p:spPr>
          <a:xfrm>
            <a:off x="5440680" y="960120"/>
            <a:ext cx="256032" cy="256032"/>
          </a:xfrm>
          <a:prstGeom prst="roundRect">
            <a:avLst>
              <a:gd name="adj" fmla="val 10714"/>
            </a:avLst>
          </a:prstGeom>
          <a:solidFill>
            <a:srgbClr val="2DA44E"/>
          </a:solidFill>
          <a:ln w="12700">
            <a:solidFill>
              <a:srgbClr val="2DA44E"/>
            </a:solidFill>
            <a:prstDash val="solid"/>
          </a:ln>
        </p:spPr>
      </p:sp>
      <p:sp>
        <p:nvSpPr>
          <p:cNvPr id="49" name="grid"/>
          <p:cNvSpPr/>
          <p:nvPr/>
        </p:nvSpPr>
        <p:spPr>
          <a:xfrm>
            <a:off x="5440680" y="1280160"/>
            <a:ext cx="256032" cy="256032"/>
          </a:xfrm>
          <a:prstGeom prst="roundRect">
            <a:avLst>
              <a:gd name="adj" fmla="val 10714"/>
            </a:avLst>
          </a:prstGeom>
          <a:solidFill>
            <a:srgbClr val="2DA44E"/>
          </a:solidFill>
          <a:ln w="12700">
            <a:solidFill>
              <a:srgbClr val="2DA44E"/>
            </a:solidFill>
            <a:prstDash val="solid"/>
          </a:ln>
        </p:spPr>
      </p:sp>
      <p:sp>
        <p:nvSpPr>
          <p:cNvPr id="50" name="grid"/>
          <p:cNvSpPr/>
          <p:nvPr/>
        </p:nvSpPr>
        <p:spPr>
          <a:xfrm>
            <a:off x="5760720" y="640080"/>
            <a:ext cx="256032" cy="256032"/>
          </a:xfrm>
          <a:prstGeom prst="roundRect">
            <a:avLst>
              <a:gd name="adj" fmla="val 10714"/>
            </a:avLst>
          </a:prstGeom>
          <a:solidFill>
            <a:srgbClr val="5FBF77"/>
          </a:solidFill>
          <a:ln w="12700">
            <a:solidFill>
              <a:srgbClr val="5FBF77"/>
            </a:solidFill>
            <a:prstDash val="solid"/>
          </a:ln>
        </p:spPr>
      </p:sp>
      <p:sp>
        <p:nvSpPr>
          <p:cNvPr id="51" name="grid"/>
          <p:cNvSpPr/>
          <p:nvPr/>
        </p:nvSpPr>
        <p:spPr>
          <a:xfrm>
            <a:off x="5760720" y="960120"/>
            <a:ext cx="256032" cy="256032"/>
          </a:xfrm>
          <a:prstGeom prst="roundRect">
            <a:avLst>
              <a:gd name="adj" fmla="val 10714"/>
            </a:avLst>
          </a:prstGeom>
          <a:solidFill>
            <a:srgbClr val="5FBF77"/>
          </a:solidFill>
          <a:ln w="12700">
            <a:solidFill>
              <a:srgbClr val="5FBF77"/>
            </a:solidFill>
            <a:prstDash val="solid"/>
          </a:ln>
        </p:spPr>
      </p:sp>
      <p:sp>
        <p:nvSpPr>
          <p:cNvPr id="52" name="grid"/>
          <p:cNvSpPr/>
          <p:nvPr/>
        </p:nvSpPr>
        <p:spPr>
          <a:xfrm>
            <a:off x="5760720" y="1280160"/>
            <a:ext cx="256032" cy="256032"/>
          </a:xfrm>
          <a:prstGeom prst="roundRect">
            <a:avLst>
              <a:gd name="adj" fmla="val 10714"/>
            </a:avLst>
          </a:prstGeom>
          <a:solidFill>
            <a:srgbClr val="2DA44E"/>
          </a:solidFill>
          <a:ln w="12700">
            <a:solidFill>
              <a:srgbClr val="2DA44E"/>
            </a:solidFill>
            <a:prstDash val="solid"/>
          </a:ln>
        </p:spPr>
      </p:sp>
      <p:sp>
        <p:nvSpPr>
          <p:cNvPr id="53" name="grid"/>
          <p:cNvSpPr/>
          <p:nvPr/>
        </p:nvSpPr>
        <p:spPr>
          <a:xfrm>
            <a:off x="6080760" y="640080"/>
            <a:ext cx="256032" cy="256032"/>
          </a:xfrm>
          <a:prstGeom prst="roundRect">
            <a:avLst>
              <a:gd name="adj" fmla="val 10714"/>
            </a:avLst>
          </a:prstGeom>
          <a:solidFill>
            <a:srgbClr val="A7DDB4"/>
          </a:solidFill>
          <a:ln w="12700">
            <a:solidFill>
              <a:srgbClr val="A7DDB4"/>
            </a:solidFill>
            <a:prstDash val="solid"/>
          </a:ln>
        </p:spPr>
      </p:sp>
      <p:sp>
        <p:nvSpPr>
          <p:cNvPr id="54" name="grid"/>
          <p:cNvSpPr/>
          <p:nvPr/>
        </p:nvSpPr>
        <p:spPr>
          <a:xfrm>
            <a:off x="6080760" y="960120"/>
            <a:ext cx="256032" cy="256032"/>
          </a:xfrm>
          <a:prstGeom prst="roundRect">
            <a:avLst>
              <a:gd name="adj" fmla="val 10714"/>
            </a:avLst>
          </a:prstGeom>
          <a:solidFill>
            <a:srgbClr val="E3F4E8"/>
          </a:solidFill>
          <a:ln w="12700">
            <a:solidFill>
              <a:srgbClr val="E3F4E8"/>
            </a:solidFill>
            <a:prstDash val="solid"/>
          </a:ln>
        </p:spPr>
      </p:sp>
      <p:sp>
        <p:nvSpPr>
          <p:cNvPr id="55" name="grid"/>
          <p:cNvSpPr/>
          <p:nvPr/>
        </p:nvSpPr>
        <p:spPr>
          <a:xfrm>
            <a:off x="6080760" y="1280160"/>
            <a:ext cx="256032" cy="256032"/>
          </a:xfrm>
          <a:prstGeom prst="roundRect">
            <a:avLst>
              <a:gd name="adj" fmla="val 10714"/>
            </a:avLst>
          </a:prstGeom>
          <a:solidFill>
            <a:srgbClr val="5FBF77"/>
          </a:solidFill>
          <a:ln w="12700">
            <a:solidFill>
              <a:srgbClr val="5FBF77"/>
            </a:solidFill>
            <a:prstDash val="solid"/>
          </a:ln>
        </p:spPr>
      </p:sp>
      <p:sp>
        <p:nvSpPr>
          <p:cNvPr id="56" name="grid"/>
          <p:cNvSpPr/>
          <p:nvPr/>
        </p:nvSpPr>
        <p:spPr>
          <a:xfrm>
            <a:off x="6400800" y="640080"/>
            <a:ext cx="256032" cy="256032"/>
          </a:xfrm>
          <a:prstGeom prst="roundRect">
            <a:avLst>
              <a:gd name="adj" fmla="val 10714"/>
            </a:avLst>
          </a:prstGeom>
          <a:solidFill>
            <a:srgbClr val="A7DDB4"/>
          </a:solidFill>
          <a:ln w="12700">
            <a:solidFill>
              <a:srgbClr val="A7DDB4"/>
            </a:solidFill>
            <a:prstDash val="solid"/>
          </a:ln>
        </p:spPr>
      </p:sp>
      <p:sp>
        <p:nvSpPr>
          <p:cNvPr id="57" name="grid"/>
          <p:cNvSpPr/>
          <p:nvPr/>
        </p:nvSpPr>
        <p:spPr>
          <a:xfrm>
            <a:off x="6400800" y="960120"/>
            <a:ext cx="256032" cy="256032"/>
          </a:xfrm>
          <a:prstGeom prst="roundRect">
            <a:avLst>
              <a:gd name="adj" fmla="val 10714"/>
            </a:avLst>
          </a:prstGeom>
          <a:solidFill>
            <a:srgbClr val="A7DDB4"/>
          </a:solidFill>
          <a:ln w="12700">
            <a:solidFill>
              <a:srgbClr val="A7DDB4"/>
            </a:solidFill>
            <a:prstDash val="solid"/>
          </a:ln>
        </p:spPr>
      </p:sp>
      <p:sp>
        <p:nvSpPr>
          <p:cNvPr id="58" name="grid"/>
          <p:cNvSpPr/>
          <p:nvPr/>
        </p:nvSpPr>
        <p:spPr>
          <a:xfrm>
            <a:off x="6400800" y="1280160"/>
            <a:ext cx="256032" cy="256032"/>
          </a:xfrm>
          <a:prstGeom prst="roundRect">
            <a:avLst>
              <a:gd name="adj" fmla="val 10714"/>
            </a:avLst>
          </a:prstGeom>
          <a:solidFill>
            <a:srgbClr val="5FBF77"/>
          </a:solidFill>
          <a:ln w="12700">
            <a:solidFill>
              <a:srgbClr val="5FBF77"/>
            </a:solidFill>
            <a:prstDash val="solid"/>
          </a:ln>
        </p:spPr>
      </p:sp>
      <p:sp>
        <p:nvSpPr>
          <p:cNvPr id="59" name="grid"/>
          <p:cNvSpPr/>
          <p:nvPr/>
        </p:nvSpPr>
        <p:spPr>
          <a:xfrm>
            <a:off x="6720840" y="640080"/>
            <a:ext cx="256032" cy="256032"/>
          </a:xfrm>
          <a:prstGeom prst="roundRect">
            <a:avLst>
              <a:gd name="adj" fmla="val 10714"/>
            </a:avLst>
          </a:prstGeom>
          <a:solidFill>
            <a:srgbClr val="1E7A38"/>
          </a:solidFill>
          <a:ln w="12700">
            <a:solidFill>
              <a:srgbClr val="1E7A38"/>
            </a:solidFill>
            <a:prstDash val="solid"/>
          </a:ln>
        </p:spPr>
      </p:sp>
      <p:sp>
        <p:nvSpPr>
          <p:cNvPr id="60" name="grid"/>
          <p:cNvSpPr/>
          <p:nvPr/>
        </p:nvSpPr>
        <p:spPr>
          <a:xfrm>
            <a:off x="6720840" y="960120"/>
            <a:ext cx="256032" cy="256032"/>
          </a:xfrm>
          <a:prstGeom prst="roundRect">
            <a:avLst>
              <a:gd name="adj" fmla="val 10714"/>
            </a:avLst>
          </a:prstGeom>
          <a:solidFill>
            <a:srgbClr val="5FBF77"/>
          </a:solidFill>
          <a:ln w="12700">
            <a:solidFill>
              <a:srgbClr val="5FBF77"/>
            </a:solidFill>
            <a:prstDash val="solid"/>
          </a:ln>
        </p:spPr>
      </p:sp>
      <p:sp>
        <p:nvSpPr>
          <p:cNvPr id="61" name="grid"/>
          <p:cNvSpPr/>
          <p:nvPr/>
        </p:nvSpPr>
        <p:spPr>
          <a:xfrm>
            <a:off x="6720840" y="1280160"/>
            <a:ext cx="256032" cy="256032"/>
          </a:xfrm>
          <a:prstGeom prst="roundRect">
            <a:avLst>
              <a:gd name="adj" fmla="val 10714"/>
            </a:avLst>
          </a:prstGeom>
          <a:solidFill>
            <a:srgbClr val="E3F4E8"/>
          </a:solidFill>
          <a:ln w="12700">
            <a:solidFill>
              <a:srgbClr val="E3F4E8"/>
            </a:solidFill>
            <a:prstDash val="solid"/>
          </a:ln>
        </p:spPr>
      </p:sp>
      <p:sp>
        <p:nvSpPr>
          <p:cNvPr id="62" name="grid"/>
          <p:cNvSpPr/>
          <p:nvPr/>
        </p:nvSpPr>
        <p:spPr>
          <a:xfrm>
            <a:off x="7040880" y="640080"/>
            <a:ext cx="256032" cy="256032"/>
          </a:xfrm>
          <a:prstGeom prst="roundRect">
            <a:avLst>
              <a:gd name="adj" fmla="val 10714"/>
            </a:avLst>
          </a:prstGeom>
          <a:solidFill>
            <a:srgbClr val="2DA44E"/>
          </a:solidFill>
          <a:ln w="12700">
            <a:solidFill>
              <a:srgbClr val="2DA44E"/>
            </a:solidFill>
            <a:prstDash val="solid"/>
          </a:ln>
        </p:spPr>
      </p:sp>
      <p:sp>
        <p:nvSpPr>
          <p:cNvPr id="63" name="grid"/>
          <p:cNvSpPr/>
          <p:nvPr/>
        </p:nvSpPr>
        <p:spPr>
          <a:xfrm>
            <a:off x="7040880" y="960120"/>
            <a:ext cx="256032" cy="256032"/>
          </a:xfrm>
          <a:prstGeom prst="roundRect">
            <a:avLst>
              <a:gd name="adj" fmla="val 10714"/>
            </a:avLst>
          </a:prstGeom>
          <a:solidFill>
            <a:srgbClr val="2DA44E"/>
          </a:solidFill>
          <a:ln w="12700">
            <a:solidFill>
              <a:srgbClr val="2DA44E"/>
            </a:solidFill>
            <a:prstDash val="solid"/>
          </a:ln>
        </p:spPr>
      </p:sp>
      <p:sp>
        <p:nvSpPr>
          <p:cNvPr id="64" name="grid"/>
          <p:cNvSpPr/>
          <p:nvPr/>
        </p:nvSpPr>
        <p:spPr>
          <a:xfrm>
            <a:off x="7040880" y="1280160"/>
            <a:ext cx="256032" cy="256032"/>
          </a:xfrm>
          <a:prstGeom prst="roundRect">
            <a:avLst>
              <a:gd name="adj" fmla="val 10714"/>
            </a:avLst>
          </a:prstGeom>
          <a:solidFill>
            <a:srgbClr val="1E7A38"/>
          </a:solidFill>
          <a:ln w="12700">
            <a:solidFill>
              <a:srgbClr val="1E7A38"/>
            </a:solidFill>
            <a:prstDash val="solid"/>
          </a:ln>
        </p:spPr>
      </p:sp>
      <p:sp>
        <p:nvSpPr>
          <p:cNvPr id="65" name="grid"/>
          <p:cNvSpPr/>
          <p:nvPr/>
        </p:nvSpPr>
        <p:spPr>
          <a:xfrm>
            <a:off x="7360920" y="640080"/>
            <a:ext cx="256032" cy="256032"/>
          </a:xfrm>
          <a:prstGeom prst="roundRect">
            <a:avLst>
              <a:gd name="adj" fmla="val 10714"/>
            </a:avLst>
          </a:prstGeom>
          <a:solidFill>
            <a:srgbClr val="E3F4E8"/>
          </a:solidFill>
          <a:ln w="12700">
            <a:solidFill>
              <a:srgbClr val="E3F4E8"/>
            </a:solidFill>
            <a:prstDash val="solid"/>
          </a:ln>
        </p:spPr>
      </p:sp>
      <p:sp>
        <p:nvSpPr>
          <p:cNvPr id="66" name="grid"/>
          <p:cNvSpPr/>
          <p:nvPr/>
        </p:nvSpPr>
        <p:spPr>
          <a:xfrm>
            <a:off x="7360920" y="960120"/>
            <a:ext cx="256032" cy="256032"/>
          </a:xfrm>
          <a:prstGeom prst="roundRect">
            <a:avLst>
              <a:gd name="adj" fmla="val 10714"/>
            </a:avLst>
          </a:prstGeom>
          <a:solidFill>
            <a:srgbClr val="2DA44E"/>
          </a:solidFill>
          <a:ln w="12700">
            <a:solidFill>
              <a:srgbClr val="2DA44E"/>
            </a:solidFill>
            <a:prstDash val="solid"/>
          </a:ln>
        </p:spPr>
      </p:sp>
      <p:sp>
        <p:nvSpPr>
          <p:cNvPr id="67" name="grid"/>
          <p:cNvSpPr/>
          <p:nvPr/>
        </p:nvSpPr>
        <p:spPr>
          <a:xfrm>
            <a:off x="7360920" y="1280160"/>
            <a:ext cx="256032" cy="256032"/>
          </a:xfrm>
          <a:prstGeom prst="roundRect">
            <a:avLst>
              <a:gd name="adj" fmla="val 10714"/>
            </a:avLst>
          </a:prstGeom>
          <a:solidFill>
            <a:srgbClr val="E3F4E8"/>
          </a:solidFill>
          <a:ln w="12700">
            <a:solidFill>
              <a:srgbClr val="E3F4E8"/>
            </a:solidFill>
            <a:prstDash val="solid"/>
          </a:ln>
        </p:spPr>
      </p:sp>
      <p:sp>
        <p:nvSpPr>
          <p:cNvPr id="68" name="grid"/>
          <p:cNvSpPr/>
          <p:nvPr/>
        </p:nvSpPr>
        <p:spPr>
          <a:xfrm>
            <a:off x="7680960" y="640080"/>
            <a:ext cx="256032" cy="256032"/>
          </a:xfrm>
          <a:prstGeom prst="roundRect">
            <a:avLst>
              <a:gd name="adj" fmla="val 10714"/>
            </a:avLst>
          </a:prstGeom>
          <a:solidFill>
            <a:srgbClr val="A7DDB4"/>
          </a:solidFill>
          <a:ln w="12700">
            <a:solidFill>
              <a:srgbClr val="A7DDB4"/>
            </a:solidFill>
            <a:prstDash val="solid"/>
          </a:ln>
        </p:spPr>
      </p:sp>
      <p:sp>
        <p:nvSpPr>
          <p:cNvPr id="69" name="grid"/>
          <p:cNvSpPr/>
          <p:nvPr/>
        </p:nvSpPr>
        <p:spPr>
          <a:xfrm>
            <a:off x="7680960" y="960120"/>
            <a:ext cx="256032" cy="256032"/>
          </a:xfrm>
          <a:prstGeom prst="roundRect">
            <a:avLst>
              <a:gd name="adj" fmla="val 10714"/>
            </a:avLst>
          </a:prstGeom>
          <a:solidFill>
            <a:srgbClr val="1E7A38"/>
          </a:solidFill>
          <a:ln w="12700">
            <a:solidFill>
              <a:srgbClr val="1E7A38"/>
            </a:solidFill>
            <a:prstDash val="solid"/>
          </a:ln>
        </p:spPr>
      </p:sp>
      <p:sp>
        <p:nvSpPr>
          <p:cNvPr id="70" name="grid"/>
          <p:cNvSpPr/>
          <p:nvPr/>
        </p:nvSpPr>
        <p:spPr>
          <a:xfrm>
            <a:off x="7680960" y="1280160"/>
            <a:ext cx="256032" cy="256032"/>
          </a:xfrm>
          <a:prstGeom prst="roundRect">
            <a:avLst>
              <a:gd name="adj" fmla="val 10714"/>
            </a:avLst>
          </a:prstGeom>
          <a:solidFill>
            <a:srgbClr val="A7DDB4"/>
          </a:solidFill>
          <a:ln w="12700">
            <a:solidFill>
              <a:srgbClr val="A7DDB4"/>
            </a:solidFill>
            <a:prstDash val="solid"/>
          </a:ln>
        </p:spPr>
      </p:sp>
      <p:sp>
        <p:nvSpPr>
          <p:cNvPr id="71" name="grid"/>
          <p:cNvSpPr/>
          <p:nvPr/>
        </p:nvSpPr>
        <p:spPr>
          <a:xfrm>
            <a:off x="8001000" y="640080"/>
            <a:ext cx="256032" cy="256032"/>
          </a:xfrm>
          <a:prstGeom prst="roundRect">
            <a:avLst>
              <a:gd name="adj" fmla="val 10714"/>
            </a:avLst>
          </a:prstGeom>
          <a:solidFill>
            <a:srgbClr val="E3F4E8"/>
          </a:solidFill>
          <a:ln w="12700">
            <a:solidFill>
              <a:srgbClr val="E3F4E8"/>
            </a:solidFill>
            <a:prstDash val="solid"/>
          </a:ln>
        </p:spPr>
      </p:sp>
      <p:sp>
        <p:nvSpPr>
          <p:cNvPr id="72" name="grid"/>
          <p:cNvSpPr/>
          <p:nvPr/>
        </p:nvSpPr>
        <p:spPr>
          <a:xfrm>
            <a:off x="8001000" y="960120"/>
            <a:ext cx="256032" cy="256032"/>
          </a:xfrm>
          <a:prstGeom prst="roundRect">
            <a:avLst>
              <a:gd name="adj" fmla="val 10714"/>
            </a:avLst>
          </a:prstGeom>
          <a:solidFill>
            <a:srgbClr val="5FBF77"/>
          </a:solidFill>
          <a:ln w="12700">
            <a:solidFill>
              <a:srgbClr val="5FBF77"/>
            </a:solidFill>
            <a:prstDash val="solid"/>
          </a:ln>
        </p:spPr>
      </p:sp>
      <p:sp>
        <p:nvSpPr>
          <p:cNvPr id="73" name="grid"/>
          <p:cNvSpPr/>
          <p:nvPr/>
        </p:nvSpPr>
        <p:spPr>
          <a:xfrm>
            <a:off x="8001000" y="1280160"/>
            <a:ext cx="256032" cy="256032"/>
          </a:xfrm>
          <a:prstGeom prst="roundRect">
            <a:avLst>
              <a:gd name="adj" fmla="val 10714"/>
            </a:avLst>
          </a:prstGeom>
          <a:solidFill>
            <a:srgbClr val="1E7A38"/>
          </a:solidFill>
          <a:ln w="12700">
            <a:solidFill>
              <a:srgbClr val="1E7A38"/>
            </a:solidFill>
            <a:prstDash val="solid"/>
          </a:ln>
        </p:spPr>
      </p:sp>
      <p:sp>
        <p:nvSpPr>
          <p:cNvPr id="74" name="grid"/>
          <p:cNvSpPr/>
          <p:nvPr/>
        </p:nvSpPr>
        <p:spPr>
          <a:xfrm>
            <a:off x="8321040" y="640080"/>
            <a:ext cx="256032" cy="256032"/>
          </a:xfrm>
          <a:prstGeom prst="roundRect">
            <a:avLst>
              <a:gd name="adj" fmla="val 10714"/>
            </a:avLst>
          </a:prstGeom>
          <a:solidFill>
            <a:srgbClr val="5FBF77"/>
          </a:solidFill>
          <a:ln w="12700">
            <a:solidFill>
              <a:srgbClr val="5FBF77"/>
            </a:solidFill>
            <a:prstDash val="solid"/>
          </a:ln>
        </p:spPr>
      </p:sp>
      <p:sp>
        <p:nvSpPr>
          <p:cNvPr id="75" name="grid"/>
          <p:cNvSpPr/>
          <p:nvPr/>
        </p:nvSpPr>
        <p:spPr>
          <a:xfrm>
            <a:off x="8321040" y="960120"/>
            <a:ext cx="256032" cy="256032"/>
          </a:xfrm>
          <a:prstGeom prst="roundRect">
            <a:avLst>
              <a:gd name="adj" fmla="val 10714"/>
            </a:avLst>
          </a:prstGeom>
          <a:solidFill>
            <a:srgbClr val="E3F4E8"/>
          </a:solidFill>
          <a:ln w="12700">
            <a:solidFill>
              <a:srgbClr val="E3F4E8"/>
            </a:solidFill>
            <a:prstDash val="solid"/>
          </a:ln>
        </p:spPr>
      </p:sp>
      <p:sp>
        <p:nvSpPr>
          <p:cNvPr id="76" name="grid"/>
          <p:cNvSpPr/>
          <p:nvPr/>
        </p:nvSpPr>
        <p:spPr>
          <a:xfrm>
            <a:off x="8321040" y="1280160"/>
            <a:ext cx="256032" cy="256032"/>
          </a:xfrm>
          <a:prstGeom prst="roundRect">
            <a:avLst>
              <a:gd name="adj" fmla="val 10714"/>
            </a:avLst>
          </a:prstGeom>
          <a:solidFill>
            <a:srgbClr val="E3F4E8"/>
          </a:solidFill>
          <a:ln w="12700">
            <a:solidFill>
              <a:srgbClr val="E3F4E8"/>
            </a:solidFill>
            <a:prstDash val="solid"/>
          </a:ln>
        </p:spPr>
      </p:sp>
      <p:sp>
        <p:nvSpPr>
          <p:cNvPr id="77" name="grid"/>
          <p:cNvSpPr/>
          <p:nvPr/>
        </p:nvSpPr>
        <p:spPr>
          <a:xfrm>
            <a:off x="8641080" y="640080"/>
            <a:ext cx="256032" cy="256032"/>
          </a:xfrm>
          <a:prstGeom prst="roundRect">
            <a:avLst>
              <a:gd name="adj" fmla="val 10714"/>
            </a:avLst>
          </a:prstGeom>
          <a:solidFill>
            <a:srgbClr val="A7DDB4"/>
          </a:solidFill>
          <a:ln w="12700">
            <a:solidFill>
              <a:srgbClr val="A7DDB4"/>
            </a:solidFill>
            <a:prstDash val="solid"/>
          </a:ln>
        </p:spPr>
      </p:sp>
      <p:sp>
        <p:nvSpPr>
          <p:cNvPr id="78" name="grid"/>
          <p:cNvSpPr/>
          <p:nvPr/>
        </p:nvSpPr>
        <p:spPr>
          <a:xfrm>
            <a:off x="8641080" y="960120"/>
            <a:ext cx="256032" cy="256032"/>
          </a:xfrm>
          <a:prstGeom prst="roundRect">
            <a:avLst>
              <a:gd name="adj" fmla="val 10714"/>
            </a:avLst>
          </a:prstGeom>
          <a:solidFill>
            <a:srgbClr val="1E7A38"/>
          </a:solidFill>
          <a:ln w="12700">
            <a:solidFill>
              <a:srgbClr val="1E7A38"/>
            </a:solidFill>
            <a:prstDash val="solid"/>
          </a:ln>
        </p:spPr>
      </p:sp>
      <p:sp>
        <p:nvSpPr>
          <p:cNvPr id="79" name="grid"/>
          <p:cNvSpPr/>
          <p:nvPr/>
        </p:nvSpPr>
        <p:spPr>
          <a:xfrm>
            <a:off x="8641080" y="1280160"/>
            <a:ext cx="256032" cy="256032"/>
          </a:xfrm>
          <a:prstGeom prst="roundRect">
            <a:avLst>
              <a:gd name="adj" fmla="val 10714"/>
            </a:avLst>
          </a:prstGeom>
          <a:solidFill>
            <a:srgbClr val="5FBF77"/>
          </a:solidFill>
          <a:ln w="12700">
            <a:solidFill>
              <a:srgbClr val="5FBF77"/>
            </a:solidFill>
            <a:prstDash val="solid"/>
          </a:ln>
        </p:spPr>
      </p:sp>
      <p:sp>
        <p:nvSpPr>
          <p:cNvPr id="80" name="grid"/>
          <p:cNvSpPr/>
          <p:nvPr/>
        </p:nvSpPr>
        <p:spPr>
          <a:xfrm>
            <a:off x="8961120" y="640080"/>
            <a:ext cx="256032" cy="256032"/>
          </a:xfrm>
          <a:prstGeom prst="roundRect">
            <a:avLst>
              <a:gd name="adj" fmla="val 10714"/>
            </a:avLst>
          </a:prstGeom>
          <a:solidFill>
            <a:srgbClr val="2DA44E"/>
          </a:solidFill>
          <a:ln w="12700">
            <a:solidFill>
              <a:srgbClr val="2DA44E"/>
            </a:solidFill>
            <a:prstDash val="solid"/>
          </a:ln>
        </p:spPr>
      </p:sp>
      <p:sp>
        <p:nvSpPr>
          <p:cNvPr id="81" name="grid"/>
          <p:cNvSpPr/>
          <p:nvPr/>
        </p:nvSpPr>
        <p:spPr>
          <a:xfrm>
            <a:off x="8961120" y="960120"/>
            <a:ext cx="256032" cy="256032"/>
          </a:xfrm>
          <a:prstGeom prst="roundRect">
            <a:avLst>
              <a:gd name="adj" fmla="val 10714"/>
            </a:avLst>
          </a:prstGeom>
          <a:solidFill>
            <a:srgbClr val="2DA44E"/>
          </a:solidFill>
          <a:ln w="12700">
            <a:solidFill>
              <a:srgbClr val="2DA44E"/>
            </a:solidFill>
            <a:prstDash val="solid"/>
          </a:ln>
        </p:spPr>
      </p:sp>
      <p:sp>
        <p:nvSpPr>
          <p:cNvPr id="82" name="grid"/>
          <p:cNvSpPr/>
          <p:nvPr/>
        </p:nvSpPr>
        <p:spPr>
          <a:xfrm>
            <a:off x="8961120" y="1280160"/>
            <a:ext cx="256032" cy="256032"/>
          </a:xfrm>
          <a:prstGeom prst="roundRect">
            <a:avLst>
              <a:gd name="adj" fmla="val 10714"/>
            </a:avLst>
          </a:prstGeom>
          <a:solidFill>
            <a:srgbClr val="5FBF77"/>
          </a:solidFill>
          <a:ln w="12700">
            <a:solidFill>
              <a:srgbClr val="5FBF77"/>
            </a:solidFill>
            <a:prstDash val="solid"/>
          </a:ln>
        </p:spPr>
      </p:sp>
      <p:sp>
        <p:nvSpPr>
          <p:cNvPr id="83" name="grid"/>
          <p:cNvSpPr/>
          <p:nvPr/>
        </p:nvSpPr>
        <p:spPr>
          <a:xfrm>
            <a:off x="9281160" y="640080"/>
            <a:ext cx="256032" cy="256032"/>
          </a:xfrm>
          <a:prstGeom prst="roundRect">
            <a:avLst>
              <a:gd name="adj" fmla="val 10714"/>
            </a:avLst>
          </a:prstGeom>
          <a:solidFill>
            <a:srgbClr val="E3F4E8"/>
          </a:solidFill>
          <a:ln w="12700">
            <a:solidFill>
              <a:srgbClr val="E3F4E8"/>
            </a:solidFill>
            <a:prstDash val="solid"/>
          </a:ln>
        </p:spPr>
      </p:sp>
      <p:sp>
        <p:nvSpPr>
          <p:cNvPr id="84" name="grid"/>
          <p:cNvSpPr/>
          <p:nvPr/>
        </p:nvSpPr>
        <p:spPr>
          <a:xfrm>
            <a:off x="9281160" y="960120"/>
            <a:ext cx="256032" cy="256032"/>
          </a:xfrm>
          <a:prstGeom prst="roundRect">
            <a:avLst>
              <a:gd name="adj" fmla="val 10714"/>
            </a:avLst>
          </a:prstGeom>
          <a:solidFill>
            <a:srgbClr val="5FBF77"/>
          </a:solidFill>
          <a:ln w="12700">
            <a:solidFill>
              <a:srgbClr val="5FBF77"/>
            </a:solidFill>
            <a:prstDash val="solid"/>
          </a:ln>
        </p:spPr>
      </p:sp>
      <p:sp>
        <p:nvSpPr>
          <p:cNvPr id="85" name="grid"/>
          <p:cNvSpPr/>
          <p:nvPr/>
        </p:nvSpPr>
        <p:spPr>
          <a:xfrm>
            <a:off x="9281160" y="1280160"/>
            <a:ext cx="256032" cy="256032"/>
          </a:xfrm>
          <a:prstGeom prst="roundRect">
            <a:avLst>
              <a:gd name="adj" fmla="val 10714"/>
            </a:avLst>
          </a:prstGeom>
          <a:solidFill>
            <a:srgbClr val="5FBF77"/>
          </a:solidFill>
          <a:ln w="12700">
            <a:solidFill>
              <a:srgbClr val="5FBF77"/>
            </a:solidFill>
            <a:prstDash val="solid"/>
          </a:ln>
        </p:spPr>
      </p:sp>
      <p:sp>
        <p:nvSpPr>
          <p:cNvPr id="86" name="grid"/>
          <p:cNvSpPr/>
          <p:nvPr/>
        </p:nvSpPr>
        <p:spPr>
          <a:xfrm>
            <a:off x="9601200" y="640080"/>
            <a:ext cx="256032" cy="256032"/>
          </a:xfrm>
          <a:prstGeom prst="roundRect">
            <a:avLst>
              <a:gd name="adj" fmla="val 10714"/>
            </a:avLst>
          </a:prstGeom>
          <a:solidFill>
            <a:srgbClr val="1E7A38"/>
          </a:solidFill>
          <a:ln w="12700">
            <a:solidFill>
              <a:srgbClr val="1E7A38"/>
            </a:solidFill>
            <a:prstDash val="solid"/>
          </a:ln>
        </p:spPr>
      </p:sp>
      <p:sp>
        <p:nvSpPr>
          <p:cNvPr id="87" name="grid"/>
          <p:cNvSpPr/>
          <p:nvPr/>
        </p:nvSpPr>
        <p:spPr>
          <a:xfrm>
            <a:off x="9601200" y="960120"/>
            <a:ext cx="256032" cy="256032"/>
          </a:xfrm>
          <a:prstGeom prst="roundRect">
            <a:avLst>
              <a:gd name="adj" fmla="val 10714"/>
            </a:avLst>
          </a:prstGeom>
          <a:solidFill>
            <a:srgbClr val="E3F4E8"/>
          </a:solidFill>
          <a:ln w="12700">
            <a:solidFill>
              <a:srgbClr val="E3F4E8"/>
            </a:solidFill>
            <a:prstDash val="solid"/>
          </a:ln>
        </p:spPr>
      </p:sp>
      <p:sp>
        <p:nvSpPr>
          <p:cNvPr id="88" name="grid"/>
          <p:cNvSpPr/>
          <p:nvPr/>
        </p:nvSpPr>
        <p:spPr>
          <a:xfrm>
            <a:off x="9601200" y="1280160"/>
            <a:ext cx="256032" cy="256032"/>
          </a:xfrm>
          <a:prstGeom prst="roundRect">
            <a:avLst>
              <a:gd name="adj" fmla="val 10714"/>
            </a:avLst>
          </a:prstGeom>
          <a:solidFill>
            <a:srgbClr val="1E7A38"/>
          </a:solidFill>
          <a:ln w="12700">
            <a:solidFill>
              <a:srgbClr val="1E7A38"/>
            </a:solidFill>
            <a:prstDash val="solid"/>
          </a:ln>
        </p:spPr>
      </p:sp>
      <p:sp>
        <p:nvSpPr>
          <p:cNvPr id="89" name="grid"/>
          <p:cNvSpPr/>
          <p:nvPr/>
        </p:nvSpPr>
        <p:spPr>
          <a:xfrm>
            <a:off x="9921240" y="640080"/>
            <a:ext cx="256032" cy="256032"/>
          </a:xfrm>
          <a:prstGeom prst="roundRect">
            <a:avLst>
              <a:gd name="adj" fmla="val 10714"/>
            </a:avLst>
          </a:prstGeom>
          <a:solidFill>
            <a:srgbClr val="2DA44E"/>
          </a:solidFill>
          <a:ln w="12700">
            <a:solidFill>
              <a:srgbClr val="2DA44E"/>
            </a:solidFill>
            <a:prstDash val="solid"/>
          </a:ln>
        </p:spPr>
      </p:sp>
      <p:sp>
        <p:nvSpPr>
          <p:cNvPr id="90" name="grid"/>
          <p:cNvSpPr/>
          <p:nvPr/>
        </p:nvSpPr>
        <p:spPr>
          <a:xfrm>
            <a:off x="9921240" y="960120"/>
            <a:ext cx="256032" cy="256032"/>
          </a:xfrm>
          <a:prstGeom prst="roundRect">
            <a:avLst>
              <a:gd name="adj" fmla="val 10714"/>
            </a:avLst>
          </a:prstGeom>
          <a:solidFill>
            <a:srgbClr val="2DA44E"/>
          </a:solidFill>
          <a:ln w="12700">
            <a:solidFill>
              <a:srgbClr val="2DA44E"/>
            </a:solidFill>
            <a:prstDash val="solid"/>
          </a:ln>
        </p:spPr>
      </p:sp>
      <p:sp>
        <p:nvSpPr>
          <p:cNvPr id="91" name="grid"/>
          <p:cNvSpPr/>
          <p:nvPr/>
        </p:nvSpPr>
        <p:spPr>
          <a:xfrm>
            <a:off x="9921240" y="1280160"/>
            <a:ext cx="256032" cy="256032"/>
          </a:xfrm>
          <a:prstGeom prst="roundRect">
            <a:avLst>
              <a:gd name="adj" fmla="val 10714"/>
            </a:avLst>
          </a:prstGeom>
          <a:solidFill>
            <a:srgbClr val="E3F4E8"/>
          </a:solidFill>
          <a:ln w="12700">
            <a:solidFill>
              <a:srgbClr val="E3F4E8"/>
            </a:solidFill>
            <a:prstDash val="solid"/>
          </a:ln>
        </p:spPr>
      </p:sp>
      <p:sp>
        <p:nvSpPr>
          <p:cNvPr id="92" name="grid"/>
          <p:cNvSpPr/>
          <p:nvPr/>
        </p:nvSpPr>
        <p:spPr>
          <a:xfrm>
            <a:off x="10241280" y="640080"/>
            <a:ext cx="256032" cy="256032"/>
          </a:xfrm>
          <a:prstGeom prst="roundRect">
            <a:avLst>
              <a:gd name="adj" fmla="val 10714"/>
            </a:avLst>
          </a:prstGeom>
          <a:solidFill>
            <a:srgbClr val="1E7A38"/>
          </a:solidFill>
          <a:ln w="12700">
            <a:solidFill>
              <a:srgbClr val="1E7A38"/>
            </a:solidFill>
            <a:prstDash val="solid"/>
          </a:ln>
        </p:spPr>
      </p:sp>
      <p:sp>
        <p:nvSpPr>
          <p:cNvPr id="93" name="grid"/>
          <p:cNvSpPr/>
          <p:nvPr/>
        </p:nvSpPr>
        <p:spPr>
          <a:xfrm>
            <a:off x="10241280" y="960120"/>
            <a:ext cx="256032" cy="256032"/>
          </a:xfrm>
          <a:prstGeom prst="roundRect">
            <a:avLst>
              <a:gd name="adj" fmla="val 10714"/>
            </a:avLst>
          </a:prstGeom>
          <a:solidFill>
            <a:srgbClr val="2DA44E"/>
          </a:solidFill>
          <a:ln w="12700">
            <a:solidFill>
              <a:srgbClr val="2DA44E"/>
            </a:solidFill>
            <a:prstDash val="solid"/>
          </a:ln>
        </p:spPr>
      </p:sp>
      <p:sp>
        <p:nvSpPr>
          <p:cNvPr id="94" name="grid"/>
          <p:cNvSpPr/>
          <p:nvPr/>
        </p:nvSpPr>
        <p:spPr>
          <a:xfrm>
            <a:off x="10241280" y="1280160"/>
            <a:ext cx="256032" cy="256032"/>
          </a:xfrm>
          <a:prstGeom prst="roundRect">
            <a:avLst>
              <a:gd name="adj" fmla="val 10714"/>
            </a:avLst>
          </a:prstGeom>
          <a:solidFill>
            <a:srgbClr val="5FBF77"/>
          </a:solidFill>
          <a:ln w="12700">
            <a:solidFill>
              <a:srgbClr val="5FBF77"/>
            </a:solidFill>
            <a:prstDash val="solid"/>
          </a:ln>
        </p:spPr>
      </p:sp>
      <p:sp>
        <p:nvSpPr>
          <p:cNvPr id="95" name="grid"/>
          <p:cNvSpPr/>
          <p:nvPr/>
        </p:nvSpPr>
        <p:spPr>
          <a:xfrm>
            <a:off x="10561320" y="640080"/>
            <a:ext cx="256032" cy="256032"/>
          </a:xfrm>
          <a:prstGeom prst="roundRect">
            <a:avLst>
              <a:gd name="adj" fmla="val 10714"/>
            </a:avLst>
          </a:prstGeom>
          <a:solidFill>
            <a:srgbClr val="2DA44E"/>
          </a:solidFill>
          <a:ln w="12700">
            <a:solidFill>
              <a:srgbClr val="2DA44E"/>
            </a:solidFill>
            <a:prstDash val="solid"/>
          </a:ln>
        </p:spPr>
      </p:sp>
      <p:sp>
        <p:nvSpPr>
          <p:cNvPr id="96" name="grid"/>
          <p:cNvSpPr/>
          <p:nvPr/>
        </p:nvSpPr>
        <p:spPr>
          <a:xfrm>
            <a:off x="10561320" y="960120"/>
            <a:ext cx="256032" cy="256032"/>
          </a:xfrm>
          <a:prstGeom prst="roundRect">
            <a:avLst>
              <a:gd name="adj" fmla="val 10714"/>
            </a:avLst>
          </a:prstGeom>
          <a:solidFill>
            <a:srgbClr val="5FBF77"/>
          </a:solidFill>
          <a:ln w="12700">
            <a:solidFill>
              <a:srgbClr val="5FBF77"/>
            </a:solidFill>
            <a:prstDash val="solid"/>
          </a:ln>
        </p:spPr>
      </p:sp>
      <p:sp>
        <p:nvSpPr>
          <p:cNvPr id="97" name="grid"/>
          <p:cNvSpPr/>
          <p:nvPr/>
        </p:nvSpPr>
        <p:spPr>
          <a:xfrm>
            <a:off x="10561320" y="1280160"/>
            <a:ext cx="256032" cy="256032"/>
          </a:xfrm>
          <a:prstGeom prst="roundRect">
            <a:avLst>
              <a:gd name="adj" fmla="val 10714"/>
            </a:avLst>
          </a:prstGeom>
          <a:solidFill>
            <a:srgbClr val="2DA44E"/>
          </a:solidFill>
          <a:ln w="12700">
            <a:solidFill>
              <a:srgbClr val="2DA44E"/>
            </a:solidFill>
            <a:prstDash val="solid"/>
          </a:ln>
        </p:spPr>
      </p:sp>
      <p:sp>
        <p:nvSpPr>
          <p:cNvPr id="98" name="grid"/>
          <p:cNvSpPr/>
          <p:nvPr/>
        </p:nvSpPr>
        <p:spPr>
          <a:xfrm>
            <a:off x="10881360" y="640080"/>
            <a:ext cx="256032" cy="256032"/>
          </a:xfrm>
          <a:prstGeom prst="roundRect">
            <a:avLst>
              <a:gd name="adj" fmla="val 10714"/>
            </a:avLst>
          </a:prstGeom>
          <a:solidFill>
            <a:srgbClr val="5FBF77"/>
          </a:solidFill>
          <a:ln w="12700">
            <a:solidFill>
              <a:srgbClr val="5FBF77"/>
            </a:solidFill>
            <a:prstDash val="solid"/>
          </a:ln>
        </p:spPr>
      </p:sp>
      <p:sp>
        <p:nvSpPr>
          <p:cNvPr id="99" name="grid"/>
          <p:cNvSpPr/>
          <p:nvPr/>
        </p:nvSpPr>
        <p:spPr>
          <a:xfrm>
            <a:off x="10881360" y="960120"/>
            <a:ext cx="256032" cy="256032"/>
          </a:xfrm>
          <a:prstGeom prst="roundRect">
            <a:avLst>
              <a:gd name="adj" fmla="val 10714"/>
            </a:avLst>
          </a:prstGeom>
          <a:solidFill>
            <a:srgbClr val="5FBF77"/>
          </a:solidFill>
          <a:ln w="12700">
            <a:solidFill>
              <a:srgbClr val="5FBF77"/>
            </a:solidFill>
            <a:prstDash val="solid"/>
          </a:ln>
        </p:spPr>
      </p:sp>
      <p:sp>
        <p:nvSpPr>
          <p:cNvPr id="100" name="grid"/>
          <p:cNvSpPr/>
          <p:nvPr/>
        </p:nvSpPr>
        <p:spPr>
          <a:xfrm>
            <a:off x="10881360" y="1280160"/>
            <a:ext cx="256032" cy="256032"/>
          </a:xfrm>
          <a:prstGeom prst="roundRect">
            <a:avLst>
              <a:gd name="adj" fmla="val 10714"/>
            </a:avLst>
          </a:prstGeom>
          <a:solidFill>
            <a:srgbClr val="1E7A38"/>
          </a:solidFill>
          <a:ln w="12700">
            <a:solidFill>
              <a:srgbClr val="1E7A38"/>
            </a:solidFill>
            <a:prstDash val="solid"/>
          </a:ln>
        </p:spPr>
      </p:sp>
      <p:sp>
        <p:nvSpPr>
          <p:cNvPr id="101" name="Text 99"/>
          <p:cNvSpPr txBox="1"/>
          <p:nvPr/>
        </p:nvSpPr>
        <p:spPr>
          <a:xfrm>
            <a:off x="640080" y="2377440"/>
            <a:ext cx="10881360" cy="1280160"/>
          </a:xfrm>
          <a:prstGeom prst="rect">
            <a:avLst/>
          </a:prstGeom>
          <a:noFill/>
          <a:ln/>
        </p:spPr>
        <p:txBody>
          <a:bodyPr wrap="square" lIns="0" tIns="0" rIns="0" bIns="0" rtlCol="0" anchor="t"/>
          <a:lstStyle/>
          <a:p>
            <a:pPr algn="ctr" indent="0" marL="0">
              <a:buNone/>
            </a:pPr>
            <a:r>
              <a:rPr lang="en-US" sz="6600" b="1" dirty="0">
                <a:solidFill>
                  <a:srgbClr val="FFFFFF"/>
                </a:solidFill>
                <a:latin typeface="Times New Roman" pitchFamily="34" charset="0"/>
                <a:ea typeface="Times New Roman" pitchFamily="34" charset="-122"/>
                <a:cs typeface="Times New Roman" pitchFamily="34" charset="-120"/>
              </a:rPr>
              <a:t>Thank you</a:t>
            </a:r>
            <a:endParaRPr lang="en-US" sz="6600" dirty="0"/>
          </a:p>
        </p:txBody>
      </p:sp>
      <p:sp>
        <p:nvSpPr>
          <p:cNvPr id="102" name="Text 100"/>
          <p:cNvSpPr txBox="1"/>
          <p:nvPr/>
        </p:nvSpPr>
        <p:spPr>
          <a:xfrm>
            <a:off x="640080" y="3657600"/>
            <a:ext cx="10881360" cy="731520"/>
          </a:xfrm>
          <a:prstGeom prst="rect">
            <a:avLst/>
          </a:prstGeom>
          <a:noFill/>
          <a:ln/>
        </p:spPr>
        <p:txBody>
          <a:bodyPr wrap="square" lIns="0" tIns="0" rIns="0" bIns="0" rtlCol="0" anchor="t"/>
          <a:lstStyle/>
          <a:p>
            <a:pPr algn="ctr" indent="0" marL="0">
              <a:buNone/>
            </a:pPr>
            <a:r>
              <a:rPr lang="en-US" sz="3000" dirty="0">
                <a:solidFill>
                  <a:srgbClr val="A7DDB4"/>
                </a:solidFill>
                <a:latin typeface="Times New Roman" pitchFamily="34" charset="0"/>
                <a:ea typeface="Times New Roman" pitchFamily="34" charset="-122"/>
                <a:cs typeface="Times New Roman" pitchFamily="34" charset="-120"/>
              </a:rPr>
              <a:t>Questions?</a:t>
            </a:r>
            <a:endParaRPr lang="en-US" sz="3000" dirty="0"/>
          </a:p>
        </p:txBody>
      </p:sp>
      <p:sp>
        <p:nvSpPr>
          <p:cNvPr id="103" name="Text 101"/>
          <p:cNvSpPr txBox="1"/>
          <p:nvPr/>
        </p:nvSpPr>
        <p:spPr>
          <a:xfrm>
            <a:off x="640080" y="4846320"/>
            <a:ext cx="10881360" cy="457200"/>
          </a:xfrm>
          <a:prstGeom prst="rect">
            <a:avLst/>
          </a:prstGeom>
          <a:noFill/>
          <a:ln/>
        </p:spPr>
        <p:txBody>
          <a:bodyPr wrap="square" lIns="0" tIns="0" rIns="0" bIns="0" rtlCol="0" anchor="t"/>
          <a:lstStyle/>
          <a:p>
            <a:pPr algn="ctr" indent="0" marL="0">
              <a:buNone/>
            </a:pPr>
            <a:r>
              <a:rPr lang="en-US" sz="1800" dirty="0">
                <a:solidFill>
                  <a:srgbClr val="D1D9E6"/>
                </a:solidFill>
                <a:latin typeface="Times New Roman" pitchFamily="34" charset="0"/>
                <a:ea typeface="Times New Roman" pitchFamily="34" charset="-122"/>
                <a:cs typeface="Times New Roman" pitchFamily="34" charset="-120"/>
              </a:rPr>
              <a:t>Ayaan Memon (A-759)   |   Tanmay Meshram (A-761)   |   Kshitij Desai (A-772)</a:t>
            </a:r>
            <a:endParaRPr lang="en-US" sz="1800" dirty="0"/>
          </a:p>
        </p:txBody>
      </p:sp>
      <p:sp>
        <p:nvSpPr>
          <p:cNvPr id="104" name="Text 102"/>
          <p:cNvSpPr txBox="1"/>
          <p:nvPr/>
        </p:nvSpPr>
        <p:spPr>
          <a:xfrm>
            <a:off x="640080" y="5303520"/>
            <a:ext cx="10881360" cy="457200"/>
          </a:xfrm>
          <a:prstGeom prst="rect">
            <a:avLst/>
          </a:prstGeom>
          <a:noFill/>
          <a:ln/>
        </p:spPr>
        <p:txBody>
          <a:bodyPr wrap="square" lIns="0" tIns="0" rIns="0" bIns="0" rtlCol="0" anchor="t"/>
          <a:lstStyle/>
          <a:p>
            <a:pPr algn="ctr" indent="0" marL="0">
              <a:buNone/>
            </a:pPr>
            <a:r>
              <a:rPr lang="en-US" sz="1800" dirty="0">
                <a:solidFill>
                  <a:srgbClr val="D1D9E6"/>
                </a:solidFill>
                <a:latin typeface="Times New Roman" pitchFamily="34" charset="0"/>
                <a:ea typeface="Times New Roman" pitchFamily="34" charset="-122"/>
                <a:cs typeface="Times New Roman" pitchFamily="34" charset="-120"/>
              </a:rPr>
              <a:t>Guided by Prof. Bhavesh Panchal</a:t>
            </a:r>
            <a:endParaRPr lang="en-US" sz="1800" dirty="0"/>
          </a:p>
        </p:txBody>
      </p:sp>
    </p:spTree>
  </p:cSld>
  <p:clrMapOvr>
    <a:masterClrMapping/>
  </p:clrMapOvr>
</p:sld>
</file>

<file path=ppt/theme/theme1.xml><?xml version="1.0" encoding="utf-8"?>
<a:theme xmlns:a="http://schemas.openxmlformats.org/drawingml/2006/main" name="GitPulse">
  <a:themeElements>
    <a:clrScheme name="GitPulse">
      <a:dk1>
        <a:srgbClr val="1F2937"/>
      </a:dk1>
      <a:lt1>
        <a:srgbClr val="FFFFFF"/>
      </a:lt1>
      <a:dk2>
        <a:srgbClr val="14213D"/>
      </a:dk2>
      <a:lt2>
        <a:srgbClr val="EEF2F7"/>
      </a:lt2>
      <a:accent1>
        <a:srgbClr val="2DA44E"/>
      </a:accent1>
      <a:accent2>
        <a:srgbClr val="D9822B"/>
      </a:accent2>
      <a:accent3>
        <a:srgbClr val="14213D"/>
      </a:accent3>
      <a:accent4>
        <a:srgbClr val="7A4FA3"/>
      </a:accent4>
      <a:accent5>
        <a:srgbClr val="5B6B7F"/>
      </a:accent5>
      <a:accent6>
        <a:srgbClr val="0E7C86"/>
      </a:accent6>
      <a:hlink>
        <a:srgbClr val="2DA44E"/>
      </a:hlink>
      <a:folHlink>
        <a:srgbClr val="7A4FA3"/>
      </a:folHlink>
    </a:clrScheme>
    <a:fontScheme name="GitPuls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GitPulse: Big Data Analytics on Open Source GitHub Activity</dc:title>
  <dc:subject>Big Data Analytics mini-project</dc:subject>
  <dc:creator>Ayaan Memon, Tanmay Meshram, Kshitij Desai</dc:creator>
  <cp:lastModifiedBy>Ayaan Memon, Tanmay Meshram, Kshitij Desai</cp:lastModifiedBy>
  <cp:revision>1</cp:revision>
  <dcterms:created xsi:type="dcterms:W3CDTF">2026-10-18T22:07:29Z</dcterms:created>
  <dcterms:modified xsi:type="dcterms:W3CDTF">2026-10-18T22:07:29Z</dcterms:modified>
</cp:coreProperties>
</file>